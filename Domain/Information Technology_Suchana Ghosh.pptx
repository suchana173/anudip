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2" r:id="rId1"/>
  </p:sldMasterIdLst>
  <p:notesMasterIdLst>
    <p:notesMasterId r:id="rId120"/>
  </p:notesMasterIdLst>
  <p:sldIdLst>
    <p:sldId id="470" r:id="rId2"/>
    <p:sldId id="263" r:id="rId3"/>
    <p:sldId id="260" r:id="rId4"/>
    <p:sldId id="261" r:id="rId5"/>
    <p:sldId id="265" r:id="rId6"/>
    <p:sldId id="414" r:id="rId7"/>
    <p:sldId id="267" r:id="rId8"/>
    <p:sldId id="270" r:id="rId9"/>
    <p:sldId id="424" r:id="rId10"/>
    <p:sldId id="273" r:id="rId11"/>
    <p:sldId id="274" r:id="rId12"/>
    <p:sldId id="415" r:id="rId13"/>
    <p:sldId id="436" r:id="rId14"/>
    <p:sldId id="437" r:id="rId15"/>
    <p:sldId id="438" r:id="rId16"/>
    <p:sldId id="439" r:id="rId17"/>
    <p:sldId id="440" r:id="rId18"/>
    <p:sldId id="285" r:id="rId19"/>
    <p:sldId id="290" r:id="rId20"/>
    <p:sldId id="289" r:id="rId21"/>
    <p:sldId id="294" r:id="rId22"/>
    <p:sldId id="302" r:id="rId23"/>
    <p:sldId id="304" r:id="rId24"/>
    <p:sldId id="305" r:id="rId25"/>
    <p:sldId id="308" r:id="rId26"/>
    <p:sldId id="425" r:id="rId27"/>
    <p:sldId id="310" r:id="rId28"/>
    <p:sldId id="311" r:id="rId29"/>
    <p:sldId id="314" r:id="rId30"/>
    <p:sldId id="313" r:id="rId31"/>
    <p:sldId id="458" r:id="rId32"/>
    <p:sldId id="319" r:id="rId33"/>
    <p:sldId id="317" r:id="rId34"/>
    <p:sldId id="441" r:id="rId35"/>
    <p:sldId id="416" r:id="rId36"/>
    <p:sldId id="322" r:id="rId37"/>
    <p:sldId id="324" r:id="rId38"/>
    <p:sldId id="327" r:id="rId39"/>
    <p:sldId id="328" r:id="rId40"/>
    <p:sldId id="329" r:id="rId41"/>
    <p:sldId id="459" r:id="rId42"/>
    <p:sldId id="323" r:id="rId43"/>
    <p:sldId id="326" r:id="rId44"/>
    <p:sldId id="331" r:id="rId45"/>
    <p:sldId id="332" r:id="rId46"/>
    <p:sldId id="336" r:id="rId47"/>
    <p:sldId id="337" r:id="rId48"/>
    <p:sldId id="460" r:id="rId49"/>
    <p:sldId id="334" r:id="rId50"/>
    <p:sldId id="335" r:id="rId51"/>
    <p:sldId id="418" r:id="rId52"/>
    <p:sldId id="339" r:id="rId53"/>
    <p:sldId id="340" r:id="rId54"/>
    <p:sldId id="341" r:id="rId55"/>
    <p:sldId id="344" r:id="rId56"/>
    <p:sldId id="345" r:id="rId57"/>
    <p:sldId id="347" r:id="rId58"/>
    <p:sldId id="348" r:id="rId59"/>
    <p:sldId id="350" r:id="rId60"/>
    <p:sldId id="351" r:id="rId61"/>
    <p:sldId id="352" r:id="rId62"/>
    <p:sldId id="469" r:id="rId63"/>
    <p:sldId id="353" r:id="rId64"/>
    <p:sldId id="355" r:id="rId65"/>
    <p:sldId id="356" r:id="rId66"/>
    <p:sldId id="357" r:id="rId67"/>
    <p:sldId id="442" r:id="rId68"/>
    <p:sldId id="443" r:id="rId69"/>
    <p:sldId id="444" r:id="rId70"/>
    <p:sldId id="445" r:id="rId71"/>
    <p:sldId id="372" r:id="rId72"/>
    <p:sldId id="461" r:id="rId73"/>
    <p:sldId id="462" r:id="rId74"/>
    <p:sldId id="463" r:id="rId75"/>
    <p:sldId id="371" r:id="rId76"/>
    <p:sldId id="370" r:id="rId77"/>
    <p:sldId id="375" r:id="rId78"/>
    <p:sldId id="376" r:id="rId79"/>
    <p:sldId id="378" r:id="rId80"/>
    <p:sldId id="379" r:id="rId81"/>
    <p:sldId id="446" r:id="rId82"/>
    <p:sldId id="464" r:id="rId83"/>
    <p:sldId id="383" r:id="rId84"/>
    <p:sldId id="382" r:id="rId85"/>
    <p:sldId id="385" r:id="rId86"/>
    <p:sldId id="387" r:id="rId87"/>
    <p:sldId id="447" r:id="rId88"/>
    <p:sldId id="448" r:id="rId89"/>
    <p:sldId id="386" r:id="rId90"/>
    <p:sldId id="388" r:id="rId91"/>
    <p:sldId id="393" r:id="rId92"/>
    <p:sldId id="465" r:id="rId93"/>
    <p:sldId id="449" r:id="rId94"/>
    <p:sldId id="450" r:id="rId95"/>
    <p:sldId id="395" r:id="rId96"/>
    <p:sldId id="394" r:id="rId97"/>
    <p:sldId id="397" r:id="rId98"/>
    <p:sldId id="399" r:id="rId99"/>
    <p:sldId id="451" r:id="rId100"/>
    <p:sldId id="400" r:id="rId101"/>
    <p:sldId id="403" r:id="rId102"/>
    <p:sldId id="404" r:id="rId103"/>
    <p:sldId id="405" r:id="rId104"/>
    <p:sldId id="466" r:id="rId105"/>
    <p:sldId id="454" r:id="rId106"/>
    <p:sldId id="467" r:id="rId107"/>
    <p:sldId id="410" r:id="rId108"/>
    <p:sldId id="452" r:id="rId109"/>
    <p:sldId id="455" r:id="rId110"/>
    <p:sldId id="409" r:id="rId111"/>
    <p:sldId id="468" r:id="rId112"/>
    <p:sldId id="426" r:id="rId113"/>
    <p:sldId id="427" r:id="rId114"/>
    <p:sldId id="428" r:id="rId115"/>
    <p:sldId id="430" r:id="rId116"/>
    <p:sldId id="457" r:id="rId117"/>
    <p:sldId id="434" r:id="rId118"/>
    <p:sldId id="471" r:id="rId1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0" d="100"/>
          <a:sy n="60" d="100"/>
        </p:scale>
        <p:origin x="11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290564-6B26-45B6-9929-70A95AA07145}" type="datetimeFigureOut">
              <a:rPr lang="en-IN" smtClean="0"/>
              <a:t>13-05-2026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4F043-BA11-4EB3-B7DF-4C44071D6F01}" type="slidenum">
              <a:rPr lang="en-IN" smtClean="0"/>
              <a:t>‹#›</a:t>
            </a:fld>
            <a:endParaRPr lang="en-IN"/>
          </a:p>
        </p:txBody>
      </p:sp>
    </p:spTree>
    <p:extLst>
      <p:ext uri="{BB962C8B-B14F-4D97-AF65-F5344CB8AC3E}">
        <p14:creationId xmlns:p14="http://schemas.microsoft.com/office/powerpoint/2010/main" val="2009729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1F4F043-BA11-4EB3-B7DF-4C44071D6F01}" type="slidenum">
              <a:rPr lang="en-IN" smtClean="0"/>
              <a:t>116</a:t>
            </a:fld>
            <a:endParaRPr lang="en-IN"/>
          </a:p>
        </p:txBody>
      </p:sp>
    </p:spTree>
    <p:extLst>
      <p:ext uri="{BB962C8B-B14F-4D97-AF65-F5344CB8AC3E}">
        <p14:creationId xmlns:p14="http://schemas.microsoft.com/office/powerpoint/2010/main" val="156943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Date Placeholder 7"/>
          <p:cNvSpPr>
            <a:spLocks noGrp="1"/>
          </p:cNvSpPr>
          <p:nvPr>
            <p:ph type="dt" sz="half" idx="10"/>
          </p:nvPr>
        </p:nvSpPr>
        <p:spPr/>
        <p:txBody>
          <a:bodyPr/>
          <a:lstStyle/>
          <a:p>
            <a:fld id="{C6F86927-E3D2-4567-A75B-D13ECFD87AF3}" type="datetimeFigureOut">
              <a:rPr lang="en-IN" smtClean="0"/>
              <a:t>13-05-2026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173D073C-3052-45B4-9F69-357EBE694966}" type="slidenum">
              <a:rPr lang="en-IN" smtClean="0"/>
              <a:t>‹#›</a:t>
            </a:fld>
            <a:endParaRPr lang="en-IN"/>
          </a:p>
        </p:txBody>
      </p:sp>
    </p:spTree>
    <p:extLst>
      <p:ext uri="{BB962C8B-B14F-4D97-AF65-F5344CB8AC3E}">
        <p14:creationId xmlns:p14="http://schemas.microsoft.com/office/powerpoint/2010/main" val="348522474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F86927-E3D2-4567-A75B-D13ECFD87AF3}"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3D073C-3052-45B4-9F69-357EBE694966}"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00613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F86927-E3D2-4567-A75B-D13ECFD87AF3}"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3D073C-3052-45B4-9F69-357EBE694966}"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912813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F86927-E3D2-4567-A75B-D13ECFD87AF3}"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3D073C-3052-45B4-9F69-357EBE694966}" type="slidenum">
              <a:rPr lang="en-IN" smtClean="0"/>
              <a:t>‹#›</a:t>
            </a:fld>
            <a:endParaRPr lang="en-IN"/>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242899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F86927-E3D2-4567-A75B-D13ECFD87AF3}" type="datetimeFigureOut">
              <a:rPr lang="en-IN" smtClean="0"/>
              <a:t>13-05-2026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73D073C-3052-45B4-9F69-357EBE694966}" type="slidenum">
              <a:rPr lang="en-IN" smtClean="0"/>
              <a:t>‹#›</a:t>
            </a:fld>
            <a:endParaRPr lang="en-IN"/>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9644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F86927-E3D2-4567-A75B-D13ECFD87AF3}" type="datetimeFigureOut">
              <a:rPr lang="en-IN" smtClean="0"/>
              <a:t>13-05-2026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73D073C-3052-45B4-9F69-357EBE694966}"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8429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F86927-E3D2-4567-A75B-D13ECFD87AF3}" type="datetimeFigureOut">
              <a:rPr lang="en-IN" smtClean="0"/>
              <a:t>13-05-2026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73D073C-3052-45B4-9F69-357EBE694966}" type="slidenum">
              <a:rPr lang="en-IN" smtClean="0"/>
              <a:t>‹#›</a:t>
            </a:fld>
            <a:endParaRPr lang="en-IN"/>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5907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F86927-E3D2-4567-A75B-D13ECFD87AF3}"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3D073C-3052-45B4-9F69-357EBE694966}" type="slidenum">
              <a:rPr lang="en-IN" smtClean="0"/>
              <a:t>‹#›</a:t>
            </a:fld>
            <a:endParaRPr lang="en-IN"/>
          </a:p>
        </p:txBody>
      </p:sp>
    </p:spTree>
    <p:extLst>
      <p:ext uri="{BB962C8B-B14F-4D97-AF65-F5344CB8AC3E}">
        <p14:creationId xmlns:p14="http://schemas.microsoft.com/office/powerpoint/2010/main" val="1781330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F86927-E3D2-4567-A75B-D13ECFD87AF3}" type="datetimeFigureOut">
              <a:rPr lang="en-IN" smtClean="0"/>
              <a:t>13-05-2026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73D073C-3052-45B4-9F69-357EBE694966}" type="slidenum">
              <a:rPr lang="en-IN" smtClean="0"/>
              <a:t>‹#›</a:t>
            </a:fld>
            <a:endParaRPr lang="en-IN"/>
          </a:p>
        </p:txBody>
      </p:sp>
    </p:spTree>
    <p:extLst>
      <p:ext uri="{BB962C8B-B14F-4D97-AF65-F5344CB8AC3E}">
        <p14:creationId xmlns:p14="http://schemas.microsoft.com/office/powerpoint/2010/main" val="2690908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F86927-E3D2-4567-A75B-D13ECFD87AF3}"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3D073C-3052-45B4-9F69-357EBE694966}"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139205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F86927-E3D2-4567-A75B-D13ECFD87AF3}" type="datetimeFigureOut">
              <a:rPr lang="en-IN" smtClean="0"/>
              <a:t>13-05-2026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73D073C-3052-45B4-9F69-357EBE694966}" type="slidenum">
              <a:rPr lang="en-IN" smtClean="0"/>
              <a:t>‹#›</a:t>
            </a:fld>
            <a:endParaRPr lang="en-IN"/>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19963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C6F86927-E3D2-4567-A75B-D13ECFD87AF3}" type="datetimeFigureOut">
              <a:rPr lang="en-IN" smtClean="0"/>
              <a:t>13-05-2026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173D073C-3052-45B4-9F69-357EBE694966}" type="slidenum">
              <a:rPr lang="en-IN" smtClean="0"/>
              <a:t>‹#›</a:t>
            </a:fld>
            <a:endParaRPr lang="en-IN"/>
          </a:p>
        </p:txBody>
      </p:sp>
    </p:spTree>
    <p:extLst>
      <p:ext uri="{BB962C8B-B14F-4D97-AF65-F5344CB8AC3E}">
        <p14:creationId xmlns:p14="http://schemas.microsoft.com/office/powerpoint/2010/main" val="3039527652"/>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93C8B-3024-7067-A085-20C79645BBBD}"/>
              </a:ext>
            </a:extLst>
          </p:cNvPr>
          <p:cNvSpPr>
            <a:spLocks noGrp="1"/>
          </p:cNvSpPr>
          <p:nvPr>
            <p:ph type="title"/>
          </p:nvPr>
        </p:nvSpPr>
        <p:spPr>
          <a:xfrm>
            <a:off x="1331495" y="2457540"/>
            <a:ext cx="9943859" cy="3450147"/>
          </a:xfrm>
        </p:spPr>
        <p:txBody>
          <a:bodyPr>
            <a:normAutofit fontScale="90000"/>
          </a:bodyPr>
          <a:lstStyle/>
          <a:p>
            <a:pPr>
              <a:lnSpc>
                <a:spcPct val="150000"/>
              </a:lnSpc>
            </a:pPr>
            <a:br>
              <a:rPr lang="en-US"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Topic Name – Information Technology </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Name – </a:t>
            </a:r>
            <a:r>
              <a:rPr lang="en-US" dirty="0" err="1">
                <a:solidFill>
                  <a:schemeClr val="tx1"/>
                </a:solidFill>
                <a:latin typeface="Times New Roman" panose="02020603050405020304" pitchFamily="18" charset="0"/>
                <a:cs typeface="Times New Roman" panose="02020603050405020304" pitchFamily="18" charset="0"/>
              </a:rPr>
              <a:t>Suchana</a:t>
            </a:r>
            <a:r>
              <a:rPr lang="en-US" dirty="0">
                <a:solidFill>
                  <a:schemeClr val="tx1"/>
                </a:solidFill>
                <a:latin typeface="Times New Roman" panose="02020603050405020304" pitchFamily="18" charset="0"/>
                <a:cs typeface="Times New Roman" panose="02020603050405020304" pitchFamily="18" charset="0"/>
              </a:rPr>
              <a:t> Ghosh</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Batch Code – ANU-D6152</a:t>
            </a:r>
            <a:br>
              <a:rPr lang="en-US" dirty="0"/>
            </a:br>
            <a:endParaRPr lang="en-IN" dirty="0"/>
          </a:p>
        </p:txBody>
      </p:sp>
      <p:pic>
        <p:nvPicPr>
          <p:cNvPr id="6" name="Picture 5">
            <a:extLst>
              <a:ext uri="{FF2B5EF4-FFF2-40B4-BE49-F238E27FC236}">
                <a16:creationId xmlns:a16="http://schemas.microsoft.com/office/drawing/2014/main" id="{75E1AEE2-1B99-1BDD-A081-B0B8AF5562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91663" y="402750"/>
            <a:ext cx="3562554" cy="20547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47456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04770-B4C4-47E5-C6E1-819CFB68DF67}"/>
              </a:ext>
            </a:extLst>
          </p:cNvPr>
          <p:cNvSpPr>
            <a:spLocks noGrp="1"/>
          </p:cNvSpPr>
          <p:nvPr>
            <p:ph type="ctrTitle"/>
          </p:nvPr>
        </p:nvSpPr>
        <p:spPr>
          <a:xfrm>
            <a:off x="1261872" y="758952"/>
            <a:ext cx="9418320" cy="4278269"/>
          </a:xfrm>
        </p:spPr>
        <p:txBody>
          <a:bodyPr>
            <a:normAutofit/>
          </a:bodyPr>
          <a:lstStyle/>
          <a:p>
            <a:r>
              <a:rPr lang="en-US" dirty="0">
                <a:latin typeface="Times New Roman" panose="02020603050405020304" pitchFamily="18" charset="0"/>
                <a:cs typeface="Times New Roman" panose="02020603050405020304" pitchFamily="18" charset="0"/>
              </a:rPr>
              <a:t>1. Introduction to IT and Business Systems</a:t>
            </a:r>
            <a:br>
              <a:rPr lang="en-US" dirty="0"/>
            </a:br>
            <a:endParaRPr lang="en-IN" dirty="0"/>
          </a:p>
        </p:txBody>
      </p:sp>
    </p:spTree>
    <p:extLst>
      <p:ext uri="{BB962C8B-B14F-4D97-AF65-F5344CB8AC3E}">
        <p14:creationId xmlns:p14="http://schemas.microsoft.com/office/powerpoint/2010/main" val="1086795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FBC80-1FDA-FB58-7143-A1B674F14D3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201141-897C-8AE7-C873-23C90897B428}"/>
              </a:ext>
            </a:extLst>
          </p:cNvPr>
          <p:cNvSpPr>
            <a:spLocks noGrp="1"/>
          </p:cNvSpPr>
          <p:nvPr>
            <p:ph sz="half" idx="1"/>
          </p:nvPr>
        </p:nvSpPr>
        <p:spPr>
          <a:xfrm>
            <a:off x="1261871" y="1828800"/>
            <a:ext cx="9534465" cy="4735002"/>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IT improves productivity, efficiency, and innovation in businesses.</a:t>
            </a:r>
          </a:p>
          <a:p>
            <a:r>
              <a:rPr lang="en-US" dirty="0">
                <a:solidFill>
                  <a:schemeClr val="tx1"/>
                </a:solidFill>
                <a:latin typeface="Times New Roman" panose="02020603050405020304" pitchFamily="18" charset="0"/>
                <a:cs typeface="Times New Roman" panose="02020603050405020304" pitchFamily="18" charset="0"/>
              </a:rPr>
              <a:t>It helps in communication, data storage, security, and remote connectivity.</a:t>
            </a:r>
          </a:p>
          <a:p>
            <a:r>
              <a:rPr lang="en-US" dirty="0">
                <a:solidFill>
                  <a:schemeClr val="tx1"/>
                </a:solidFill>
                <a:latin typeface="Times New Roman" panose="02020603050405020304" pitchFamily="18" charset="0"/>
                <a:cs typeface="Times New Roman" panose="02020603050405020304" pitchFamily="18" charset="0"/>
              </a:rPr>
              <a:t>IT makes work faster, easier, and more convenient.</a:t>
            </a:r>
          </a:p>
          <a:p>
            <a:r>
              <a:rPr lang="en-US" dirty="0">
                <a:solidFill>
                  <a:schemeClr val="tx1"/>
                </a:solidFill>
                <a:latin typeface="Times New Roman" panose="02020603050405020304" pitchFamily="18" charset="0"/>
                <a:cs typeface="Times New Roman" panose="02020603050405020304" pitchFamily="18" charset="0"/>
              </a:rPr>
              <a:t>Employees can focus more on innovation because many tasks are automated.</a:t>
            </a:r>
          </a:p>
          <a:p>
            <a:r>
              <a:rPr lang="en-US" dirty="0">
                <a:solidFill>
                  <a:schemeClr val="tx1"/>
                </a:solidFill>
                <a:latin typeface="Times New Roman" panose="02020603050405020304" pitchFamily="18" charset="0"/>
                <a:cs typeface="Times New Roman" panose="02020603050405020304" pitchFamily="18" charset="0"/>
              </a:rPr>
              <a:t>Digital transformation in organizations depends on IT support.</a:t>
            </a:r>
          </a:p>
          <a:p>
            <a:r>
              <a:rPr lang="en-US" dirty="0">
                <a:solidFill>
                  <a:schemeClr val="tx1"/>
                </a:solidFill>
                <a:latin typeface="Times New Roman" panose="02020603050405020304" pitchFamily="18" charset="0"/>
                <a:cs typeface="Times New Roman" panose="02020603050405020304" pitchFamily="18" charset="0"/>
              </a:rPr>
              <a:t>IT helps in data analysis and better decision-making.</a:t>
            </a:r>
          </a:p>
          <a:p>
            <a:r>
              <a:rPr lang="en-US" dirty="0">
                <a:solidFill>
                  <a:schemeClr val="tx1"/>
                </a:solidFill>
                <a:latin typeface="Times New Roman" panose="02020603050405020304" pitchFamily="18" charset="0"/>
                <a:cs typeface="Times New Roman" panose="02020603050405020304" pitchFamily="18" charset="0"/>
              </a:rPr>
              <a:t>Industries like healthcare, banking, and transportation rely heavily on IT.</a:t>
            </a:r>
          </a:p>
          <a:p>
            <a:r>
              <a:rPr lang="en-US" dirty="0">
                <a:solidFill>
                  <a:schemeClr val="tx1"/>
                </a:solidFill>
                <a:latin typeface="Times New Roman" panose="02020603050405020304" pitchFamily="18" charset="0"/>
                <a:cs typeface="Times New Roman" panose="02020603050405020304" pitchFamily="18" charset="0"/>
              </a:rPr>
              <a:t>The demand for IT professionals is growing rapidly worldwide.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46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AFF0-EFCC-E116-A74E-CAFACE54C3A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Why is Information Technology important?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443B75-9007-6AE3-72F5-2C9FDFF5D898}"/>
              </a:ext>
            </a:extLst>
          </p:cNvPr>
          <p:cNvSpPr>
            <a:spLocks noGrp="1"/>
          </p:cNvSpPr>
          <p:nvPr>
            <p:ph idx="1"/>
          </p:nvPr>
        </p:nvSpPr>
        <p:spPr>
          <a:xfrm>
            <a:off x="1261871" y="1828800"/>
            <a:ext cx="9692639" cy="5029200"/>
          </a:xfrm>
        </p:spPr>
        <p:txBody>
          <a:bodyPr>
            <a:normAutofit/>
          </a:bodyPr>
          <a:lstStyle/>
          <a:p>
            <a:pPr algn="just"/>
            <a:r>
              <a:rPr lang="en-US" dirty="0">
                <a:solidFill>
                  <a:schemeClr val="tx1"/>
                </a:solidFill>
                <a:latin typeface="Times New Roman" panose="02020603050405020304" pitchFamily="18" charset="0"/>
                <a:cs typeface="Times New Roman" panose="02020603050405020304" pitchFamily="18" charset="0"/>
              </a:rPr>
              <a:t>Helps employees complete work faster</a:t>
            </a:r>
          </a:p>
          <a:p>
            <a:pPr algn="just"/>
            <a:r>
              <a:rPr lang="en-US" dirty="0">
                <a:solidFill>
                  <a:schemeClr val="tx1"/>
                </a:solidFill>
                <a:latin typeface="Times New Roman" panose="02020603050405020304" pitchFamily="18" charset="0"/>
                <a:cs typeface="Times New Roman" panose="02020603050405020304" pitchFamily="18" charset="0"/>
              </a:rPr>
              <a:t>Reduces manual work through automation</a:t>
            </a:r>
          </a:p>
          <a:p>
            <a:pPr algn="just"/>
            <a:r>
              <a:rPr lang="en-US" dirty="0">
                <a:solidFill>
                  <a:schemeClr val="tx1"/>
                </a:solidFill>
                <a:latin typeface="Times New Roman" panose="02020603050405020304" pitchFamily="18" charset="0"/>
                <a:cs typeface="Times New Roman" panose="02020603050405020304" pitchFamily="18" charset="0"/>
              </a:rPr>
              <a:t>Enables emails, video calls, and online meetings</a:t>
            </a:r>
          </a:p>
          <a:p>
            <a:pPr algn="just"/>
            <a:r>
              <a:rPr lang="en-US" dirty="0">
                <a:solidFill>
                  <a:schemeClr val="tx1"/>
                </a:solidFill>
                <a:latin typeface="Times New Roman" panose="02020603050405020304" pitchFamily="18" charset="0"/>
                <a:cs typeface="Times New Roman" panose="02020603050405020304" pitchFamily="18" charset="0"/>
              </a:rPr>
              <a:t>Supports remote work and connectivity</a:t>
            </a:r>
          </a:p>
          <a:p>
            <a:pPr algn="just"/>
            <a:r>
              <a:rPr lang="en-US" dirty="0">
                <a:solidFill>
                  <a:schemeClr val="tx1"/>
                </a:solidFill>
                <a:latin typeface="Times New Roman" panose="02020603050405020304" pitchFamily="18" charset="0"/>
                <a:cs typeface="Times New Roman" panose="02020603050405020304" pitchFamily="18" charset="0"/>
              </a:rPr>
              <a:t>Stores large amounts of information safely</a:t>
            </a:r>
          </a:p>
          <a:p>
            <a:pPr algn="just"/>
            <a:r>
              <a:rPr lang="en-US" dirty="0">
                <a:solidFill>
                  <a:schemeClr val="tx1"/>
                </a:solidFill>
                <a:latin typeface="Times New Roman" panose="02020603050405020304" pitchFamily="18" charset="0"/>
                <a:cs typeface="Times New Roman" panose="02020603050405020304" pitchFamily="18" charset="0"/>
              </a:rPr>
              <a:t>Protects data using passwords, antivirus, and security systems</a:t>
            </a:r>
          </a:p>
          <a:p>
            <a:pPr algn="just"/>
            <a:r>
              <a:rPr lang="en-US" dirty="0">
                <a:solidFill>
                  <a:schemeClr val="tx1"/>
                </a:solidFill>
                <a:latin typeface="Times New Roman" panose="02020603050405020304" pitchFamily="18" charset="0"/>
                <a:cs typeface="Times New Roman" panose="02020603050405020304" pitchFamily="18" charset="0"/>
              </a:rPr>
              <a:t>Helps manage daily business activities smoothly</a:t>
            </a:r>
          </a:p>
          <a:p>
            <a:pPr algn="just"/>
            <a:r>
              <a:rPr lang="en-US" dirty="0">
                <a:solidFill>
                  <a:schemeClr val="tx1"/>
                </a:solidFill>
                <a:latin typeface="Times New Roman" panose="02020603050405020304" pitchFamily="18" charset="0"/>
                <a:cs typeface="Times New Roman" panose="02020603050405020304" pitchFamily="18" charset="0"/>
              </a:rPr>
              <a:t>Improves accuracy and efficiency in work</a:t>
            </a:r>
          </a:p>
        </p:txBody>
      </p:sp>
    </p:spTree>
    <p:extLst>
      <p:ext uri="{BB962C8B-B14F-4D97-AF65-F5344CB8AC3E}">
        <p14:creationId xmlns:p14="http://schemas.microsoft.com/office/powerpoint/2010/main" val="1371788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1E5A-0BE0-A3DF-9A9F-2BBBE1274A0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Core functions of information technology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926CAB-8A62-C963-6369-6006277C7A39}"/>
              </a:ext>
            </a:extLst>
          </p:cNvPr>
          <p:cNvSpPr>
            <a:spLocks noGrp="1"/>
          </p:cNvSpPr>
          <p:nvPr>
            <p:ph idx="1"/>
          </p:nvPr>
        </p:nvSpPr>
        <p:spPr/>
        <p:txBody>
          <a:bodyPr>
            <a:normAutofit fontScale="92500" lnSpcReduction="20000"/>
          </a:bodyPr>
          <a:lstStyle/>
          <a:p>
            <a:pPr>
              <a:buFont typeface="Wingdings" panose="05000000000000000000" pitchFamily="2" charset="2"/>
              <a:buChar char="§"/>
            </a:pPr>
            <a:r>
              <a:rPr lang="en-US" sz="2200" b="1" dirty="0">
                <a:solidFill>
                  <a:schemeClr val="tx1"/>
                </a:solidFill>
                <a:latin typeface="Times New Roman" panose="02020603050405020304" pitchFamily="18" charset="0"/>
                <a:cs typeface="Times New Roman" panose="02020603050405020304" pitchFamily="18" charset="0"/>
              </a:rPr>
              <a:t>IT Governance</a:t>
            </a:r>
          </a:p>
          <a:p>
            <a:r>
              <a:rPr lang="en-US" sz="2200" dirty="0">
                <a:solidFill>
                  <a:schemeClr val="tx1"/>
                </a:solidFill>
                <a:latin typeface="Times New Roman" panose="02020603050405020304" pitchFamily="18" charset="0"/>
                <a:cs typeface="Times New Roman" panose="02020603050405020304" pitchFamily="18" charset="0"/>
              </a:rPr>
              <a:t>Aligns IT with business goals </a:t>
            </a:r>
          </a:p>
          <a:p>
            <a:r>
              <a:rPr lang="en-US" sz="2200" dirty="0">
                <a:solidFill>
                  <a:schemeClr val="tx1"/>
                </a:solidFill>
                <a:latin typeface="Times New Roman" panose="02020603050405020304" pitchFamily="18" charset="0"/>
                <a:cs typeface="Times New Roman" panose="02020603050405020304" pitchFamily="18" charset="0"/>
              </a:rPr>
              <a:t>Helps in proper budgeting and resource management </a:t>
            </a:r>
          </a:p>
          <a:p>
            <a:r>
              <a:rPr lang="en-US" sz="2200" dirty="0">
                <a:solidFill>
                  <a:schemeClr val="tx1"/>
                </a:solidFill>
                <a:latin typeface="Times New Roman" panose="02020603050405020304" pitchFamily="18" charset="0"/>
                <a:cs typeface="Times New Roman" panose="02020603050405020304" pitchFamily="18" charset="0"/>
              </a:rPr>
              <a:t>Ensures IT projects support company objectives </a:t>
            </a:r>
          </a:p>
          <a:p>
            <a:r>
              <a:rPr lang="en-US" sz="2200" dirty="0">
                <a:solidFill>
                  <a:schemeClr val="tx1"/>
                </a:solidFill>
                <a:latin typeface="Times New Roman" panose="02020603050405020304" pitchFamily="18" charset="0"/>
                <a:cs typeface="Times New Roman" panose="02020603050405020304" pitchFamily="18" charset="0"/>
              </a:rPr>
              <a:t>Focuses on risk management and policy creation</a:t>
            </a:r>
          </a:p>
          <a:p>
            <a:pPr>
              <a:buFont typeface="Wingdings" panose="05000000000000000000" pitchFamily="2" charset="2"/>
              <a:buChar char="§"/>
            </a:pPr>
            <a:r>
              <a:rPr lang="en-US" sz="2200" b="1" dirty="0">
                <a:solidFill>
                  <a:schemeClr val="tx1"/>
                </a:solidFill>
                <a:latin typeface="Times New Roman" panose="02020603050405020304" pitchFamily="18" charset="0"/>
                <a:cs typeface="Times New Roman" panose="02020603050405020304" pitchFamily="18" charset="0"/>
              </a:rPr>
              <a:t>IT Operations</a:t>
            </a:r>
          </a:p>
          <a:p>
            <a:r>
              <a:rPr lang="en-US" sz="2200" dirty="0">
                <a:solidFill>
                  <a:schemeClr val="tx1"/>
                </a:solidFill>
                <a:latin typeface="Times New Roman" panose="02020603050405020304" pitchFamily="18" charset="0"/>
                <a:cs typeface="Times New Roman" panose="02020603050405020304" pitchFamily="18" charset="0"/>
              </a:rPr>
              <a:t>Manages daily IT activities </a:t>
            </a:r>
          </a:p>
          <a:p>
            <a:r>
              <a:rPr lang="en-US" sz="2200" dirty="0">
                <a:solidFill>
                  <a:schemeClr val="tx1"/>
                </a:solidFill>
                <a:latin typeface="Times New Roman" panose="02020603050405020304" pitchFamily="18" charset="0"/>
                <a:cs typeface="Times New Roman" panose="02020603050405020304" pitchFamily="18" charset="0"/>
              </a:rPr>
              <a:t>Uses automation to monitor systems and networks </a:t>
            </a:r>
          </a:p>
          <a:p>
            <a:r>
              <a:rPr lang="en-US" sz="2200" dirty="0">
                <a:solidFill>
                  <a:schemeClr val="tx1"/>
                </a:solidFill>
                <a:latin typeface="Times New Roman" panose="02020603050405020304" pitchFamily="18" charset="0"/>
                <a:cs typeface="Times New Roman" panose="02020603050405020304" pitchFamily="18" charset="0"/>
              </a:rPr>
              <a:t>Helps in troubleshooting, updates, and remote support </a:t>
            </a:r>
          </a:p>
          <a:p>
            <a:r>
              <a:rPr lang="en-US" sz="2200" dirty="0">
                <a:solidFill>
                  <a:schemeClr val="tx1"/>
                </a:solidFill>
                <a:latin typeface="Times New Roman" panose="02020603050405020304" pitchFamily="18" charset="0"/>
                <a:cs typeface="Times New Roman" panose="02020603050405020304" pitchFamily="18" charset="0"/>
              </a:rPr>
              <a:t>Saves time, cost, and resources</a:t>
            </a:r>
          </a:p>
          <a:p>
            <a:endParaRPr lang="en-IN" dirty="0"/>
          </a:p>
        </p:txBody>
      </p:sp>
    </p:spTree>
    <p:extLst>
      <p:ext uri="{BB962C8B-B14F-4D97-AF65-F5344CB8AC3E}">
        <p14:creationId xmlns:p14="http://schemas.microsoft.com/office/powerpoint/2010/main" val="277334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2BCB-184A-54B0-C6FF-14AAE3BBA2B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vs. software</a:t>
            </a:r>
          </a:p>
        </p:txBody>
      </p:sp>
      <p:sp>
        <p:nvSpPr>
          <p:cNvPr id="3" name="Content Placeholder 2">
            <a:extLst>
              <a:ext uri="{FF2B5EF4-FFF2-40B4-BE49-F238E27FC236}">
                <a16:creationId xmlns:a16="http://schemas.microsoft.com/office/drawing/2014/main" id="{1631E8B2-16E2-5853-B8AF-DABB0F560F9A}"/>
              </a:ext>
            </a:extLst>
          </p:cNvPr>
          <p:cNvSpPr>
            <a:spLocks noGrp="1"/>
          </p:cNvSpPr>
          <p:nvPr>
            <p:ph sz="half" idx="1"/>
          </p:nvPr>
        </p:nvSpPr>
        <p:spPr>
          <a:xfrm>
            <a:off x="1261871" y="1828800"/>
            <a:ext cx="9534465" cy="4351337"/>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Hardware</a:t>
            </a:r>
          </a:p>
          <a:p>
            <a:r>
              <a:rPr lang="en-US" dirty="0">
                <a:solidFill>
                  <a:schemeClr val="tx1"/>
                </a:solidFill>
                <a:latin typeface="Times New Roman" panose="02020603050405020304" pitchFamily="18" charset="0"/>
                <a:cs typeface="Times New Roman" panose="02020603050405020304" pitchFamily="18" charset="0"/>
              </a:rPr>
              <a:t>Hardware refers to physical computer devices and equipment. </a:t>
            </a:r>
          </a:p>
          <a:p>
            <a:r>
              <a:rPr lang="en-US" dirty="0">
                <a:solidFill>
                  <a:schemeClr val="tx1"/>
                </a:solidFill>
                <a:latin typeface="Times New Roman" panose="02020603050405020304" pitchFamily="18" charset="0"/>
                <a:cs typeface="Times New Roman" panose="02020603050405020304" pitchFamily="18" charset="0"/>
              </a:rPr>
              <a:t>Examples include computers, servers, printers, keyboards, and storage devices. </a:t>
            </a:r>
          </a:p>
          <a:p>
            <a:r>
              <a:rPr lang="en-US" dirty="0">
                <a:solidFill>
                  <a:schemeClr val="tx1"/>
                </a:solidFill>
                <a:latin typeface="Times New Roman" panose="02020603050405020304" pitchFamily="18" charset="0"/>
                <a:cs typeface="Times New Roman" panose="02020603050405020304" pitchFamily="18" charset="0"/>
              </a:rPr>
              <a:t>Hardware is necessary for processing and storing data</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Software</a:t>
            </a:r>
          </a:p>
          <a:p>
            <a:r>
              <a:rPr lang="en-US" dirty="0">
                <a:solidFill>
                  <a:schemeClr val="tx1"/>
                </a:solidFill>
                <a:latin typeface="Times New Roman" panose="02020603050405020304" pitchFamily="18" charset="0"/>
                <a:cs typeface="Times New Roman" panose="02020603050405020304" pitchFamily="18" charset="0"/>
              </a:rPr>
              <a:t>Software refers to programs and applications used on computers. </a:t>
            </a:r>
          </a:p>
          <a:p>
            <a:r>
              <a:rPr lang="en-US" dirty="0">
                <a:solidFill>
                  <a:schemeClr val="tx1"/>
                </a:solidFill>
                <a:latin typeface="Times New Roman" panose="02020603050405020304" pitchFamily="18" charset="0"/>
                <a:cs typeface="Times New Roman" panose="02020603050405020304" pitchFamily="18" charset="0"/>
              </a:rPr>
              <a:t>It helps users perform tasks and manage systems. </a:t>
            </a:r>
          </a:p>
          <a:p>
            <a:r>
              <a:rPr lang="en-US" dirty="0">
                <a:solidFill>
                  <a:schemeClr val="tx1"/>
                </a:solidFill>
                <a:latin typeface="Times New Roman" panose="02020603050405020304" pitchFamily="18" charset="0"/>
                <a:cs typeface="Times New Roman" panose="02020603050405020304" pitchFamily="18" charset="0"/>
              </a:rPr>
              <a:t>Types include system software and application software</a:t>
            </a:r>
          </a:p>
          <a:p>
            <a:endParaRPr lang="en-IN" dirty="0"/>
          </a:p>
        </p:txBody>
      </p:sp>
    </p:spTree>
    <p:extLst>
      <p:ext uri="{BB962C8B-B14F-4D97-AF65-F5344CB8AC3E}">
        <p14:creationId xmlns:p14="http://schemas.microsoft.com/office/powerpoint/2010/main" val="1895003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27EF9-13BE-1EA0-DAFD-1A231CFDAB2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Role of Information Technology in Modern Business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DF1258-5BA6-BAB1-79AC-760B9F4C3939}"/>
              </a:ext>
            </a:extLst>
          </p:cNvPr>
          <p:cNvSpPr>
            <a:spLocks noGrp="1"/>
          </p:cNvSpPr>
          <p:nvPr>
            <p:ph idx="1"/>
          </p:nvPr>
        </p:nvSpPr>
        <p:spPr>
          <a:xfrm>
            <a:off x="1261872" y="1828800"/>
            <a:ext cx="8595360" cy="4735002"/>
          </a:xfrm>
        </p:spPr>
        <p:txBody>
          <a:bodyPr>
            <a:normAutofit/>
          </a:bodyPr>
          <a:lstStyle/>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Improved Efficiency and Productivity</a:t>
            </a:r>
          </a:p>
          <a:p>
            <a:pPr algn="just">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IT helps automate daily tasks </a:t>
            </a:r>
          </a:p>
          <a:p>
            <a:pPr algn="just">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Reduces manual work and errors </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Enhanced Communication</a:t>
            </a:r>
          </a:p>
          <a:p>
            <a:pPr algn="just">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IT makes communication faster and easier </a:t>
            </a:r>
          </a:p>
          <a:p>
            <a:pPr algn="just">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Tools like email, chat, and video calls improve teamwork </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Management and Analysis</a:t>
            </a:r>
          </a:p>
          <a:p>
            <a:pPr algn="just"/>
            <a:r>
              <a:rPr lang="en-US" dirty="0">
                <a:solidFill>
                  <a:schemeClr val="tx1"/>
                </a:solidFill>
                <a:latin typeface="Times New Roman" panose="02020603050405020304" pitchFamily="18" charset="0"/>
                <a:cs typeface="Times New Roman" panose="02020603050405020304" pitchFamily="18" charset="0"/>
              </a:rPr>
              <a:t>IT helps collect and store large amounts of data </a:t>
            </a:r>
          </a:p>
          <a:p>
            <a:pPr algn="just"/>
            <a:r>
              <a:rPr lang="en-US" dirty="0">
                <a:solidFill>
                  <a:schemeClr val="tx1"/>
                </a:solidFill>
                <a:latin typeface="Times New Roman" panose="02020603050405020304" pitchFamily="18" charset="0"/>
                <a:cs typeface="Times New Roman" panose="02020603050405020304" pitchFamily="18" charset="0"/>
              </a:rPr>
              <a:t>Data analysis helps businesses make better decisions </a:t>
            </a:r>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3342130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2029F1-5D81-0719-8A6D-A171895C0095}"/>
              </a:ext>
            </a:extLst>
          </p:cNvPr>
          <p:cNvSpPr>
            <a:spLocks noGrp="1"/>
          </p:cNvSpPr>
          <p:nvPr>
            <p:ph idx="1"/>
          </p:nvPr>
        </p:nvSpPr>
        <p:spPr>
          <a:xfrm>
            <a:off x="994611" y="475289"/>
            <a:ext cx="8862621" cy="5907421"/>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Security and Risk Management</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IT protects data and systems from cyber attacks </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Uses firewalls, encryption, and antivirus tools </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Keeps customer information safe </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Helps maintain trust and company reputation</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Cost Reduction</a:t>
            </a:r>
          </a:p>
          <a:p>
            <a:r>
              <a:rPr lang="en-US" dirty="0">
                <a:solidFill>
                  <a:schemeClr val="tx1"/>
                </a:solidFill>
                <a:latin typeface="Times New Roman" panose="02020603050405020304" pitchFamily="18" charset="0"/>
                <a:cs typeface="Times New Roman" panose="02020603050405020304" pitchFamily="18" charset="0"/>
              </a:rPr>
              <a:t>IT reduces manual work and operational costs </a:t>
            </a:r>
          </a:p>
          <a:p>
            <a:r>
              <a:rPr lang="en-US" dirty="0">
                <a:solidFill>
                  <a:schemeClr val="tx1"/>
                </a:solidFill>
                <a:latin typeface="Times New Roman" panose="02020603050405020304" pitchFamily="18" charset="0"/>
                <a:cs typeface="Times New Roman" panose="02020603050405020304" pitchFamily="18" charset="0"/>
              </a:rPr>
              <a:t>Automation saves time and money </a:t>
            </a:r>
          </a:p>
          <a:p>
            <a:r>
              <a:rPr lang="en-US" dirty="0">
                <a:solidFill>
                  <a:schemeClr val="tx1"/>
                </a:solidFill>
                <a:latin typeface="Times New Roman" panose="02020603050405020304" pitchFamily="18" charset="0"/>
                <a:cs typeface="Times New Roman" panose="02020603050405020304" pitchFamily="18" charset="0"/>
              </a:rPr>
              <a:t>Cloud computing reduces hardware expenses </a:t>
            </a:r>
          </a:p>
          <a:p>
            <a:r>
              <a:rPr lang="en-US" dirty="0">
                <a:solidFill>
                  <a:schemeClr val="tx1"/>
                </a:solidFill>
                <a:latin typeface="Times New Roman" panose="02020603050405020304" pitchFamily="18" charset="0"/>
                <a:cs typeface="Times New Roman" panose="02020603050405020304" pitchFamily="18" charset="0"/>
              </a:rPr>
              <a:t>Improves overall business efficiency </a:t>
            </a:r>
          </a:p>
          <a:p>
            <a:endParaRPr lang="en-IN" dirty="0"/>
          </a:p>
        </p:txBody>
      </p:sp>
    </p:spTree>
    <p:extLst>
      <p:ext uri="{BB962C8B-B14F-4D97-AF65-F5344CB8AC3E}">
        <p14:creationId xmlns:p14="http://schemas.microsoft.com/office/powerpoint/2010/main" val="3348969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305F-35A0-B612-855D-AC668DE5433B}"/>
              </a:ext>
            </a:extLst>
          </p:cNvPr>
          <p:cNvSpPr>
            <a:spLocks noGrp="1"/>
          </p:cNvSpPr>
          <p:nvPr>
            <p:ph type="title"/>
          </p:nvPr>
        </p:nvSpPr>
        <p:spPr>
          <a:xfrm>
            <a:off x="1261872" y="677863"/>
            <a:ext cx="9692640" cy="1397124"/>
          </a:xfrm>
        </p:spPr>
        <p:txBody>
          <a:bodyPr/>
          <a:lstStyle/>
          <a:p>
            <a:br>
              <a:rPr lang="en-US" dirty="0"/>
            </a:br>
            <a:endParaRPr lang="en-IN" dirty="0"/>
          </a:p>
        </p:txBody>
      </p:sp>
      <p:sp>
        <p:nvSpPr>
          <p:cNvPr id="3" name="Content Placeholder 2">
            <a:extLst>
              <a:ext uri="{FF2B5EF4-FFF2-40B4-BE49-F238E27FC236}">
                <a16:creationId xmlns:a16="http://schemas.microsoft.com/office/drawing/2014/main" id="{45CCA7D9-C663-42C3-8FD9-EA81807778B1}"/>
              </a:ext>
            </a:extLst>
          </p:cNvPr>
          <p:cNvSpPr>
            <a:spLocks noGrp="1"/>
          </p:cNvSpPr>
          <p:nvPr>
            <p:ph idx="1"/>
          </p:nvPr>
        </p:nvSpPr>
        <p:spPr>
          <a:xfrm>
            <a:off x="1261872" y="1122948"/>
            <a:ext cx="8595360" cy="5057190"/>
          </a:xfrm>
        </p:spPr>
        <p:txBody>
          <a:bodyPr/>
          <a:lstStyle/>
          <a:p>
            <a:pPr>
              <a:lnSpc>
                <a:spcPct val="100000"/>
              </a:lnSpc>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Supply Chain Management</a:t>
            </a:r>
          </a:p>
          <a:p>
            <a:pPr>
              <a:lnSpc>
                <a:spcPct val="100000"/>
              </a:lnSpc>
            </a:pPr>
            <a:r>
              <a:rPr lang="en-US" dirty="0">
                <a:solidFill>
                  <a:schemeClr val="tx1"/>
                </a:solidFill>
                <a:latin typeface="Times New Roman" panose="02020603050405020304" pitchFamily="18" charset="0"/>
                <a:cs typeface="Times New Roman" panose="02020603050405020304" pitchFamily="18" charset="0"/>
              </a:rPr>
              <a:t>  IT plays a crucial role in optimizing supply chain operations. Through the use of sophisticated software, businesses can track inventory levels, manage logistics, and improve demand forecasting. </a:t>
            </a:r>
          </a:p>
          <a:p>
            <a:pPr>
              <a:lnSpc>
                <a:spcPct val="100000"/>
              </a:lnSpc>
            </a:pPr>
            <a:r>
              <a:rPr lang="en-US" dirty="0">
                <a:solidFill>
                  <a:schemeClr val="tx1"/>
                </a:solidFill>
                <a:latin typeface="Times New Roman" panose="02020603050405020304" pitchFamily="18" charset="0"/>
                <a:cs typeface="Times New Roman" panose="02020603050405020304" pitchFamily="18" charset="0"/>
              </a:rPr>
              <a:t>This ensures timely deliveries, reduces costs, and enhances overall supply chain efficiency.</a:t>
            </a:r>
          </a:p>
          <a:p>
            <a:endParaRPr lang="en-IN" dirty="0"/>
          </a:p>
        </p:txBody>
      </p:sp>
    </p:spTree>
    <p:extLst>
      <p:ext uri="{BB962C8B-B14F-4D97-AF65-F5344CB8AC3E}">
        <p14:creationId xmlns:p14="http://schemas.microsoft.com/office/powerpoint/2010/main" val="203172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C4328-6170-5FE1-76EE-815202D4067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Enterprise Resource Planning (ERP)?</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02EF4D-C889-EF1D-F8AA-1893C028D875}"/>
              </a:ext>
            </a:extLst>
          </p:cNvPr>
          <p:cNvSpPr>
            <a:spLocks noGrp="1"/>
          </p:cNvSpPr>
          <p:nvPr>
            <p:ph idx="1"/>
          </p:nvPr>
        </p:nvSpPr>
        <p:spPr/>
        <p:txBody>
          <a:bodyPr>
            <a:normAutofit/>
          </a:bodyPr>
          <a:lstStyle/>
          <a:p>
            <a:pPr marL="0" indent="0" algn="just">
              <a:buNone/>
            </a:pPr>
            <a:r>
              <a:rPr lang="en-US" b="0" i="0" dirty="0">
                <a:solidFill>
                  <a:schemeClr val="tx1"/>
                </a:solidFill>
                <a:effectLst/>
                <a:latin typeface="Times New Roman" panose="02020603050405020304" pitchFamily="18" charset="0"/>
                <a:cs typeface="Times New Roman" panose="02020603050405020304" pitchFamily="18" charset="0"/>
              </a:rPr>
              <a:t>Enterprise Resource Planning (ERP) integrates and manages a company's core business processes to streamline operations and improve communication across departments.</a:t>
            </a:r>
          </a:p>
          <a:p>
            <a:pPr algn="jus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ERP software integrates core business functions such as finance, operations, and human resources into a single system.</a:t>
            </a:r>
          </a:p>
          <a:p>
            <a:pPr algn="jus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Many ERP systems are cloud-based, allowing remote access and real-time data sharing.</a:t>
            </a:r>
          </a:p>
          <a:p>
            <a:pPr algn="jus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Benefits include improved efficiency, better data visibility, and streamlined reporting.</a:t>
            </a:r>
          </a:p>
          <a:p>
            <a:pPr algn="just">
              <a:buFont typeface="Arial" panose="020B0604020202020204" pitchFamily="34" charset="0"/>
              <a:buChar char="•"/>
            </a:pPr>
            <a:r>
              <a:rPr lang="en-US" b="0" i="0" dirty="0">
                <a:solidFill>
                  <a:schemeClr val="tx1"/>
                </a:solidFill>
                <a:effectLst/>
                <a:latin typeface="Times New Roman" panose="02020603050405020304" pitchFamily="18" charset="0"/>
                <a:cs typeface="Times New Roman" panose="02020603050405020304" pitchFamily="18" charset="0"/>
              </a:rPr>
              <a:t>ERP solutions are highly customizable but require careful implementation.</a:t>
            </a:r>
          </a:p>
          <a:p>
            <a:endParaRPr lang="en-IN" dirty="0"/>
          </a:p>
        </p:txBody>
      </p:sp>
    </p:spTree>
    <p:extLst>
      <p:ext uri="{BB962C8B-B14F-4D97-AF65-F5344CB8AC3E}">
        <p14:creationId xmlns:p14="http://schemas.microsoft.com/office/powerpoint/2010/main" val="498402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371F3-933B-78A7-F6C1-477FCF1516A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Enterprise Resource Planning Platforms Work</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46EE2F-05FC-D097-4E92-192761B05B28}"/>
              </a:ext>
            </a:extLst>
          </p:cNvPr>
          <p:cNvSpPr>
            <a:spLocks noGrp="1"/>
          </p:cNvSpPr>
          <p:nvPr>
            <p:ph idx="1"/>
          </p:nvPr>
        </p:nvSpPr>
        <p:spPr/>
        <p:txBody>
          <a:bodyPr>
            <a:normAutofit/>
          </a:bodyPr>
          <a:lstStyle/>
          <a:p>
            <a:pPr algn="just"/>
            <a:r>
              <a:rPr lang="en-US" dirty="0">
                <a:solidFill>
                  <a:schemeClr val="tx1"/>
                </a:solidFill>
                <a:latin typeface="Times New Roman" panose="02020603050405020304" pitchFamily="18" charset="0"/>
                <a:cs typeface="Times New Roman" panose="02020603050405020304" pitchFamily="18" charset="0"/>
              </a:rPr>
              <a:t>Modern ERP systems are cloud-based and can be accessed remotely They provide real-time data across the organization</a:t>
            </a:r>
          </a:p>
          <a:p>
            <a:pPr algn="just"/>
            <a:r>
              <a:rPr lang="en-US" dirty="0">
                <a:solidFill>
                  <a:schemeClr val="tx1"/>
                </a:solidFill>
                <a:latin typeface="Times New Roman" panose="02020603050405020304" pitchFamily="18" charset="0"/>
                <a:cs typeface="Times New Roman" panose="02020603050405020304" pitchFamily="18" charset="0"/>
              </a:rPr>
              <a:t> Companies use ERP through subscription or service models</a:t>
            </a:r>
          </a:p>
          <a:p>
            <a:pPr algn="just"/>
            <a:r>
              <a:rPr lang="en-US" dirty="0">
                <a:solidFill>
                  <a:schemeClr val="tx1"/>
                </a:solidFill>
                <a:latin typeface="Times New Roman" panose="02020603050405020304" pitchFamily="18" charset="0"/>
                <a:cs typeface="Times New Roman" panose="02020603050405020304" pitchFamily="18" charset="0"/>
              </a:rPr>
              <a:t> Different business applications are connected in one platform </a:t>
            </a:r>
          </a:p>
          <a:p>
            <a:pPr algn="just"/>
            <a:r>
              <a:rPr lang="en-US" dirty="0">
                <a:solidFill>
                  <a:schemeClr val="tx1"/>
                </a:solidFill>
                <a:latin typeface="Times New Roman" panose="02020603050405020304" pitchFamily="18" charset="0"/>
                <a:cs typeface="Times New Roman" panose="02020603050405020304" pitchFamily="18" charset="0"/>
              </a:rPr>
              <a:t>All department data is stored in a central server Authorized users can access information instantly </a:t>
            </a:r>
          </a:p>
          <a:p>
            <a:pPr algn="just"/>
            <a:r>
              <a:rPr lang="en-US" dirty="0">
                <a:solidFill>
                  <a:schemeClr val="tx1"/>
                </a:solidFill>
                <a:latin typeface="Times New Roman" panose="02020603050405020304" pitchFamily="18" charset="0"/>
                <a:cs typeface="Times New Roman" panose="02020603050405020304" pitchFamily="18" charset="0"/>
              </a:rPr>
              <a:t>ERP generates reports, charts, and graphs for business analysis</a:t>
            </a:r>
          </a:p>
          <a:p>
            <a:pPr algn="just"/>
            <a:r>
              <a:rPr lang="en-US" dirty="0">
                <a:solidFill>
                  <a:schemeClr val="tx1"/>
                </a:solidFill>
                <a:latin typeface="Times New Roman" panose="02020603050405020304" pitchFamily="18" charset="0"/>
                <a:cs typeface="Times New Roman" panose="02020603050405020304" pitchFamily="18" charset="0"/>
              </a:rPr>
              <a:t> Helps track company performance and improve decision-making</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924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2DDA-BF78-6144-4563-799E16882D6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ERP vs. CRM</a:t>
            </a:r>
          </a:p>
        </p:txBody>
      </p:sp>
      <p:sp>
        <p:nvSpPr>
          <p:cNvPr id="3" name="Content Placeholder 2">
            <a:extLst>
              <a:ext uri="{FF2B5EF4-FFF2-40B4-BE49-F238E27FC236}">
                <a16:creationId xmlns:a16="http://schemas.microsoft.com/office/drawing/2014/main" id="{116B9ED8-63EF-F435-F812-09BA45F4E390}"/>
              </a:ext>
            </a:extLst>
          </p:cNvPr>
          <p:cNvSpPr>
            <a:spLocks noGrp="1"/>
          </p:cNvSpPr>
          <p:nvPr>
            <p:ph idx="1"/>
          </p:nvPr>
        </p:nvSpPr>
        <p:spPr>
          <a:xfrm>
            <a:off x="1261872" y="1812758"/>
            <a:ext cx="8595360" cy="4351337"/>
          </a:xfrm>
        </p:spPr>
        <p:txBody>
          <a:bodyPr>
            <a:normAutofit fontScale="92500" lnSpcReduction="20000"/>
          </a:bodyPr>
          <a:lstStyle/>
          <a:p>
            <a:pPr>
              <a:buFont typeface="Wingdings" panose="05000000000000000000" pitchFamily="2" charset="2"/>
              <a:buChar char="§"/>
            </a:pPr>
            <a:r>
              <a:rPr lang="en-US" sz="2200" b="1" dirty="0">
                <a:solidFill>
                  <a:schemeClr val="tx1"/>
                </a:solidFill>
                <a:latin typeface="Times New Roman" panose="02020603050405020304" pitchFamily="18" charset="0"/>
                <a:cs typeface="Times New Roman" panose="02020603050405020304" pitchFamily="18" charset="0"/>
              </a:rPr>
              <a:t>ERP</a:t>
            </a:r>
          </a:p>
          <a:p>
            <a:r>
              <a:rPr lang="en-US" sz="2200" dirty="0">
                <a:solidFill>
                  <a:schemeClr val="tx1"/>
                </a:solidFill>
                <a:latin typeface="Times New Roman" panose="02020603050405020304" pitchFamily="18" charset="0"/>
                <a:cs typeface="Times New Roman" panose="02020603050405020304" pitchFamily="18" charset="0"/>
              </a:rPr>
              <a:t>Focuses on internal business operations </a:t>
            </a:r>
          </a:p>
          <a:p>
            <a:r>
              <a:rPr lang="en-US" sz="2200" dirty="0">
                <a:solidFill>
                  <a:schemeClr val="tx1"/>
                </a:solidFill>
                <a:latin typeface="Times New Roman" panose="02020603050405020304" pitchFamily="18" charset="0"/>
                <a:cs typeface="Times New Roman" panose="02020603050405020304" pitchFamily="18" charset="0"/>
              </a:rPr>
              <a:t>Manages resources and processes </a:t>
            </a:r>
          </a:p>
          <a:p>
            <a:r>
              <a:rPr lang="en-US" sz="2200" dirty="0">
                <a:solidFill>
                  <a:schemeClr val="tx1"/>
                </a:solidFill>
                <a:latin typeface="Times New Roman" panose="02020603050405020304" pitchFamily="18" charset="0"/>
                <a:cs typeface="Times New Roman" panose="02020603050405020304" pitchFamily="18" charset="0"/>
              </a:rPr>
              <a:t>Used by finance, HR, and operations teams </a:t>
            </a:r>
          </a:p>
          <a:p>
            <a:r>
              <a:rPr lang="en-US" sz="2200" dirty="0">
                <a:solidFill>
                  <a:schemeClr val="tx1"/>
                </a:solidFill>
                <a:latin typeface="Times New Roman" panose="02020603050405020304" pitchFamily="18" charset="0"/>
                <a:cs typeface="Times New Roman" panose="02020603050405020304" pitchFamily="18" charset="0"/>
              </a:rPr>
              <a:t>Improves operational efficiency </a:t>
            </a:r>
          </a:p>
          <a:p>
            <a:pPr>
              <a:buFont typeface="Wingdings" panose="05000000000000000000" pitchFamily="2" charset="2"/>
              <a:buChar char="§"/>
            </a:pPr>
            <a:r>
              <a:rPr lang="en-US" sz="2200" b="1" dirty="0">
                <a:solidFill>
                  <a:schemeClr val="tx1"/>
                </a:solidFill>
                <a:latin typeface="Times New Roman" panose="02020603050405020304" pitchFamily="18" charset="0"/>
                <a:cs typeface="Times New Roman" panose="02020603050405020304" pitchFamily="18" charset="0"/>
              </a:rPr>
              <a:t>CRM</a:t>
            </a:r>
          </a:p>
          <a:p>
            <a:r>
              <a:rPr lang="en-US" sz="2200" dirty="0">
                <a:solidFill>
                  <a:schemeClr val="tx1"/>
                </a:solidFill>
                <a:latin typeface="Times New Roman" panose="02020603050405020304" pitchFamily="18" charset="0"/>
                <a:cs typeface="Times New Roman" panose="02020603050405020304" pitchFamily="18" charset="0"/>
              </a:rPr>
              <a:t>Focuses on customer relationships </a:t>
            </a:r>
          </a:p>
          <a:p>
            <a:r>
              <a:rPr lang="en-US" sz="2200" dirty="0">
                <a:solidFill>
                  <a:schemeClr val="tx1"/>
                </a:solidFill>
                <a:latin typeface="Times New Roman" panose="02020603050405020304" pitchFamily="18" charset="0"/>
                <a:cs typeface="Times New Roman" panose="02020603050405020304" pitchFamily="18" charset="0"/>
              </a:rPr>
              <a:t>Manages customer interactions and sales </a:t>
            </a:r>
          </a:p>
          <a:p>
            <a:r>
              <a:rPr lang="en-US" sz="2200" dirty="0">
                <a:solidFill>
                  <a:schemeClr val="tx1"/>
                </a:solidFill>
                <a:latin typeface="Times New Roman" panose="02020603050405020304" pitchFamily="18" charset="0"/>
                <a:cs typeface="Times New Roman" panose="02020603050405020304" pitchFamily="18" charset="0"/>
              </a:rPr>
              <a:t>Used by sales and marketing teams </a:t>
            </a:r>
          </a:p>
          <a:p>
            <a:r>
              <a:rPr lang="en-US" sz="2200" dirty="0">
                <a:solidFill>
                  <a:schemeClr val="tx1"/>
                </a:solidFill>
                <a:latin typeface="Times New Roman" panose="02020603050405020304" pitchFamily="18" charset="0"/>
                <a:cs typeface="Times New Roman" panose="02020603050405020304" pitchFamily="18" charset="0"/>
              </a:rPr>
              <a:t>Improves customer satisfaction and engagement</a:t>
            </a:r>
          </a:p>
          <a:p>
            <a:endParaRPr lang="en-IN" dirty="0"/>
          </a:p>
        </p:txBody>
      </p:sp>
    </p:spTree>
    <p:extLst>
      <p:ext uri="{BB962C8B-B14F-4D97-AF65-F5344CB8AC3E}">
        <p14:creationId xmlns:p14="http://schemas.microsoft.com/office/powerpoint/2010/main" val="1442088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92D68-F789-069C-F3E3-A6C409FB56A5}"/>
              </a:ext>
            </a:extLst>
          </p:cNvPr>
          <p:cNvSpPr>
            <a:spLocks noGrp="1"/>
          </p:cNvSpPr>
          <p:nvPr>
            <p:ph type="title"/>
          </p:nvPr>
        </p:nvSpPr>
        <p:spPr>
          <a:xfrm>
            <a:off x="1261871" y="550871"/>
            <a:ext cx="9692640" cy="1550644"/>
          </a:xfrm>
        </p:spPr>
        <p:txBody>
          <a:bodyPr>
            <a:normAutofit fontScale="90000"/>
          </a:bodyPr>
          <a:lstStyle/>
          <a:p>
            <a:pPr>
              <a:lnSpc>
                <a:spcPct val="95000"/>
              </a:lnSpc>
              <a:spcBef>
                <a:spcPts val="1400"/>
              </a:spcBef>
              <a:spcAft>
                <a:spcPts val="200"/>
              </a:spcAft>
              <a:buClr>
                <a:srgbClr val="A5300F"/>
              </a:buClr>
              <a:buSzPct val="80000"/>
              <a:defRPr/>
            </a:pPr>
            <a:br>
              <a:rPr lang="en-US" sz="2000" dirty="0">
                <a:solidFill>
                  <a:schemeClr val="tx1"/>
                </a:solidFill>
                <a:latin typeface="Times New Roman" panose="02020603050405020304" pitchFamily="18" charset="0"/>
                <a:cs typeface="Times New Roman" panose="02020603050405020304" pitchFamily="18" charset="0"/>
              </a:rPr>
            </a:br>
            <a:r>
              <a:rPr kumimoji="0" lang="en-US" sz="2000" b="1" i="0" u="none" strike="noStrike" kern="1200" cap="none" spc="1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br>
              <a:rPr kumimoji="0" lang="en-US" sz="2000" b="1" i="0" u="none" strike="noStrike" kern="1200" cap="none" spc="1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4900" dirty="0">
                <a:latin typeface="Times New Roman" panose="02020603050405020304" pitchFamily="18" charset="0"/>
                <a:cs typeface="Times New Roman" panose="02020603050405020304" pitchFamily="18" charset="0"/>
              </a:rPr>
              <a:t>What Is Business Strategy, IT Strategy &amp; Alignment Capability</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B3AB78-4614-C2E0-21B8-C02AF84088D0}"/>
              </a:ext>
            </a:extLst>
          </p:cNvPr>
          <p:cNvSpPr>
            <a:spLocks noGrp="1"/>
          </p:cNvSpPr>
          <p:nvPr>
            <p:ph idx="1"/>
          </p:nvPr>
        </p:nvSpPr>
        <p:spPr>
          <a:xfrm>
            <a:off x="1261871" y="1507958"/>
            <a:ext cx="9692639" cy="5350042"/>
          </a:xfrm>
        </p:spPr>
        <p:txBody>
          <a:bodyPr>
            <a:normAutofit/>
          </a:bodyPr>
          <a:lstStyle/>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Business Strategy</a:t>
            </a:r>
          </a:p>
          <a:p>
            <a:pPr algn="just"/>
            <a:r>
              <a:rPr lang="en-US" dirty="0">
                <a:solidFill>
                  <a:schemeClr val="tx1"/>
                </a:solidFill>
                <a:latin typeface="Times New Roman" panose="02020603050405020304" pitchFamily="18" charset="0"/>
                <a:cs typeface="Times New Roman" panose="02020603050405020304" pitchFamily="18" charset="0"/>
              </a:rPr>
              <a:t>Business strategy is a long-term plan used to achieve business goals and competitive advantage. </a:t>
            </a:r>
          </a:p>
          <a:p>
            <a:pPr algn="just"/>
            <a:r>
              <a:rPr lang="en-US" dirty="0">
                <a:solidFill>
                  <a:schemeClr val="tx1"/>
                </a:solidFill>
                <a:latin typeface="Times New Roman" panose="02020603050405020304" pitchFamily="18" charset="0"/>
                <a:cs typeface="Times New Roman" panose="02020603050405020304" pitchFamily="18" charset="0"/>
              </a:rPr>
              <a:t>It focuses on growth, profitability, customer satisfaction, and market success.</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IT Strategy</a:t>
            </a:r>
          </a:p>
          <a:p>
            <a:pPr algn="just"/>
            <a:r>
              <a:rPr lang="en-US" dirty="0">
                <a:solidFill>
                  <a:schemeClr val="tx1"/>
                </a:solidFill>
                <a:latin typeface="Times New Roman" panose="02020603050405020304" pitchFamily="18" charset="0"/>
                <a:cs typeface="Times New Roman" panose="02020603050405020304" pitchFamily="18" charset="0"/>
              </a:rPr>
              <a:t>IT strategy is a plan for using technology to support business operations and goals. </a:t>
            </a:r>
          </a:p>
          <a:p>
            <a:pPr algn="just"/>
            <a:r>
              <a:rPr lang="en-US" dirty="0">
                <a:solidFill>
                  <a:schemeClr val="tx1"/>
                </a:solidFill>
                <a:latin typeface="Times New Roman" panose="02020603050405020304" pitchFamily="18" charset="0"/>
                <a:cs typeface="Times New Roman" panose="02020603050405020304" pitchFamily="18" charset="0"/>
              </a:rPr>
              <a:t>It helps organizations improve efficiency, communication, security, and innovation.</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Alignment Capability</a:t>
            </a:r>
          </a:p>
          <a:p>
            <a:pPr algn="just"/>
            <a:r>
              <a:rPr lang="en-US" dirty="0">
                <a:solidFill>
                  <a:schemeClr val="tx1"/>
                </a:solidFill>
                <a:latin typeface="Times New Roman" panose="02020603050405020304" pitchFamily="18" charset="0"/>
                <a:cs typeface="Times New Roman" panose="02020603050405020304" pitchFamily="18" charset="0"/>
              </a:rPr>
              <a:t>Alignment capability is the ability of an organization to coordinate business strategy and IT strategy effectively. </a:t>
            </a:r>
          </a:p>
          <a:p>
            <a:pPr algn="just"/>
            <a:r>
              <a:rPr lang="en-US" dirty="0">
                <a:solidFill>
                  <a:schemeClr val="tx1"/>
                </a:solidFill>
                <a:latin typeface="Times New Roman" panose="02020603050405020304" pitchFamily="18" charset="0"/>
                <a:cs typeface="Times New Roman" panose="02020603050405020304" pitchFamily="18" charset="0"/>
              </a:rPr>
              <a:t>It ensures technology supports business objectives and organizational needs.</a:t>
            </a:r>
          </a:p>
          <a:p>
            <a:endParaRPr lang="en-US" dirty="0"/>
          </a:p>
          <a:p>
            <a:endParaRPr lang="en-IN" dirty="0"/>
          </a:p>
        </p:txBody>
      </p:sp>
    </p:spTree>
    <p:extLst>
      <p:ext uri="{BB962C8B-B14F-4D97-AF65-F5344CB8AC3E}">
        <p14:creationId xmlns:p14="http://schemas.microsoft.com/office/powerpoint/2010/main" val="2346901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9A2D-28D8-3DD8-7EDE-E015311A21A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Importance of Business-IT Alignment</a:t>
            </a:r>
          </a:p>
        </p:txBody>
      </p:sp>
      <p:sp>
        <p:nvSpPr>
          <p:cNvPr id="3" name="Content Placeholder 2">
            <a:extLst>
              <a:ext uri="{FF2B5EF4-FFF2-40B4-BE49-F238E27FC236}">
                <a16:creationId xmlns:a16="http://schemas.microsoft.com/office/drawing/2014/main" id="{947FEBAA-2AB8-CD92-2F5F-74D7C20520CE}"/>
              </a:ext>
            </a:extLst>
          </p:cNvPr>
          <p:cNvSpPr>
            <a:spLocks noGrp="1"/>
          </p:cNvSpPr>
          <p:nvPr>
            <p:ph idx="1"/>
          </p:nvPr>
        </p:nvSpPr>
        <p:spPr/>
        <p:txBody>
          <a:bodyPr/>
          <a:lstStyle/>
          <a:p>
            <a:pPr algn="just"/>
            <a:r>
              <a:rPr lang="en-US" dirty="0">
                <a:solidFill>
                  <a:schemeClr val="tx1"/>
                </a:solidFill>
                <a:latin typeface="Times New Roman" panose="02020603050405020304" pitchFamily="18" charset="0"/>
                <a:cs typeface="Times New Roman" panose="02020603050405020304" pitchFamily="18" charset="0"/>
              </a:rPr>
              <a:t>Improves business performance </a:t>
            </a:r>
          </a:p>
          <a:p>
            <a:pPr algn="just"/>
            <a:r>
              <a:rPr lang="en-US" dirty="0">
                <a:solidFill>
                  <a:schemeClr val="tx1"/>
                </a:solidFill>
                <a:latin typeface="Times New Roman" panose="02020603050405020304" pitchFamily="18" charset="0"/>
                <a:cs typeface="Times New Roman" panose="02020603050405020304" pitchFamily="18" charset="0"/>
              </a:rPr>
              <a:t>Enhances communication between departments </a:t>
            </a:r>
          </a:p>
          <a:p>
            <a:pPr algn="just"/>
            <a:r>
              <a:rPr lang="en-US" dirty="0">
                <a:solidFill>
                  <a:schemeClr val="tx1"/>
                </a:solidFill>
                <a:latin typeface="Times New Roman" panose="02020603050405020304" pitchFamily="18" charset="0"/>
                <a:cs typeface="Times New Roman" panose="02020603050405020304" pitchFamily="18" charset="0"/>
              </a:rPr>
              <a:t>Supports innovation and growth </a:t>
            </a:r>
          </a:p>
          <a:p>
            <a:pPr algn="just"/>
            <a:r>
              <a:rPr lang="en-US" dirty="0">
                <a:solidFill>
                  <a:schemeClr val="tx1"/>
                </a:solidFill>
                <a:latin typeface="Times New Roman" panose="02020603050405020304" pitchFamily="18" charset="0"/>
                <a:cs typeface="Times New Roman" panose="02020603050405020304" pitchFamily="18" charset="0"/>
              </a:rPr>
              <a:t>Improves decision-making </a:t>
            </a:r>
          </a:p>
          <a:p>
            <a:pPr algn="just"/>
            <a:r>
              <a:rPr lang="en-US" dirty="0">
                <a:solidFill>
                  <a:schemeClr val="tx1"/>
                </a:solidFill>
                <a:latin typeface="Times New Roman" panose="02020603050405020304" pitchFamily="18" charset="0"/>
                <a:cs typeface="Times New Roman" panose="02020603050405020304" pitchFamily="18" charset="0"/>
              </a:rPr>
              <a:t>Creates competitive advantage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953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109AD-3D31-6C92-B85F-1EEA3B55700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Relationship Between Business and IT Strategy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998501-FECE-B284-44E0-49D49D1B1114}"/>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Business strategy defines organizational goals.</a:t>
            </a:r>
          </a:p>
          <a:p>
            <a:r>
              <a:rPr lang="en-US" dirty="0">
                <a:solidFill>
                  <a:schemeClr val="tx1"/>
                </a:solidFill>
                <a:latin typeface="Times New Roman" panose="02020603050405020304" pitchFamily="18" charset="0"/>
                <a:cs typeface="Times New Roman" panose="02020603050405020304" pitchFamily="18" charset="0"/>
              </a:rPr>
              <a:t> IT strategy supports these goals using technology solutions. </a:t>
            </a:r>
          </a:p>
          <a:p>
            <a:r>
              <a:rPr lang="en-US" dirty="0">
                <a:solidFill>
                  <a:schemeClr val="tx1"/>
                </a:solidFill>
                <a:latin typeface="Times New Roman" panose="02020603050405020304" pitchFamily="18" charset="0"/>
                <a:cs typeface="Times New Roman" panose="02020603050405020304" pitchFamily="18" charset="0"/>
              </a:rPr>
              <a:t>Strong coordination between business and IT improves organizational success. </a:t>
            </a:r>
          </a:p>
          <a:p>
            <a:r>
              <a:rPr lang="en-US" dirty="0">
                <a:solidFill>
                  <a:schemeClr val="tx1"/>
                </a:solidFill>
                <a:latin typeface="Times New Roman" panose="02020603050405020304" pitchFamily="18" charset="0"/>
                <a:cs typeface="Times New Roman" panose="02020603050405020304" pitchFamily="18" charset="0"/>
              </a:rPr>
              <a:t>Poor alignment can reduce efficiency and increase risks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8219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09CD5-0F01-4E60-DABB-624C1C61FA1C}"/>
              </a:ext>
            </a:extLst>
          </p:cNvPr>
          <p:cNvSpPr>
            <a:spLocks noGrp="1"/>
          </p:cNvSpPr>
          <p:nvPr>
            <p:ph type="title"/>
          </p:nvPr>
        </p:nvSpPr>
        <p:spPr>
          <a:xfrm>
            <a:off x="1422293" y="823588"/>
            <a:ext cx="9692640" cy="1397124"/>
          </a:xfrm>
        </p:spPr>
        <p:txBody>
          <a:bodyPr/>
          <a:lstStyle/>
          <a:p>
            <a:r>
              <a:rPr lang="en-IN" dirty="0">
                <a:latin typeface="Times New Roman" panose="02020603050405020304" pitchFamily="18" charset="0"/>
                <a:cs typeface="Times New Roman" panose="02020603050405020304" pitchFamily="18" charset="0"/>
              </a:rPr>
              <a:t>Benefits</a:t>
            </a:r>
            <a:br>
              <a:rPr lang="en-IN" dirty="0"/>
            </a:br>
            <a:endParaRPr lang="en-IN" dirty="0"/>
          </a:p>
        </p:txBody>
      </p:sp>
      <p:sp>
        <p:nvSpPr>
          <p:cNvPr id="3" name="Content Placeholder 2">
            <a:extLst>
              <a:ext uri="{FF2B5EF4-FFF2-40B4-BE49-F238E27FC236}">
                <a16:creationId xmlns:a16="http://schemas.microsoft.com/office/drawing/2014/main" id="{9FFF5751-D8EA-4333-DF60-97416127ACBE}"/>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Better operational efficiency </a:t>
            </a:r>
          </a:p>
          <a:p>
            <a:r>
              <a:rPr lang="en-US" dirty="0">
                <a:solidFill>
                  <a:schemeClr val="tx1"/>
                </a:solidFill>
                <a:latin typeface="Times New Roman" panose="02020603050405020304" pitchFamily="18" charset="0"/>
                <a:cs typeface="Times New Roman" panose="02020603050405020304" pitchFamily="18" charset="0"/>
              </a:rPr>
              <a:t>Faster decision-making </a:t>
            </a:r>
          </a:p>
          <a:p>
            <a:r>
              <a:rPr lang="en-US" dirty="0">
                <a:solidFill>
                  <a:schemeClr val="tx1"/>
                </a:solidFill>
                <a:latin typeface="Times New Roman" panose="02020603050405020304" pitchFamily="18" charset="0"/>
                <a:cs typeface="Times New Roman" panose="02020603050405020304" pitchFamily="18" charset="0"/>
              </a:rPr>
              <a:t>Improved productivity </a:t>
            </a:r>
          </a:p>
          <a:p>
            <a:r>
              <a:rPr lang="en-US" dirty="0">
                <a:solidFill>
                  <a:schemeClr val="tx1"/>
                </a:solidFill>
                <a:latin typeface="Times New Roman" panose="02020603050405020304" pitchFamily="18" charset="0"/>
                <a:cs typeface="Times New Roman" panose="02020603050405020304" pitchFamily="18" charset="0"/>
              </a:rPr>
              <a:t>Better customer service </a:t>
            </a:r>
          </a:p>
          <a:p>
            <a:r>
              <a:rPr lang="en-US" dirty="0">
                <a:solidFill>
                  <a:schemeClr val="tx1"/>
                </a:solidFill>
                <a:latin typeface="Times New Roman" panose="02020603050405020304" pitchFamily="18" charset="0"/>
                <a:cs typeface="Times New Roman" panose="02020603050405020304" pitchFamily="18" charset="0"/>
              </a:rPr>
              <a:t>Increased flexibility and innovation</a:t>
            </a:r>
          </a:p>
          <a:p>
            <a:endParaRPr lang="en-IN" dirty="0"/>
          </a:p>
        </p:txBody>
      </p:sp>
    </p:spTree>
    <p:extLst>
      <p:ext uri="{BB962C8B-B14F-4D97-AF65-F5344CB8AC3E}">
        <p14:creationId xmlns:p14="http://schemas.microsoft.com/office/powerpoint/2010/main" val="1813219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5377-C4A9-F9CD-9323-7D1D1E6D0D98}"/>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Challenges</a:t>
            </a:r>
            <a:br>
              <a:rPr lang="en-US" dirty="0"/>
            </a:br>
            <a:endParaRPr lang="en-IN" dirty="0"/>
          </a:p>
        </p:txBody>
      </p:sp>
      <p:sp>
        <p:nvSpPr>
          <p:cNvPr id="3" name="Content Placeholder 2">
            <a:extLst>
              <a:ext uri="{FF2B5EF4-FFF2-40B4-BE49-F238E27FC236}">
                <a16:creationId xmlns:a16="http://schemas.microsoft.com/office/drawing/2014/main" id="{1DB65A53-4FAF-97BC-9152-FB08B5B748B8}"/>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Communication gaps between business and IT teams </a:t>
            </a:r>
          </a:p>
          <a:p>
            <a:r>
              <a:rPr lang="en-US" dirty="0">
                <a:solidFill>
                  <a:schemeClr val="tx1"/>
                </a:solidFill>
                <a:latin typeface="Times New Roman" panose="02020603050405020304" pitchFamily="18" charset="0"/>
                <a:cs typeface="Times New Roman" panose="02020603050405020304" pitchFamily="18" charset="0"/>
              </a:rPr>
              <a:t>Rapid technological changes </a:t>
            </a:r>
          </a:p>
          <a:p>
            <a:r>
              <a:rPr lang="en-US" dirty="0">
                <a:solidFill>
                  <a:schemeClr val="tx1"/>
                </a:solidFill>
                <a:latin typeface="Times New Roman" panose="02020603050405020304" pitchFamily="18" charset="0"/>
                <a:cs typeface="Times New Roman" panose="02020603050405020304" pitchFamily="18" charset="0"/>
              </a:rPr>
              <a:t>Lack of clear goals and requirements </a:t>
            </a:r>
          </a:p>
          <a:p>
            <a:r>
              <a:rPr lang="en-US" dirty="0">
                <a:solidFill>
                  <a:schemeClr val="tx1"/>
                </a:solidFill>
                <a:latin typeface="Times New Roman" panose="02020603050405020304" pitchFamily="18" charset="0"/>
                <a:cs typeface="Times New Roman" panose="02020603050405020304" pitchFamily="18" charset="0"/>
              </a:rPr>
              <a:t>Resistance to change </a:t>
            </a:r>
          </a:p>
          <a:p>
            <a:r>
              <a:rPr lang="en-US" dirty="0">
                <a:solidFill>
                  <a:schemeClr val="tx1"/>
                </a:solidFill>
                <a:latin typeface="Times New Roman" panose="02020603050405020304" pitchFamily="18" charset="0"/>
                <a:cs typeface="Times New Roman" panose="02020603050405020304" pitchFamily="18" charset="0"/>
              </a:rPr>
              <a:t>Poor understanding of business needs </a:t>
            </a:r>
          </a:p>
          <a:p>
            <a:endParaRPr lang="en-IN" dirty="0"/>
          </a:p>
        </p:txBody>
      </p:sp>
    </p:spTree>
    <p:extLst>
      <p:ext uri="{BB962C8B-B14F-4D97-AF65-F5344CB8AC3E}">
        <p14:creationId xmlns:p14="http://schemas.microsoft.com/office/powerpoint/2010/main" val="214250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E5A89-C87B-BEA3-021D-6C27F8390674}"/>
              </a:ext>
            </a:extLst>
          </p:cNvPr>
          <p:cNvSpPr>
            <a:spLocks noGrp="1"/>
          </p:cNvSpPr>
          <p:nvPr>
            <p:ph type="ctrTitle"/>
          </p:nvPr>
        </p:nvSpPr>
        <p:spPr>
          <a:xfrm>
            <a:off x="1386840" y="1737520"/>
            <a:ext cx="9418320" cy="4041648"/>
          </a:xfrm>
        </p:spPr>
        <p:txBody>
          <a:bodyPr>
            <a:normAutofit/>
          </a:bodyPr>
          <a:lstStyle/>
          <a:p>
            <a:r>
              <a:rPr lang="en-US" dirty="0">
                <a:latin typeface="Times New Roman" panose="02020603050405020304" pitchFamily="18" charset="0"/>
                <a:cs typeface="Times New Roman" panose="02020603050405020304" pitchFamily="18" charset="0"/>
              </a:rPr>
              <a:t>2. Data Types, Sources, and Lifecycle</a:t>
            </a:r>
            <a:br>
              <a:rPr lang="en-US" dirty="0">
                <a:latin typeface="Times New Roman" panose="02020603050405020304" pitchFamily="18" charset="0"/>
                <a:cs typeface="Times New Roman" panose="02020603050405020304" pitchFamily="18" charset="0"/>
              </a:rPr>
            </a:br>
            <a:br>
              <a:rPr lang="en-US" dirty="0"/>
            </a:br>
            <a:endParaRPr lang="en-IN" dirty="0"/>
          </a:p>
        </p:txBody>
      </p:sp>
    </p:spTree>
    <p:extLst>
      <p:ext uri="{BB962C8B-B14F-4D97-AF65-F5344CB8AC3E}">
        <p14:creationId xmlns:p14="http://schemas.microsoft.com/office/powerpoint/2010/main" val="3572936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9D6C-3D92-3BE7-20B9-BE9F461AF1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676F89-7B4E-7F1C-01A4-F10D0CD91133}"/>
              </a:ext>
            </a:extLst>
          </p:cNvPr>
          <p:cNvSpPr>
            <a:spLocks noGrp="1"/>
          </p:cNvSpPr>
          <p:nvPr>
            <p:ph idx="1"/>
          </p:nvPr>
        </p:nvSpPr>
        <p:spPr>
          <a:xfrm>
            <a:off x="1261872" y="1828800"/>
            <a:ext cx="9692640" cy="4351337"/>
          </a:xfrm>
        </p:spPr>
        <p:txBody>
          <a:bodyPr>
            <a:normAutofit/>
          </a:bodyPr>
          <a:lstStyle/>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Structured Data Definition</a:t>
            </a:r>
          </a:p>
          <a:p>
            <a:pPr algn="just"/>
            <a:r>
              <a:rPr lang="en-US" b="1" dirty="0">
                <a:solidFill>
                  <a:schemeClr val="tx1"/>
                </a:solidFill>
                <a:latin typeface="Times New Roman" panose="02020603050405020304" pitchFamily="18" charset="0"/>
                <a:cs typeface="Times New Roman" panose="02020603050405020304" pitchFamily="18" charset="0"/>
              </a:rPr>
              <a:t>Structured Data</a:t>
            </a:r>
            <a:r>
              <a:rPr lang="en-US" dirty="0">
                <a:solidFill>
                  <a:schemeClr val="tx1"/>
                </a:solidFill>
                <a:latin typeface="Times New Roman" panose="02020603050405020304" pitchFamily="18" charset="0"/>
                <a:cs typeface="Times New Roman" panose="02020603050405020304" pitchFamily="18" charset="0"/>
              </a:rPr>
              <a:t> is organized data stored in rows and columns, making it easy to store, search, and analyze.</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Semi-Structured Data Definition</a:t>
            </a:r>
          </a:p>
          <a:p>
            <a:pPr algn="just"/>
            <a:r>
              <a:rPr lang="en-US" b="1" dirty="0">
                <a:solidFill>
                  <a:schemeClr val="tx1"/>
                </a:solidFill>
                <a:latin typeface="Times New Roman" panose="02020603050405020304" pitchFamily="18" charset="0"/>
                <a:cs typeface="Times New Roman" panose="02020603050405020304" pitchFamily="18" charset="0"/>
              </a:rPr>
              <a:t>Semi-Structured Data</a:t>
            </a:r>
            <a:r>
              <a:rPr lang="en-US" dirty="0">
                <a:solidFill>
                  <a:schemeClr val="tx1"/>
                </a:solidFill>
                <a:latin typeface="Times New Roman" panose="02020603050405020304" pitchFamily="18" charset="0"/>
                <a:cs typeface="Times New Roman" panose="02020603050405020304" pitchFamily="18" charset="0"/>
              </a:rPr>
              <a:t> is partially organized data that does not follow a fixed table format but contains tags or labels for identification.</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Unstructured Data Definition</a:t>
            </a:r>
          </a:p>
          <a:p>
            <a:pPr algn="just"/>
            <a:r>
              <a:rPr lang="en-US" b="1" dirty="0">
                <a:solidFill>
                  <a:schemeClr val="tx1"/>
                </a:solidFill>
                <a:latin typeface="Times New Roman" panose="02020603050405020304" pitchFamily="18" charset="0"/>
                <a:cs typeface="Times New Roman" panose="02020603050405020304" pitchFamily="18" charset="0"/>
              </a:rPr>
              <a:t>Unstructured Data</a:t>
            </a:r>
            <a:r>
              <a:rPr lang="en-US" dirty="0">
                <a:solidFill>
                  <a:schemeClr val="tx1"/>
                </a:solidFill>
                <a:latin typeface="Times New Roman" panose="02020603050405020304" pitchFamily="18" charset="0"/>
                <a:cs typeface="Times New Roman" panose="02020603050405020304" pitchFamily="18" charset="0"/>
              </a:rPr>
              <a:t> is data without a predefined format or structure, making it difficult to store and analyze in traditional databases.</a:t>
            </a:r>
          </a:p>
          <a:p>
            <a:pPr marL="0" indent="0">
              <a:buNone/>
            </a:pPr>
            <a:endParaRPr lang="en-IN" dirty="0"/>
          </a:p>
        </p:txBody>
      </p:sp>
    </p:spTree>
    <p:extLst>
      <p:ext uri="{BB962C8B-B14F-4D97-AF65-F5344CB8AC3E}">
        <p14:creationId xmlns:p14="http://schemas.microsoft.com/office/powerpoint/2010/main" val="203206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24DFC-E9E0-0001-C527-00CDA70886CF}"/>
              </a:ext>
            </a:extLst>
          </p:cNvPr>
          <p:cNvSpPr>
            <a:spLocks noGrp="1"/>
          </p:cNvSpPr>
          <p:nvPr>
            <p:ph type="title"/>
          </p:nvPr>
        </p:nvSpPr>
        <p:spPr>
          <a:xfrm>
            <a:off x="1262062" y="644713"/>
            <a:ext cx="9692449" cy="1326055"/>
          </a:xfrm>
        </p:spPr>
        <p:txBody>
          <a:bodyPr>
            <a:normAutofit/>
          </a:bodyPr>
          <a:lstStyle/>
          <a:p>
            <a:r>
              <a:rPr lang="en-US" dirty="0">
                <a:latin typeface="Times New Roman" panose="02020603050405020304" pitchFamily="18" charset="0"/>
                <a:cs typeface="Times New Roman" panose="02020603050405020304" pitchFamily="18" charset="0"/>
              </a:rPr>
              <a:t>Differences between Structured, Semi-structured and Unstructured data</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01F7A20-5A04-694A-465D-92FAAC1C1050}"/>
              </a:ext>
            </a:extLst>
          </p:cNvPr>
          <p:cNvGraphicFramePr>
            <a:graphicFrameLocks noGrp="1"/>
          </p:cNvGraphicFramePr>
          <p:nvPr>
            <p:ph idx="1"/>
            <p:extLst>
              <p:ext uri="{D42A27DB-BD31-4B8C-83A1-F6EECF244321}">
                <p14:modId xmlns:p14="http://schemas.microsoft.com/office/powerpoint/2010/main" val="780342827"/>
              </p:ext>
            </p:extLst>
          </p:nvPr>
        </p:nvGraphicFramePr>
        <p:xfrm>
          <a:off x="1475874" y="2235371"/>
          <a:ext cx="9122692" cy="3217031"/>
        </p:xfrm>
        <a:graphic>
          <a:graphicData uri="http://schemas.openxmlformats.org/drawingml/2006/table">
            <a:tbl>
              <a:tblPr firstRow="1" bandRow="1">
                <a:tableStyleId>{21E4AEA4-8DFA-4A89-87EB-49C32662AFE0}</a:tableStyleId>
              </a:tblPr>
              <a:tblGrid>
                <a:gridCol w="1828800">
                  <a:extLst>
                    <a:ext uri="{9D8B030D-6E8A-4147-A177-3AD203B41FA5}">
                      <a16:colId xmlns:a16="http://schemas.microsoft.com/office/drawing/2014/main" val="2575274581"/>
                    </a:ext>
                  </a:extLst>
                </a:gridCol>
                <a:gridCol w="2534652">
                  <a:extLst>
                    <a:ext uri="{9D8B030D-6E8A-4147-A177-3AD203B41FA5}">
                      <a16:colId xmlns:a16="http://schemas.microsoft.com/office/drawing/2014/main" val="955203798"/>
                    </a:ext>
                  </a:extLst>
                </a:gridCol>
                <a:gridCol w="2560822">
                  <a:extLst>
                    <a:ext uri="{9D8B030D-6E8A-4147-A177-3AD203B41FA5}">
                      <a16:colId xmlns:a16="http://schemas.microsoft.com/office/drawing/2014/main" val="1671478455"/>
                    </a:ext>
                  </a:extLst>
                </a:gridCol>
                <a:gridCol w="2198418">
                  <a:extLst>
                    <a:ext uri="{9D8B030D-6E8A-4147-A177-3AD203B41FA5}">
                      <a16:colId xmlns:a16="http://schemas.microsoft.com/office/drawing/2014/main" val="1755490419"/>
                    </a:ext>
                  </a:extLst>
                </a:gridCol>
              </a:tblGrid>
              <a:tr h="319431">
                <a:tc>
                  <a:txBody>
                    <a:bodyPr/>
                    <a:lstStyle/>
                    <a:p>
                      <a:r>
                        <a:rPr lang="en-IN" sz="2000" b="1" dirty="0">
                          <a:solidFill>
                            <a:srgbClr val="273239"/>
                          </a:solidFill>
                          <a:effectLst/>
                          <a:latin typeface="Times New Roman" panose="02020603050405020304" pitchFamily="18" charset="0"/>
                          <a:cs typeface="Times New Roman" panose="02020603050405020304" pitchFamily="18" charset="0"/>
                        </a:rPr>
                        <a:t>Properties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dirty="0">
                          <a:solidFill>
                            <a:srgbClr val="273239"/>
                          </a:solidFill>
                          <a:effectLst/>
                          <a:latin typeface="Times New Roman" panose="02020603050405020304" pitchFamily="18" charset="0"/>
                          <a:cs typeface="Times New Roman" panose="02020603050405020304" pitchFamily="18" charset="0"/>
                        </a:rPr>
                        <a:t>Structured data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dirty="0">
                          <a:solidFill>
                            <a:srgbClr val="273239"/>
                          </a:solidFill>
                          <a:effectLst/>
                          <a:latin typeface="Times New Roman" panose="02020603050405020304" pitchFamily="18" charset="0"/>
                          <a:cs typeface="Times New Roman" panose="02020603050405020304" pitchFamily="18" charset="0"/>
                        </a:rPr>
                        <a:t>Semi-structured data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dirty="0">
                          <a:solidFill>
                            <a:srgbClr val="273239"/>
                          </a:solidFill>
                          <a:effectLst/>
                          <a:latin typeface="Times New Roman" panose="02020603050405020304" pitchFamily="18" charset="0"/>
                          <a:cs typeface="Times New Roman" panose="02020603050405020304" pitchFamily="18" charset="0"/>
                        </a:rPr>
                        <a:t>Unstructured data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28849100"/>
                  </a:ext>
                </a:extLst>
              </a:tr>
              <a:tr h="953987">
                <a:tc>
                  <a:txBody>
                    <a:bodyPr/>
                    <a:lstStyle/>
                    <a:p>
                      <a:r>
                        <a:rPr lang="en-IN" sz="2000" dirty="0">
                          <a:latin typeface="Times New Roman" panose="02020603050405020304" pitchFamily="18" charset="0"/>
                          <a:cs typeface="Times New Roman" panose="02020603050405020304" pitchFamily="18" charset="0"/>
                        </a:rPr>
                        <a:t>Format</a:t>
                      </a:r>
                    </a:p>
                  </a:txBody>
                  <a:tcPr/>
                </a:tc>
                <a:tc>
                  <a:txBody>
                    <a:bodyPr/>
                    <a:lstStyle/>
                    <a:p>
                      <a:r>
                        <a:rPr lang="en-IN" sz="2000" dirty="0">
                          <a:latin typeface="Times New Roman" panose="02020603050405020304" pitchFamily="18" charset="0"/>
                          <a:cs typeface="Times New Roman" panose="02020603050405020304" pitchFamily="18" charset="0"/>
                        </a:rPr>
                        <a:t>Organized</a:t>
                      </a:r>
                    </a:p>
                  </a:txBody>
                  <a:tcPr/>
                </a:tc>
                <a:tc>
                  <a:txBody>
                    <a:bodyPr/>
                    <a:lstStyle/>
                    <a:p>
                      <a:r>
                        <a:rPr lang="en-IN" sz="2000" dirty="0">
                          <a:latin typeface="Times New Roman" panose="02020603050405020304" pitchFamily="18" charset="0"/>
                          <a:cs typeface="Times New Roman" panose="02020603050405020304" pitchFamily="18" charset="0"/>
                        </a:rPr>
                        <a:t>Partially organized</a:t>
                      </a:r>
                    </a:p>
                  </a:txBody>
                  <a:tcPr/>
                </a:tc>
                <a:tc>
                  <a:txBody>
                    <a:bodyPr/>
                    <a:lstStyle/>
                    <a:p>
                      <a:r>
                        <a:rPr lang="en-IN" sz="2000" dirty="0">
                          <a:latin typeface="Times New Roman" panose="02020603050405020304" pitchFamily="18" charset="0"/>
                          <a:cs typeface="Times New Roman" panose="02020603050405020304" pitchFamily="18" charset="0"/>
                        </a:rPr>
                        <a:t>No fixed format</a:t>
                      </a:r>
                    </a:p>
                  </a:txBody>
                  <a:tcPr/>
                </a:tc>
                <a:extLst>
                  <a:ext uri="{0D108BD9-81ED-4DB2-BD59-A6C34878D82A}">
                    <a16:rowId xmlns:a16="http://schemas.microsoft.com/office/drawing/2014/main" val="1676835999"/>
                  </a:ext>
                </a:extLst>
              </a:tr>
              <a:tr h="622268">
                <a:tc>
                  <a:txBody>
                    <a:bodyPr/>
                    <a:lstStyle/>
                    <a:p>
                      <a:r>
                        <a:rPr lang="en-IN" sz="2000" dirty="0">
                          <a:latin typeface="Times New Roman" panose="02020603050405020304" pitchFamily="18" charset="0"/>
                          <a:cs typeface="Times New Roman" panose="02020603050405020304" pitchFamily="18" charset="0"/>
                        </a:rPr>
                        <a:t>Schema</a:t>
                      </a:r>
                    </a:p>
                  </a:txBody>
                  <a:tcPr/>
                </a:tc>
                <a:tc>
                  <a:txBody>
                    <a:bodyPr/>
                    <a:lstStyle/>
                    <a:p>
                      <a:r>
                        <a:rPr lang="en-IN" sz="2000" dirty="0">
                          <a:latin typeface="Times New Roman" panose="02020603050405020304" pitchFamily="18" charset="0"/>
                          <a:cs typeface="Times New Roman" panose="02020603050405020304" pitchFamily="18" charset="0"/>
                        </a:rPr>
                        <a:t>Fixed schema</a:t>
                      </a:r>
                    </a:p>
                  </a:txBody>
                  <a:tcPr/>
                </a:tc>
                <a:tc>
                  <a:txBody>
                    <a:bodyPr/>
                    <a:lstStyle/>
                    <a:p>
                      <a:r>
                        <a:rPr lang="en-IN" sz="2000" dirty="0">
                          <a:latin typeface="Times New Roman" panose="02020603050405020304" pitchFamily="18" charset="0"/>
                          <a:cs typeface="Times New Roman" panose="02020603050405020304" pitchFamily="18" charset="0"/>
                        </a:rPr>
                        <a:t>Flexible schema</a:t>
                      </a:r>
                    </a:p>
                  </a:txBody>
                  <a:tcPr/>
                </a:tc>
                <a:tc>
                  <a:txBody>
                    <a:bodyPr/>
                    <a:lstStyle/>
                    <a:p>
                      <a:r>
                        <a:rPr lang="en-IN" sz="2000" dirty="0">
                          <a:latin typeface="Times New Roman" panose="02020603050405020304" pitchFamily="18" charset="0"/>
                          <a:cs typeface="Times New Roman" panose="02020603050405020304" pitchFamily="18" charset="0"/>
                        </a:rPr>
                        <a:t>No schema</a:t>
                      </a:r>
                    </a:p>
                  </a:txBody>
                  <a:tcPr/>
                </a:tc>
                <a:extLst>
                  <a:ext uri="{0D108BD9-81ED-4DB2-BD59-A6C34878D82A}">
                    <a16:rowId xmlns:a16="http://schemas.microsoft.com/office/drawing/2014/main" val="3743165683"/>
                  </a:ext>
                </a:extLst>
              </a:tr>
              <a:tr h="622268">
                <a:tc>
                  <a:txBody>
                    <a:bodyPr/>
                    <a:lstStyle/>
                    <a:p>
                      <a:r>
                        <a:rPr lang="en-IN" sz="2000" dirty="0">
                          <a:latin typeface="Times New Roman" panose="02020603050405020304" pitchFamily="18" charset="0"/>
                          <a:cs typeface="Times New Roman" panose="02020603050405020304" pitchFamily="18" charset="0"/>
                        </a:rPr>
                        <a:t>Flexibility</a:t>
                      </a:r>
                    </a:p>
                  </a:txBody>
                  <a:tcPr/>
                </a:tc>
                <a:tc>
                  <a:txBody>
                    <a:bodyPr/>
                    <a:lstStyle/>
                    <a:p>
                      <a:r>
                        <a:rPr lang="en-IN" sz="2000" dirty="0">
                          <a:latin typeface="Times New Roman" panose="02020603050405020304" pitchFamily="18" charset="0"/>
                          <a:cs typeface="Times New Roman" panose="02020603050405020304" pitchFamily="18" charset="0"/>
                        </a:rPr>
                        <a:t>Low</a:t>
                      </a:r>
                    </a:p>
                  </a:txBody>
                  <a:tcPr/>
                </a:tc>
                <a:tc>
                  <a:txBody>
                    <a:bodyPr/>
                    <a:lstStyle/>
                    <a:p>
                      <a:r>
                        <a:rPr lang="en-IN" sz="2000" dirty="0">
                          <a:latin typeface="Times New Roman" panose="02020603050405020304" pitchFamily="18" charset="0"/>
                          <a:cs typeface="Times New Roman" panose="02020603050405020304" pitchFamily="18" charset="0"/>
                        </a:rPr>
                        <a:t>Medium</a:t>
                      </a:r>
                    </a:p>
                  </a:txBody>
                  <a:tcPr/>
                </a:tc>
                <a:tc>
                  <a:txBody>
                    <a:bodyPr/>
                    <a:lstStyle/>
                    <a:p>
                      <a:r>
                        <a:rPr lang="en-IN" sz="2000" dirty="0">
                          <a:latin typeface="Times New Roman" panose="02020603050405020304" pitchFamily="18" charset="0"/>
                          <a:cs typeface="Times New Roman" panose="02020603050405020304" pitchFamily="18" charset="0"/>
                        </a:rPr>
                        <a:t>High</a:t>
                      </a:r>
                    </a:p>
                  </a:txBody>
                  <a:tcPr/>
                </a:tc>
                <a:extLst>
                  <a:ext uri="{0D108BD9-81ED-4DB2-BD59-A6C34878D82A}">
                    <a16:rowId xmlns:a16="http://schemas.microsoft.com/office/drawing/2014/main" val="2258717054"/>
                  </a:ext>
                </a:extLst>
              </a:tr>
              <a:tr h="622268">
                <a:tc>
                  <a:txBody>
                    <a:bodyPr/>
                    <a:lstStyle/>
                    <a:p>
                      <a:r>
                        <a:rPr lang="en-IN" sz="2000" dirty="0">
                          <a:latin typeface="Times New Roman" panose="02020603050405020304" pitchFamily="18" charset="0"/>
                          <a:cs typeface="Times New Roman" panose="02020603050405020304" pitchFamily="18" charset="0"/>
                        </a:rPr>
                        <a:t>Analysis</a:t>
                      </a:r>
                    </a:p>
                  </a:txBody>
                  <a:tcPr/>
                </a:tc>
                <a:tc>
                  <a:txBody>
                    <a:bodyPr/>
                    <a:lstStyle/>
                    <a:p>
                      <a:r>
                        <a:rPr lang="en-IN" sz="2000" dirty="0">
                          <a:latin typeface="Times New Roman" panose="02020603050405020304" pitchFamily="18" charset="0"/>
                          <a:cs typeface="Times New Roman" panose="02020603050405020304" pitchFamily="18" charset="0"/>
                        </a:rPr>
                        <a:t>Easy</a:t>
                      </a:r>
                    </a:p>
                  </a:txBody>
                  <a:tcPr/>
                </a:tc>
                <a:tc>
                  <a:txBody>
                    <a:bodyPr/>
                    <a:lstStyle/>
                    <a:p>
                      <a:pPr>
                        <a:buNone/>
                      </a:pPr>
                      <a:r>
                        <a:rPr lang="en-US" sz="2000" dirty="0">
                          <a:latin typeface="Times New Roman" panose="02020603050405020304" pitchFamily="18" charset="0"/>
                          <a:cs typeface="Times New Roman" panose="02020603050405020304" pitchFamily="18" charset="0"/>
                        </a:rPr>
                        <a:t>Moderate</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IN" sz="2000" dirty="0">
                          <a:latin typeface="Times New Roman" panose="02020603050405020304" pitchFamily="18" charset="0"/>
                          <a:cs typeface="Times New Roman" panose="02020603050405020304" pitchFamily="18" charset="0"/>
                        </a:rPr>
                        <a:t>Difficult</a:t>
                      </a:r>
                    </a:p>
                  </a:txBody>
                  <a:tcPr/>
                </a:tc>
                <a:extLst>
                  <a:ext uri="{0D108BD9-81ED-4DB2-BD59-A6C34878D82A}">
                    <a16:rowId xmlns:a16="http://schemas.microsoft.com/office/drawing/2014/main" val="3099122878"/>
                  </a:ext>
                </a:extLst>
              </a:tr>
            </a:tbl>
          </a:graphicData>
        </a:graphic>
      </p:graphicFrame>
    </p:spTree>
    <p:extLst>
      <p:ext uri="{BB962C8B-B14F-4D97-AF65-F5344CB8AC3E}">
        <p14:creationId xmlns:p14="http://schemas.microsoft.com/office/powerpoint/2010/main" val="4098465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98DC4-57D8-3E9C-FA2D-01B49234BF6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Common Data Sources</a:t>
            </a:r>
          </a:p>
        </p:txBody>
      </p:sp>
      <p:sp>
        <p:nvSpPr>
          <p:cNvPr id="3" name="Content Placeholder 2">
            <a:extLst>
              <a:ext uri="{FF2B5EF4-FFF2-40B4-BE49-F238E27FC236}">
                <a16:creationId xmlns:a16="http://schemas.microsoft.com/office/drawing/2014/main" id="{73328A65-2673-F2CF-AAA1-7105CADFCF27}"/>
              </a:ext>
            </a:extLst>
          </p:cNvPr>
          <p:cNvSpPr>
            <a:spLocks noGrp="1"/>
          </p:cNvSpPr>
          <p:nvPr>
            <p:ph idx="1"/>
          </p:nvPr>
        </p:nvSpPr>
        <p:spPr>
          <a:xfrm>
            <a:off x="1261872" y="1828800"/>
            <a:ext cx="8595360" cy="4860758"/>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Internal Data</a:t>
            </a:r>
          </a:p>
          <a:p>
            <a:r>
              <a:rPr lang="en-US" dirty="0">
                <a:solidFill>
                  <a:schemeClr val="tx1"/>
                </a:solidFill>
                <a:latin typeface="Times New Roman" panose="02020603050405020304" pitchFamily="18" charset="0"/>
                <a:cs typeface="Times New Roman" panose="02020603050405020304" pitchFamily="18" charset="0"/>
              </a:rPr>
              <a:t>Internal data is the data collected from within an organization through its daily business operations and processes. It includes operational, machine-generated, and customer engagement data</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External data</a:t>
            </a:r>
          </a:p>
          <a:p>
            <a:r>
              <a:rPr lang="en-US" dirty="0">
                <a:solidFill>
                  <a:schemeClr val="tx1"/>
                </a:solidFill>
                <a:latin typeface="Times New Roman" panose="02020603050405020304" pitchFamily="18" charset="0"/>
                <a:cs typeface="Times New Roman" panose="02020603050405020304" pitchFamily="18" charset="0"/>
              </a:rPr>
              <a:t>External data can include almost anything – from historical demographic data to market prices, from weather conditions to social-media trends..</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Third-party analytics</a:t>
            </a:r>
          </a:p>
          <a:p>
            <a:r>
              <a:rPr lang="en-US" dirty="0">
                <a:solidFill>
                  <a:schemeClr val="tx1"/>
                </a:solidFill>
                <a:latin typeface="Times New Roman" panose="02020603050405020304" pitchFamily="18" charset="0"/>
                <a:cs typeface="Times New Roman" panose="02020603050405020304" pitchFamily="18" charset="0"/>
              </a:rPr>
              <a:t>Third-party analytics are external services or tools used to collect, measure, and analyze data to help businesses understand performance, user behavior, and website or application activity.</a:t>
            </a:r>
          </a:p>
          <a:p>
            <a:endParaRPr lang="en-US" dirty="0"/>
          </a:p>
          <a:p>
            <a:endParaRPr lang="en-IN" dirty="0"/>
          </a:p>
        </p:txBody>
      </p:sp>
    </p:spTree>
    <p:extLst>
      <p:ext uri="{BB962C8B-B14F-4D97-AF65-F5344CB8AC3E}">
        <p14:creationId xmlns:p14="http://schemas.microsoft.com/office/powerpoint/2010/main" val="3267596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723E-4040-1A86-930F-80792A6A20C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APIs (Application Programming Interfaces) </a:t>
            </a:r>
          </a:p>
        </p:txBody>
      </p:sp>
      <p:sp>
        <p:nvSpPr>
          <p:cNvPr id="3" name="Content Placeholder 2">
            <a:extLst>
              <a:ext uri="{FF2B5EF4-FFF2-40B4-BE49-F238E27FC236}">
                <a16:creationId xmlns:a16="http://schemas.microsoft.com/office/drawing/2014/main" id="{43D0FE52-5D5D-AA07-5073-4088A7DA69BC}"/>
              </a:ext>
            </a:extLst>
          </p:cNvPr>
          <p:cNvSpPr>
            <a:spLocks noGrp="1"/>
          </p:cNvSpPr>
          <p:nvPr>
            <p:ph idx="1"/>
          </p:nvPr>
        </p:nvSpPr>
        <p:spPr>
          <a:xfrm>
            <a:off x="1261872" y="2053390"/>
            <a:ext cx="8595360" cy="4351337"/>
          </a:xfrm>
        </p:spPr>
        <p:txBody>
          <a:bodyPr/>
          <a:lstStyle/>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APIs (Application Programming Interfaces) are not direct data sources, but they help applications share, transfer, and process data between different systems and platforms. APIs are widely used in social media, utilities, and business applications to exchange information efficiently.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756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89D2-E5BB-F151-AF71-E5CCFFFAC2ED}"/>
              </a:ext>
            </a:extLst>
          </p:cNvPr>
          <p:cNvSpPr>
            <a:spLocks noGrp="1"/>
          </p:cNvSpPr>
          <p:nvPr>
            <p:ph type="title"/>
          </p:nvPr>
        </p:nvSpPr>
        <p:spPr>
          <a:xfrm>
            <a:off x="1249680" y="677863"/>
            <a:ext cx="9692640" cy="1397124"/>
          </a:xfrm>
        </p:spPr>
        <p:txBody>
          <a:bodyPr/>
          <a:lstStyle/>
          <a:p>
            <a:r>
              <a:rPr lang="en-IN" dirty="0">
                <a:latin typeface="Times New Roman" panose="02020603050405020304" pitchFamily="18" charset="0"/>
                <a:cs typeface="Times New Roman" panose="02020603050405020304" pitchFamily="18" charset="0"/>
              </a:rPr>
              <a:t>What is Data Collection?</a:t>
            </a:r>
            <a:br>
              <a:rPr lang="en-IN" dirty="0"/>
            </a:br>
            <a:endParaRPr lang="en-IN" dirty="0"/>
          </a:p>
        </p:txBody>
      </p:sp>
      <p:sp>
        <p:nvSpPr>
          <p:cNvPr id="3" name="Content Placeholder 2">
            <a:extLst>
              <a:ext uri="{FF2B5EF4-FFF2-40B4-BE49-F238E27FC236}">
                <a16:creationId xmlns:a16="http://schemas.microsoft.com/office/drawing/2014/main" id="{41BAC41E-E526-0C07-5C8B-0AE4E48F177E}"/>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Data collection is the planned, purposeful process of gathering specific information for analysis, comparison, or decision support. It focuses on capturing the right data in the right format from the right sources, rather than collecting everything available.</a:t>
            </a:r>
          </a:p>
          <a:p>
            <a:r>
              <a:rPr lang="en-US" dirty="0">
                <a:solidFill>
                  <a:schemeClr val="tx1"/>
                </a:solidFill>
                <a:latin typeface="Times New Roman" panose="02020603050405020304" pitchFamily="18" charset="0"/>
                <a:cs typeface="Times New Roman" panose="02020603050405020304" pitchFamily="18" charset="0"/>
              </a:rPr>
              <a:t>In practice, data collection links business questions to measurable inputs, ensuring the information gathered can be processed, interpreted, and relied on in subsequent data analysis or reporting.</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073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9D53B-0644-8FC0-A565-879289DF6CC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Collection Methods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9C4786-4F26-EF63-7D07-F46C959E8D5F}"/>
              </a:ext>
            </a:extLst>
          </p:cNvPr>
          <p:cNvSpPr>
            <a:spLocks noGrp="1"/>
          </p:cNvSpPr>
          <p:nvPr>
            <p:ph idx="1"/>
          </p:nvPr>
        </p:nvSpPr>
        <p:spPr>
          <a:xfrm>
            <a:off x="1261872" y="1828800"/>
            <a:ext cx="8595360" cy="502920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 Surveys and Questionnaires  </a:t>
            </a:r>
            <a:r>
              <a:rPr lang="en-US" dirty="0">
                <a:solidFill>
                  <a:schemeClr val="tx1"/>
                </a:solidFill>
                <a:latin typeface="Times New Roman" panose="02020603050405020304" pitchFamily="18" charset="0"/>
                <a:cs typeface="Times New Roman" panose="02020603050405020304" pitchFamily="18" charset="0"/>
              </a:rPr>
              <a:t>Surveys are used to ask the same set of questions to many people to get clear, measurable answers. They can be done online (like Google Forms) or on paper.</a:t>
            </a:r>
          </a:p>
          <a:p>
            <a:r>
              <a:rPr lang="en-US" b="1" dirty="0">
                <a:solidFill>
                  <a:schemeClr val="tx1"/>
                </a:solidFill>
                <a:latin typeface="Times New Roman" panose="02020603050405020304" pitchFamily="18" charset="0"/>
                <a:cs typeface="Times New Roman" panose="02020603050405020304" pitchFamily="18" charset="0"/>
              </a:rPr>
              <a:t> Structured and Unstructured Interviews : </a:t>
            </a:r>
            <a:r>
              <a:rPr lang="en-US" dirty="0">
                <a:solidFill>
                  <a:schemeClr val="tx1"/>
                </a:solidFill>
                <a:latin typeface="Times New Roman" panose="02020603050405020304" pitchFamily="18" charset="0"/>
                <a:cs typeface="Times New Roman" panose="02020603050405020304" pitchFamily="18" charset="0"/>
              </a:rPr>
              <a:t>Interviews are used to collect detailed information from individuals.</a:t>
            </a:r>
          </a:p>
          <a:p>
            <a:pPr algn="just"/>
            <a:r>
              <a:rPr lang="en-US" b="1" dirty="0">
                <a:solidFill>
                  <a:schemeClr val="tx1"/>
                </a:solidFill>
                <a:latin typeface="Times New Roman" panose="02020603050405020304" pitchFamily="18" charset="0"/>
                <a:cs typeface="Times New Roman" panose="02020603050405020304" pitchFamily="18" charset="0"/>
              </a:rPr>
              <a:t>Focus Group Discussions :</a:t>
            </a:r>
            <a:r>
              <a:rPr lang="en-US" dirty="0">
                <a:solidFill>
                  <a:schemeClr val="tx1"/>
                </a:solidFill>
                <a:latin typeface="Times New Roman" panose="02020603050405020304" pitchFamily="18" charset="0"/>
                <a:cs typeface="Times New Roman" panose="02020603050405020304" pitchFamily="18" charset="0"/>
              </a:rPr>
              <a:t>A focus group is when a small group of people discuss a topic together.</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703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00417-24B9-466A-1C56-45D18ECA4CF1}"/>
              </a:ext>
            </a:extLst>
          </p:cNvPr>
          <p:cNvSpPr>
            <a:spLocks noGrp="1"/>
          </p:cNvSpPr>
          <p:nvPr>
            <p:ph type="title"/>
          </p:nvPr>
        </p:nvSpPr>
        <p:spPr>
          <a:xfrm>
            <a:off x="1261872" y="615040"/>
            <a:ext cx="9692640" cy="1397124"/>
          </a:xfrm>
        </p:spPr>
        <p:txBody>
          <a:bodyPr/>
          <a:lstStyle/>
          <a:p>
            <a:r>
              <a:rPr lang="en-IN" dirty="0">
                <a:latin typeface="Times New Roman" panose="02020603050405020304" pitchFamily="18" charset="0"/>
                <a:cs typeface="Times New Roman" panose="02020603050405020304" pitchFamily="18" charset="0"/>
              </a:rPr>
              <a:t>Data Collection Terms</a:t>
            </a:r>
            <a:br>
              <a:rPr lang="en-IN" b="0" dirty="0"/>
            </a:br>
            <a:endParaRPr lang="en-IN" dirty="0"/>
          </a:p>
        </p:txBody>
      </p:sp>
      <p:sp>
        <p:nvSpPr>
          <p:cNvPr id="3" name="Content Placeholder 2">
            <a:extLst>
              <a:ext uri="{FF2B5EF4-FFF2-40B4-BE49-F238E27FC236}">
                <a16:creationId xmlns:a16="http://schemas.microsoft.com/office/drawing/2014/main" id="{0F64749E-0C9F-995F-01A5-D0A4EAE71B3A}"/>
              </a:ext>
            </a:extLst>
          </p:cNvPr>
          <p:cNvSpPr>
            <a:spLocks noGrp="1"/>
          </p:cNvSpPr>
          <p:nvPr>
            <p:ph idx="1"/>
          </p:nvPr>
        </p:nvSpPr>
        <p:spPr>
          <a:xfrm>
            <a:off x="1261872" y="1691322"/>
            <a:ext cx="8595360" cy="4351337"/>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Primary Data</a:t>
            </a:r>
          </a:p>
          <a:p>
            <a:r>
              <a:rPr lang="en-US" dirty="0">
                <a:solidFill>
                  <a:schemeClr val="tx1"/>
                </a:solidFill>
                <a:latin typeface="Times New Roman" panose="02020603050405020304" pitchFamily="18" charset="0"/>
                <a:cs typeface="Times New Roman" panose="02020603050405020304" pitchFamily="18" charset="0"/>
              </a:rPr>
              <a:t>Primary data is the information you collect yourself for a specific purpose. It is original and directly related to your study.</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Secondary Data</a:t>
            </a:r>
          </a:p>
          <a:p>
            <a:r>
              <a:rPr lang="en-US" dirty="0">
                <a:solidFill>
                  <a:schemeClr val="tx1"/>
                </a:solidFill>
                <a:latin typeface="Times New Roman" panose="02020603050405020304" pitchFamily="18" charset="0"/>
                <a:cs typeface="Times New Roman" panose="02020603050405020304" pitchFamily="18" charset="0"/>
              </a:rPr>
              <a:t>Secondary data is information that already exists and is used from other sources. It is not collected by you.</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Cross-sectional vs. Longitudinal Data</a:t>
            </a:r>
          </a:p>
          <a:p>
            <a:r>
              <a:rPr lang="en-US" dirty="0">
                <a:solidFill>
                  <a:schemeClr val="tx1"/>
                </a:solidFill>
                <a:latin typeface="Times New Roman" panose="02020603050405020304" pitchFamily="18" charset="0"/>
                <a:cs typeface="Times New Roman" panose="02020603050405020304" pitchFamily="18" charset="0"/>
              </a:rPr>
              <a:t>Cross-sectional data captures information at a single point in time, such as from a one-time survey. Longitudinal data tracks the same metrics over time, such as monthly sales or user activity trends. Pick what fits your goals.</a:t>
            </a:r>
          </a:p>
          <a:p>
            <a:endParaRPr lang="en-IN" dirty="0"/>
          </a:p>
        </p:txBody>
      </p:sp>
    </p:spTree>
    <p:extLst>
      <p:ext uri="{BB962C8B-B14F-4D97-AF65-F5344CB8AC3E}">
        <p14:creationId xmlns:p14="http://schemas.microsoft.com/office/powerpoint/2010/main" val="47013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DE8A3-4CC8-6037-3B89-CA3D02D825C0}"/>
              </a:ext>
            </a:extLst>
          </p:cNvPr>
          <p:cNvSpPr>
            <a:spLocks noGrp="1"/>
          </p:cNvSpPr>
          <p:nvPr>
            <p:ph type="title"/>
          </p:nvPr>
        </p:nvSpPr>
        <p:spPr>
          <a:xfrm>
            <a:off x="1454377" y="213988"/>
            <a:ext cx="9692640" cy="1397124"/>
          </a:xfrm>
        </p:spPr>
        <p:txBody>
          <a:bodyPr/>
          <a:lstStyle/>
          <a:p>
            <a:r>
              <a:rPr lang="en-IN" dirty="0">
                <a:latin typeface="Times New Roman" panose="02020603050405020304" pitchFamily="18" charset="0"/>
                <a:cs typeface="Times New Roman" panose="02020603050405020304" pitchFamily="18" charset="0"/>
              </a:rPr>
              <a:t>Data Collection Process</a:t>
            </a:r>
          </a:p>
        </p:txBody>
      </p:sp>
      <p:pic>
        <p:nvPicPr>
          <p:cNvPr id="5" name="Content Placeholder 4">
            <a:extLst>
              <a:ext uri="{FF2B5EF4-FFF2-40B4-BE49-F238E27FC236}">
                <a16:creationId xmlns:a16="http://schemas.microsoft.com/office/drawing/2014/main" id="{E80A87BA-7D9F-BE32-D31D-B333B14738C3}"/>
              </a:ext>
            </a:extLst>
          </p:cNvPr>
          <p:cNvPicPr>
            <a:picLocks noGrp="1" noChangeAspect="1"/>
          </p:cNvPicPr>
          <p:nvPr>
            <p:ph idx="1"/>
          </p:nvPr>
        </p:nvPicPr>
        <p:blipFill>
          <a:blip r:embed="rId2"/>
          <a:stretch>
            <a:fillRect/>
          </a:stretch>
        </p:blipFill>
        <p:spPr>
          <a:xfrm>
            <a:off x="1652338" y="1828800"/>
            <a:ext cx="8390020" cy="4351338"/>
          </a:xfrm>
          <a:prstGeom prst="rect">
            <a:avLst/>
          </a:prstGeom>
        </p:spPr>
      </p:pic>
    </p:spTree>
    <p:extLst>
      <p:ext uri="{BB962C8B-B14F-4D97-AF65-F5344CB8AC3E}">
        <p14:creationId xmlns:p14="http://schemas.microsoft.com/office/powerpoint/2010/main" val="1227331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46C3-6171-0049-2031-F13D429D78B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collection tools </a:t>
            </a:r>
          </a:p>
        </p:txBody>
      </p:sp>
      <p:sp>
        <p:nvSpPr>
          <p:cNvPr id="3" name="Content Placeholder 2">
            <a:extLst>
              <a:ext uri="{FF2B5EF4-FFF2-40B4-BE49-F238E27FC236}">
                <a16:creationId xmlns:a16="http://schemas.microsoft.com/office/drawing/2014/main" id="{46F09CCE-FA6D-802D-57DC-F08C239067F0}"/>
              </a:ext>
            </a:extLst>
          </p:cNvPr>
          <p:cNvSpPr>
            <a:spLocks noGrp="1"/>
          </p:cNvSpPr>
          <p:nvPr>
            <p:ph idx="1"/>
          </p:nvPr>
        </p:nvSpPr>
        <p:spPr>
          <a:xfrm>
            <a:off x="1261872" y="1828800"/>
            <a:ext cx="9692640" cy="4351337"/>
          </a:xfrm>
        </p:spPr>
        <p:txBody>
          <a:bodyPr/>
          <a:lstStyle/>
          <a:p>
            <a:r>
              <a:rPr lang="en-US" dirty="0">
                <a:solidFill>
                  <a:schemeClr val="tx1"/>
                </a:solidFill>
                <a:latin typeface="Times New Roman" panose="02020603050405020304" pitchFamily="18" charset="0"/>
                <a:cs typeface="Times New Roman" panose="02020603050405020304" pitchFamily="18" charset="0"/>
              </a:rPr>
              <a:t>Data collection tools are software or platforms used to gather and manage data easily, </a:t>
            </a:r>
          </a:p>
          <a:p>
            <a:r>
              <a:rPr lang="en-US" dirty="0">
                <a:solidFill>
                  <a:schemeClr val="tx1"/>
                </a:solidFill>
                <a:latin typeface="Times New Roman" panose="02020603050405020304" pitchFamily="18" charset="0"/>
                <a:cs typeface="Times New Roman" panose="02020603050405020304" pitchFamily="18" charset="0"/>
              </a:rPr>
              <a:t>such as Google Forms, SurveyMonkey, ODK, Qualtrics, Excel, and Power BI, which help collect, store, and analyze data efficiently.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4075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4B79C-D0F1-5196-CE42-3EFFD8A520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Data Lifecycle Management (DLM)?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342C37-15FC-F66D-2E32-586A692A16FF}"/>
              </a:ext>
            </a:extLst>
          </p:cNvPr>
          <p:cNvSpPr>
            <a:spLocks noGrp="1"/>
          </p:cNvSpPr>
          <p:nvPr>
            <p:ph idx="1"/>
          </p:nvPr>
        </p:nvSpPr>
        <p:spPr/>
        <p:txBody>
          <a:bodyPr>
            <a:normAutofit/>
          </a:bodyPr>
          <a:lstStyle/>
          <a:p>
            <a:pPr algn="just">
              <a:lnSpc>
                <a:spcPct val="150000"/>
              </a:lnSpc>
            </a:pPr>
            <a:r>
              <a:rPr lang="en-US" dirty="0">
                <a:solidFill>
                  <a:schemeClr val="tx1"/>
                </a:solidFill>
                <a:latin typeface="Times New Roman" panose="02020603050405020304" pitchFamily="18" charset="0"/>
                <a:cs typeface="Times New Roman" panose="02020603050405020304" pitchFamily="18" charset="0"/>
              </a:rPr>
              <a:t>Data Lifecycle Management (DLM) is a policy-based approach of best practices to oversee the flow of an information system's data through its lifecycle, from creation to deletion. It includes stages such as storage, backup, archiving, and disposal and is employed by organizations that manage sensitive, private data subject to regulatory compliance.</a:t>
            </a:r>
          </a:p>
          <a:p>
            <a:endParaRPr lang="en-IN" dirty="0"/>
          </a:p>
        </p:txBody>
      </p:sp>
    </p:spTree>
    <p:extLst>
      <p:ext uri="{BB962C8B-B14F-4D97-AF65-F5344CB8AC3E}">
        <p14:creationId xmlns:p14="http://schemas.microsoft.com/office/powerpoint/2010/main" val="55254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3C074-F919-8DD9-3780-CFD2F4C94B1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Key stages of data lifecycle management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403B24-0A40-5EB1-C7BA-2B90E7F2A850}"/>
              </a:ext>
            </a:extLst>
          </p:cNvPr>
          <p:cNvSpPr>
            <a:spLocks noGrp="1"/>
          </p:cNvSpPr>
          <p:nvPr>
            <p:ph idx="1"/>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Data collection: </a:t>
            </a:r>
            <a:r>
              <a:rPr lang="en-US" dirty="0">
                <a:solidFill>
                  <a:schemeClr val="tx1"/>
                </a:solidFill>
                <a:latin typeface="Times New Roman" panose="02020603050405020304" pitchFamily="18" charset="0"/>
                <a:cs typeface="Times New Roman" panose="02020603050405020304" pitchFamily="18" charset="0"/>
              </a:rPr>
              <a:t>Data is generated or gathered from sources like sensors,  applications, surveys, transactions, or user inputs</a:t>
            </a:r>
          </a:p>
          <a:p>
            <a:r>
              <a:rPr lang="en-US" b="1" dirty="0">
                <a:solidFill>
                  <a:schemeClr val="tx1"/>
                </a:solidFill>
                <a:latin typeface="Times New Roman" panose="02020603050405020304" pitchFamily="18" charset="0"/>
                <a:cs typeface="Times New Roman" panose="02020603050405020304" pitchFamily="18" charset="0"/>
              </a:rPr>
              <a:t>Data Storage: </a:t>
            </a:r>
            <a:r>
              <a:rPr lang="en-US" dirty="0">
                <a:solidFill>
                  <a:schemeClr val="tx1"/>
                </a:solidFill>
                <a:latin typeface="Times New Roman" panose="02020603050405020304" pitchFamily="18" charset="0"/>
                <a:cs typeface="Times New Roman" panose="02020603050405020304" pitchFamily="18" charset="0"/>
              </a:rPr>
              <a:t>The collected data is stored in databases, data warehouses, cloud storage, or local servers depending on its type and use</a:t>
            </a:r>
          </a:p>
          <a:p>
            <a:r>
              <a:rPr lang="en-US" b="1" dirty="0">
                <a:solidFill>
                  <a:schemeClr val="tx1"/>
                </a:solidFill>
                <a:latin typeface="Times New Roman" panose="02020603050405020304" pitchFamily="18" charset="0"/>
                <a:cs typeface="Times New Roman" panose="02020603050405020304" pitchFamily="18" charset="0"/>
              </a:rPr>
              <a:t>Data Processing: </a:t>
            </a:r>
            <a:r>
              <a:rPr lang="en-US" dirty="0">
                <a:solidFill>
                  <a:schemeClr val="tx1"/>
                </a:solidFill>
                <a:latin typeface="Times New Roman" panose="02020603050405020304" pitchFamily="18" charset="0"/>
                <a:cs typeface="Times New Roman" panose="02020603050405020304" pitchFamily="18" charset="0"/>
              </a:rPr>
              <a:t>Raw data is cleaned, validated, organized, and transformed into a usable format for analysis. </a:t>
            </a:r>
          </a:p>
          <a:p>
            <a:r>
              <a:rPr lang="en-US" b="1" dirty="0">
                <a:solidFill>
                  <a:schemeClr val="tx1"/>
                </a:solidFill>
                <a:latin typeface="Times New Roman" panose="02020603050405020304" pitchFamily="18" charset="0"/>
                <a:cs typeface="Times New Roman" panose="02020603050405020304" pitchFamily="18" charset="0"/>
              </a:rPr>
              <a:t>Data Usage / Analysis: </a:t>
            </a:r>
            <a:r>
              <a:rPr lang="en-US" dirty="0">
                <a:solidFill>
                  <a:schemeClr val="tx1"/>
                </a:solidFill>
                <a:latin typeface="Times New Roman" panose="02020603050405020304" pitchFamily="18" charset="0"/>
                <a:cs typeface="Times New Roman" panose="02020603050405020304" pitchFamily="18" charset="0"/>
              </a:rPr>
              <a:t>Processed data is used for decision-making, reporting, business intelligence, machine learning, or operational tasks</a:t>
            </a:r>
            <a:r>
              <a:rPr lang="en-US" dirty="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3569707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599F-F03F-6F32-EC2E-3B448D480F68}"/>
              </a:ext>
            </a:extLst>
          </p:cNvPr>
          <p:cNvSpPr>
            <a:spLocks noGrp="1"/>
          </p:cNvSpPr>
          <p:nvPr>
            <p:ph type="title"/>
          </p:nvPr>
        </p:nvSpPr>
        <p:spPr>
          <a:xfrm>
            <a:off x="1261872" y="294198"/>
            <a:ext cx="9692640" cy="1534602"/>
          </a:xfrm>
        </p:spPr>
        <p:txBody>
          <a:bodyPr/>
          <a:lstStyle/>
          <a:p>
            <a:r>
              <a:rPr lang="en-US" dirty="0">
                <a:latin typeface="Times New Roman" panose="02020603050405020304" pitchFamily="18" charset="0"/>
                <a:cs typeface="Times New Roman" panose="02020603050405020304" pitchFamily="18" charset="0"/>
              </a:rPr>
              <a:t>DLM vs ILM</a:t>
            </a:r>
            <a:br>
              <a:rPr lang="en-US" dirty="0"/>
            </a:br>
            <a:endParaRPr lang="en-IN" dirty="0"/>
          </a:p>
        </p:txBody>
      </p:sp>
      <p:sp>
        <p:nvSpPr>
          <p:cNvPr id="3" name="Content Placeholder 2">
            <a:extLst>
              <a:ext uri="{FF2B5EF4-FFF2-40B4-BE49-F238E27FC236}">
                <a16:creationId xmlns:a16="http://schemas.microsoft.com/office/drawing/2014/main" id="{202BDEFC-3AC1-7D1B-DD6B-0541B5A83725}"/>
              </a:ext>
            </a:extLst>
          </p:cNvPr>
          <p:cNvSpPr>
            <a:spLocks noGrp="1"/>
          </p:cNvSpPr>
          <p:nvPr>
            <p:ph idx="1"/>
          </p:nvPr>
        </p:nvSpPr>
        <p:spPr>
          <a:xfrm>
            <a:off x="1261872" y="1828800"/>
            <a:ext cx="8595360" cy="4735002"/>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You might be wondering if this data lifecycle management is the same as information lifecycle management.</a:t>
            </a:r>
          </a:p>
          <a:p>
            <a:r>
              <a:rPr lang="en-US" dirty="0">
                <a:solidFill>
                  <a:schemeClr val="tx1"/>
                </a:solidFill>
                <a:latin typeface="Times New Roman" panose="02020603050405020304" pitchFamily="18" charset="0"/>
                <a:cs typeface="Times New Roman" panose="02020603050405020304" pitchFamily="18" charset="0"/>
              </a:rPr>
              <a:t>The primary distinction between Data Lifecycle Management (DLM) and Information Lifecycle Management (ILM) is that DLM concentrates on the management of entire files of data or records in the lifecycle, while the ILM approach takes into account the value of information to an organization rather than just considering it as raw data.</a:t>
            </a:r>
          </a:p>
          <a:p>
            <a:r>
              <a:rPr lang="en-US" dirty="0">
                <a:solidFill>
                  <a:schemeClr val="tx1"/>
                </a:solidFill>
                <a:latin typeface="Times New Roman" panose="02020603050405020304" pitchFamily="18" charset="0"/>
                <a:cs typeface="Times New Roman" panose="02020603050405020304" pitchFamily="18" charset="0"/>
              </a:rPr>
              <a:t>Both DLM and ILM play crucial roles in data management, with DLM determining when data is no longer useful and ILM regulating the accuracy and storage of data.</a:t>
            </a:r>
          </a:p>
          <a:p>
            <a:r>
              <a:rPr lang="en-US" dirty="0">
                <a:solidFill>
                  <a:schemeClr val="tx1"/>
                </a:solidFill>
                <a:latin typeface="Times New Roman" panose="02020603050405020304" pitchFamily="18" charset="0"/>
                <a:cs typeface="Times New Roman" panose="02020603050405020304" pitchFamily="18" charset="0"/>
              </a:rPr>
              <a:t>Simply, DLM focuses on managing raw data throughout its lifecycle, while ILM takes a more holistic approach by considering the value of information to an organization.</a:t>
            </a:r>
          </a:p>
          <a:p>
            <a:endParaRPr lang="en-IN" dirty="0"/>
          </a:p>
        </p:txBody>
      </p:sp>
    </p:spTree>
    <p:extLst>
      <p:ext uri="{BB962C8B-B14F-4D97-AF65-F5344CB8AC3E}">
        <p14:creationId xmlns:p14="http://schemas.microsoft.com/office/powerpoint/2010/main" val="114835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C6B1-6F4D-5365-6FAE-16B0E64066A7}"/>
              </a:ext>
            </a:extLst>
          </p:cNvPr>
          <p:cNvSpPr>
            <a:spLocks noGrp="1"/>
          </p:cNvSpPr>
          <p:nvPr>
            <p:ph type="title"/>
          </p:nvPr>
        </p:nvSpPr>
        <p:spPr>
          <a:xfrm>
            <a:off x="1261871" y="0"/>
            <a:ext cx="9692640" cy="1397124"/>
          </a:xfrm>
        </p:spPr>
        <p:txBody>
          <a:bodyPr/>
          <a:lstStyle/>
          <a:p>
            <a:r>
              <a:rPr lang="en-IN" dirty="0">
                <a:latin typeface="Times New Roman" panose="02020603050405020304" pitchFamily="18" charset="0"/>
                <a:cs typeface="Times New Roman" panose="02020603050405020304" pitchFamily="18" charset="0"/>
              </a:rPr>
              <a:t>Benefits of DLM Implementation</a:t>
            </a:r>
          </a:p>
        </p:txBody>
      </p:sp>
      <p:sp>
        <p:nvSpPr>
          <p:cNvPr id="3" name="Content Placeholder 2">
            <a:extLst>
              <a:ext uri="{FF2B5EF4-FFF2-40B4-BE49-F238E27FC236}">
                <a16:creationId xmlns:a16="http://schemas.microsoft.com/office/drawing/2014/main" id="{6413FEAE-47BA-CF70-ED40-29AA7630E985}"/>
              </a:ext>
            </a:extLst>
          </p:cNvPr>
          <p:cNvSpPr>
            <a:spLocks noGrp="1"/>
          </p:cNvSpPr>
          <p:nvPr>
            <p:ph idx="1"/>
          </p:nvPr>
        </p:nvSpPr>
        <p:spPr>
          <a:xfrm>
            <a:off x="1261871" y="1620253"/>
            <a:ext cx="9229665" cy="4943549"/>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Improved data access</a:t>
            </a:r>
          </a:p>
          <a:p>
            <a:r>
              <a:rPr lang="en-US" dirty="0">
                <a:solidFill>
                  <a:schemeClr val="tx1"/>
                </a:solidFill>
                <a:latin typeface="Times New Roman" panose="02020603050405020304" pitchFamily="18" charset="0"/>
                <a:cs typeface="Times New Roman" panose="02020603050405020304" pitchFamily="18" charset="0"/>
              </a:rPr>
              <a:t>Enhanced data access is critical in business, as it facilitates organizations to make informed decisions and enhance efficiency, productivity, and customer satisfaction.</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Compliance with regulation</a:t>
            </a:r>
          </a:p>
          <a:p>
            <a:r>
              <a:rPr lang="en-US" dirty="0">
                <a:solidFill>
                  <a:schemeClr val="tx1"/>
                </a:solidFill>
                <a:latin typeface="Times New Roman" panose="02020603050405020304" pitchFamily="18" charset="0"/>
                <a:cs typeface="Times New Roman" panose="02020603050405020304" pitchFamily="18" charset="0"/>
              </a:rPr>
              <a:t>Deploying a DLM system can help organizations achieve compliance with regulations by providing an organized approach to data management, guaranteeing that data is acquired, stored, and processed in accordance with applicable laws and regulations.</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Controlled data governance</a:t>
            </a:r>
          </a:p>
          <a:p>
            <a:r>
              <a:rPr lang="en-US" dirty="0">
                <a:solidFill>
                  <a:schemeClr val="tx1"/>
                </a:solidFill>
                <a:latin typeface="Times New Roman" panose="02020603050405020304" pitchFamily="18" charset="0"/>
                <a:cs typeface="Times New Roman" panose="02020603050405020304" pitchFamily="18" charset="0"/>
              </a:rPr>
              <a:t>Controlled data governance results in improved data quality, reduced data management costs, and increased access to data for all stakeholders.</a:t>
            </a:r>
          </a:p>
          <a:p>
            <a:endParaRPr lang="en-IN" dirty="0"/>
          </a:p>
        </p:txBody>
      </p:sp>
    </p:spTree>
    <p:extLst>
      <p:ext uri="{BB962C8B-B14F-4D97-AF65-F5344CB8AC3E}">
        <p14:creationId xmlns:p14="http://schemas.microsoft.com/office/powerpoint/2010/main" val="699912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09E4-5BBC-1F02-F086-955EE461AF85}"/>
              </a:ext>
            </a:extLst>
          </p:cNvPr>
          <p:cNvSpPr>
            <a:spLocks noGrp="1"/>
          </p:cNvSpPr>
          <p:nvPr>
            <p:ph type="title"/>
          </p:nvPr>
        </p:nvSpPr>
        <p:spPr>
          <a:xfrm>
            <a:off x="1261872" y="677862"/>
            <a:ext cx="9692640" cy="1013459"/>
          </a:xfrm>
        </p:spPr>
        <p:txBody>
          <a:bodyPr>
            <a:normAutofit fontScale="90000"/>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4900" dirty="0">
                <a:latin typeface="Times New Roman" panose="02020603050405020304" pitchFamily="18" charset="0"/>
                <a:cs typeface="Times New Roman" panose="02020603050405020304" pitchFamily="18" charset="0"/>
              </a:rPr>
              <a:t>What Is Data Integrity &amp; Data Quality?</a:t>
            </a:r>
            <a:endParaRPr lang="en-IN" sz="49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2C84FE-E5E6-34D0-1F79-B69158B91124}"/>
              </a:ext>
            </a:extLst>
          </p:cNvPr>
          <p:cNvSpPr>
            <a:spLocks noGrp="1"/>
          </p:cNvSpPr>
          <p:nvPr>
            <p:ph idx="1"/>
          </p:nvPr>
        </p:nvSpPr>
        <p:spPr/>
        <p:txBody>
          <a:bodyPr>
            <a:normAutofit/>
          </a:bodyPr>
          <a:lstStyle/>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Data integrity</a:t>
            </a:r>
          </a:p>
          <a:p>
            <a:r>
              <a:rPr lang="en-US" dirty="0">
                <a:solidFill>
                  <a:schemeClr val="tx1"/>
                </a:solidFill>
                <a:latin typeface="Times New Roman" panose="02020603050405020304" pitchFamily="18" charset="0"/>
                <a:cs typeface="Times New Roman" panose="02020603050405020304" pitchFamily="18" charset="0"/>
              </a:rPr>
              <a:t>An organization usually starts by setting out processes, rules, and standards that control how data is gathered, stored, accessed, changed, and used. This is done to ensure a high level of data integrity. </a:t>
            </a:r>
          </a:p>
          <a:p>
            <a:pPr fontAlgn="base">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quality</a:t>
            </a:r>
          </a:p>
          <a:p>
            <a:pPr fontAlgn="base"/>
            <a:r>
              <a:rPr lang="en-US" dirty="0">
                <a:solidFill>
                  <a:schemeClr val="tx1"/>
                </a:solidFill>
                <a:latin typeface="Times New Roman" panose="02020603050405020304" pitchFamily="18" charset="0"/>
                <a:cs typeface="Times New Roman" panose="02020603050405020304" pitchFamily="18" charset="0"/>
              </a:rPr>
              <a:t>Data errors inevitably happen, even to the best of us. This is why we need data quality dimensions and metrics. These parameters help us to understand the utility and efficacy of a dataset, including its correctness, completeness, consistency, validity, uniqueness, and timeliness.</a:t>
            </a:r>
          </a:p>
          <a:p>
            <a:endParaRPr lang="en-US" dirty="0"/>
          </a:p>
          <a:p>
            <a:endParaRPr lang="en-IN" dirty="0"/>
          </a:p>
        </p:txBody>
      </p:sp>
    </p:spTree>
    <p:extLst>
      <p:ext uri="{BB962C8B-B14F-4D97-AF65-F5344CB8AC3E}">
        <p14:creationId xmlns:p14="http://schemas.microsoft.com/office/powerpoint/2010/main" val="1109299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22A71-86DE-041C-CDB0-FC33985D6B1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more important data integrity or data quality?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D8BECB-5717-45F1-F754-D4377C0917E8}"/>
              </a:ext>
            </a:extLst>
          </p:cNvPr>
          <p:cNvSpPr>
            <a:spLocks noGrp="1"/>
          </p:cNvSpPr>
          <p:nvPr>
            <p:ph idx="1"/>
          </p:nvPr>
        </p:nvSpPr>
        <p:spPr>
          <a:xfrm>
            <a:off x="1074821" y="1828800"/>
            <a:ext cx="10010274" cy="5029200"/>
          </a:xfrm>
        </p:spPr>
        <p:txBody>
          <a:bodyPr>
            <a:normAutofit/>
          </a:bodyPr>
          <a:lstStyle/>
          <a:p>
            <a:pPr fontAlgn="base"/>
            <a:r>
              <a:rPr lang="en-US" dirty="0">
                <a:solidFill>
                  <a:schemeClr val="tx1"/>
                </a:solidFill>
                <a:latin typeface="Times New Roman" panose="02020603050405020304" pitchFamily="18" charset="0"/>
                <a:cs typeface="Times New Roman" panose="02020603050405020304" pitchFamily="18" charset="0"/>
              </a:rPr>
              <a:t>Data integrity and data quality are both critical parts of data management, and they’re closely linked to each other. Overall, the importance of data integrity vs. data quality depends on the context and use case.</a:t>
            </a:r>
          </a:p>
          <a:p>
            <a:pPr fontAlgn="base"/>
            <a:r>
              <a:rPr lang="en-US" dirty="0">
                <a:solidFill>
                  <a:schemeClr val="tx1"/>
                </a:solidFill>
                <a:latin typeface="Times New Roman" panose="02020603050405020304" pitchFamily="18" charset="0"/>
                <a:cs typeface="Times New Roman" panose="02020603050405020304" pitchFamily="18" charset="0"/>
              </a:rPr>
              <a:t>For example, data integrity may play a more important role in scenarios where you need data for vital operations, financial transactions, medical records, or legal processes. It’s critical to ensure the accuracy and security of data to avoid potential issues or legal concerns caused by compromised data.</a:t>
            </a:r>
          </a:p>
          <a:p>
            <a:pPr fontAlgn="base"/>
            <a:r>
              <a:rPr lang="en-US" dirty="0">
                <a:solidFill>
                  <a:schemeClr val="tx1"/>
                </a:solidFill>
                <a:latin typeface="Times New Roman" panose="02020603050405020304" pitchFamily="18" charset="0"/>
                <a:cs typeface="Times New Roman" panose="02020603050405020304" pitchFamily="18" charset="0"/>
              </a:rPr>
              <a:t>When data is used for analytical purposes, business intelligence, or decision-making, data quality becomes more important. To derive useful insights and make informed decisions, accurate, full, and relevant data is required.</a:t>
            </a:r>
          </a:p>
          <a:p>
            <a:pPr fontAlgn="base"/>
            <a:r>
              <a:rPr lang="en-US" dirty="0">
                <a:solidFill>
                  <a:schemeClr val="tx1"/>
                </a:solidFill>
                <a:latin typeface="Times New Roman" panose="02020603050405020304" pitchFamily="18" charset="0"/>
                <a:cs typeface="Times New Roman" panose="02020603050405020304" pitchFamily="18" charset="0"/>
              </a:rPr>
              <a:t>In truth, both of these concepts are inextricably linked and equally important to an organization’s success. Focusing on them is beneficial because data integrity and quality contribute to a trustworthy data environment that efficiently supports diverse business tasks.</a:t>
            </a:r>
          </a:p>
          <a:p>
            <a:endParaRPr lang="en-IN" dirty="0"/>
          </a:p>
        </p:txBody>
      </p:sp>
    </p:spTree>
    <p:extLst>
      <p:ext uri="{BB962C8B-B14F-4D97-AF65-F5344CB8AC3E}">
        <p14:creationId xmlns:p14="http://schemas.microsoft.com/office/powerpoint/2010/main" val="573583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4637-4D17-679F-D48B-F51D1A44A96F}"/>
              </a:ext>
            </a:extLst>
          </p:cNvPr>
          <p:cNvSpPr>
            <a:spLocks noGrp="1"/>
          </p:cNvSpPr>
          <p:nvPr>
            <p:ph type="title"/>
          </p:nvPr>
        </p:nvSpPr>
        <p:spPr>
          <a:xfrm>
            <a:off x="1261872" y="677863"/>
            <a:ext cx="9692640" cy="1397124"/>
          </a:xfrm>
        </p:spPr>
        <p:txBody>
          <a:bodyPr/>
          <a:lstStyle/>
          <a:p>
            <a:r>
              <a:rPr lang="en-IN" dirty="0">
                <a:latin typeface="Times New Roman" panose="02020603050405020304" pitchFamily="18" charset="0"/>
                <a:cs typeface="Times New Roman" panose="02020603050405020304" pitchFamily="18" charset="0"/>
              </a:rPr>
              <a:t>Benefits</a:t>
            </a:r>
            <a:br>
              <a:rPr lang="en-IN" b="0" dirty="0"/>
            </a:br>
            <a:endParaRPr lang="en-IN" dirty="0"/>
          </a:p>
        </p:txBody>
      </p:sp>
      <p:sp>
        <p:nvSpPr>
          <p:cNvPr id="3" name="Content Placeholder 2">
            <a:extLst>
              <a:ext uri="{FF2B5EF4-FFF2-40B4-BE49-F238E27FC236}">
                <a16:creationId xmlns:a16="http://schemas.microsoft.com/office/drawing/2014/main" id="{A8ED5556-0451-4806-4182-87D07E26A126}"/>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Good Data Integrity</a:t>
            </a:r>
          </a:p>
          <a:p>
            <a:pPr fontAlgn="base"/>
            <a:r>
              <a:rPr lang="en-US" dirty="0">
                <a:solidFill>
                  <a:schemeClr val="tx1"/>
                </a:solidFill>
                <a:latin typeface="Times New Roman" panose="02020603050405020304" pitchFamily="18" charset="0"/>
                <a:cs typeface="Times New Roman" panose="02020603050405020304" pitchFamily="18" charset="0"/>
              </a:rPr>
              <a:t>Greater speed with which data may be recovered in the case of a breach or unplanned outage</a:t>
            </a:r>
          </a:p>
          <a:p>
            <a:pPr fontAlgn="base"/>
            <a:r>
              <a:rPr lang="en-US" dirty="0">
                <a:solidFill>
                  <a:schemeClr val="tx1"/>
                </a:solidFill>
                <a:latin typeface="Times New Roman" panose="02020603050405020304" pitchFamily="18" charset="0"/>
                <a:cs typeface="Times New Roman" panose="02020603050405020304" pitchFamily="18" charset="0"/>
              </a:rPr>
              <a:t>Keeping unauthorized access and data tampering at bay</a:t>
            </a:r>
          </a:p>
          <a:p>
            <a:pPr fontAlgn="base"/>
            <a:r>
              <a:rPr lang="en-US" dirty="0">
                <a:solidFill>
                  <a:schemeClr val="tx1"/>
                </a:solidFill>
                <a:latin typeface="Times New Roman" panose="02020603050405020304" pitchFamily="18" charset="0"/>
                <a:cs typeface="Times New Roman" panose="02020603050405020304" pitchFamily="18" charset="0"/>
              </a:rPr>
              <a:t>Achieving and maintaining compliance more efficiently</a:t>
            </a:r>
          </a:p>
          <a:p>
            <a:r>
              <a:rPr lang="en-US" dirty="0">
                <a:solidFill>
                  <a:schemeClr val="tx1"/>
                </a:solidFill>
                <a:latin typeface="Times New Roman" panose="02020603050405020304" pitchFamily="18" charset="0"/>
                <a:cs typeface="Times New Roman" panose="02020603050405020304" pitchFamily="18" charset="0"/>
              </a:rPr>
              <a:t>Better decision making </a:t>
            </a:r>
          </a:p>
          <a:p>
            <a:r>
              <a:rPr lang="en-US" dirty="0">
                <a:solidFill>
                  <a:schemeClr val="tx1"/>
                </a:solidFill>
                <a:latin typeface="Times New Roman" panose="02020603050405020304" pitchFamily="18" charset="0"/>
                <a:cs typeface="Times New Roman" panose="02020603050405020304" pitchFamily="18" charset="0"/>
              </a:rPr>
              <a:t>Improved efficiency </a:t>
            </a:r>
          </a:p>
          <a:p>
            <a:r>
              <a:rPr lang="en-US" dirty="0">
                <a:solidFill>
                  <a:schemeClr val="tx1"/>
                </a:solidFill>
                <a:latin typeface="Times New Roman" panose="02020603050405020304" pitchFamily="18" charset="0"/>
                <a:cs typeface="Times New Roman" panose="02020603050405020304" pitchFamily="18" charset="0"/>
              </a:rPr>
              <a:t>Cost savings </a:t>
            </a:r>
          </a:p>
          <a:p>
            <a:r>
              <a:rPr lang="en-US" dirty="0">
                <a:solidFill>
                  <a:schemeClr val="tx1"/>
                </a:solidFill>
                <a:latin typeface="Times New Roman" panose="02020603050405020304" pitchFamily="18" charset="0"/>
                <a:cs typeface="Times New Roman" panose="02020603050405020304" pitchFamily="18" charset="0"/>
              </a:rPr>
              <a:t>Higher customer satisfaction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0744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449A4-3900-BCBF-974A-41A1888A5A2D}"/>
              </a:ext>
            </a:extLst>
          </p:cNvPr>
          <p:cNvSpPr>
            <a:spLocks noGrp="1"/>
          </p:cNvSpPr>
          <p:nvPr>
            <p:ph type="ctrTitle"/>
          </p:nvPr>
        </p:nvSpPr>
        <p:spPr/>
        <p:txBody>
          <a:bodyPr>
            <a:normAutofit/>
          </a:bodyPr>
          <a:lstStyle/>
          <a:p>
            <a:r>
              <a:rPr lang="en-US" dirty="0">
                <a:latin typeface="Times New Roman" panose="02020603050405020304" pitchFamily="18" charset="0"/>
                <a:cs typeface="Times New Roman" panose="02020603050405020304" pitchFamily="18" charset="0"/>
              </a:rPr>
              <a:t>3.Introduction to Business Analyst Role</a:t>
            </a:r>
            <a:br>
              <a:rPr lang="en-US" dirty="0"/>
            </a:br>
            <a:endParaRPr lang="en-IN" dirty="0"/>
          </a:p>
        </p:txBody>
      </p:sp>
    </p:spTree>
    <p:extLst>
      <p:ext uri="{BB962C8B-B14F-4D97-AF65-F5344CB8AC3E}">
        <p14:creationId xmlns:p14="http://schemas.microsoft.com/office/powerpoint/2010/main" val="3542578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EFDA-ADB5-2EF8-C3E4-143ED0B3D6F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3B12AC-DB1A-8A4E-B9B8-90FF00E2C703}"/>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 Business Analyst (BA) helps organizations improve business processes and solve problems. They connect business teams and technical teams. They use data and analysis to support decision-making.</a:t>
            </a:r>
          </a:p>
          <a:p>
            <a:r>
              <a:rPr lang="en-IN" dirty="0">
                <a:solidFill>
                  <a:schemeClr val="tx1"/>
                </a:solidFill>
                <a:latin typeface="Times New Roman" panose="02020603050405020304" pitchFamily="18" charset="0"/>
                <a:cs typeface="Times New Roman" panose="02020603050405020304" pitchFamily="18" charset="0"/>
              </a:rPr>
              <a:t>Common BA Tools</a:t>
            </a:r>
          </a:p>
          <a:p>
            <a:r>
              <a:rPr lang="en-IN" dirty="0">
                <a:solidFill>
                  <a:schemeClr val="tx1"/>
                </a:solidFill>
                <a:latin typeface="Times New Roman" panose="02020603050405020304" pitchFamily="18" charset="0"/>
                <a:cs typeface="Times New Roman" panose="02020603050405020304" pitchFamily="18" charset="0"/>
              </a:rPr>
              <a:t>Microsoft Excel</a:t>
            </a:r>
          </a:p>
          <a:p>
            <a:r>
              <a:rPr lang="en-IN" dirty="0">
                <a:solidFill>
                  <a:schemeClr val="tx1"/>
                </a:solidFill>
                <a:latin typeface="Times New Roman" panose="02020603050405020304" pitchFamily="18" charset="0"/>
                <a:cs typeface="Times New Roman" panose="02020603050405020304" pitchFamily="18" charset="0"/>
              </a:rPr>
              <a:t>Tableau</a:t>
            </a:r>
          </a:p>
        </p:txBody>
      </p:sp>
    </p:spTree>
    <p:extLst>
      <p:ext uri="{BB962C8B-B14F-4D97-AF65-F5344CB8AC3E}">
        <p14:creationId xmlns:p14="http://schemas.microsoft.com/office/powerpoint/2010/main" val="542885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D82F-C199-764E-44CB-D29D4A57394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Business Analyst Roles and Responsibilities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DB4F33-7C5D-36A2-AA74-58005DD78DE6}"/>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Gathering Business Requirements</a:t>
            </a:r>
          </a:p>
          <a:p>
            <a:r>
              <a:rPr lang="en-US" dirty="0">
                <a:solidFill>
                  <a:schemeClr val="tx1"/>
                </a:solidFill>
                <a:latin typeface="Times New Roman" panose="02020603050405020304" pitchFamily="18" charset="0"/>
                <a:cs typeface="Times New Roman" panose="02020603050405020304" pitchFamily="18" charset="0"/>
              </a:rPr>
              <a:t>Defining the Problem and Solution Scope</a:t>
            </a:r>
          </a:p>
          <a:p>
            <a:r>
              <a:rPr lang="en-IN" dirty="0">
                <a:solidFill>
                  <a:schemeClr val="tx1"/>
                </a:solidFill>
                <a:latin typeface="Times New Roman" panose="02020603050405020304" pitchFamily="18" charset="0"/>
                <a:cs typeface="Times New Roman" panose="02020603050405020304" pitchFamily="18" charset="0"/>
              </a:rPr>
              <a:t>Facilitating Communication Between Stakeholders</a:t>
            </a:r>
          </a:p>
          <a:p>
            <a:r>
              <a:rPr lang="en-IN" dirty="0">
                <a:solidFill>
                  <a:schemeClr val="tx1"/>
                </a:solidFill>
                <a:latin typeface="Times New Roman" panose="02020603050405020304" pitchFamily="18" charset="0"/>
                <a:cs typeface="Times New Roman" panose="02020603050405020304" pitchFamily="18" charset="0"/>
              </a:rPr>
              <a:t>Creating and Managing Documentation</a:t>
            </a:r>
          </a:p>
          <a:p>
            <a:r>
              <a:rPr lang="en-IN" dirty="0">
                <a:solidFill>
                  <a:schemeClr val="tx1"/>
                </a:solidFill>
                <a:latin typeface="Times New Roman" panose="02020603050405020304" pitchFamily="18" charset="0"/>
                <a:cs typeface="Times New Roman" panose="02020603050405020304" pitchFamily="18" charset="0"/>
              </a:rPr>
              <a:t>Performing Data Analysis</a:t>
            </a:r>
          </a:p>
          <a:p>
            <a:r>
              <a:rPr lang="en-US" dirty="0">
                <a:solidFill>
                  <a:schemeClr val="tx1"/>
                </a:solidFill>
                <a:latin typeface="Times New Roman" panose="02020603050405020304" pitchFamily="18" charset="0"/>
                <a:cs typeface="Times New Roman" panose="02020603050405020304" pitchFamily="18" charset="0"/>
              </a:rPr>
              <a:t>Supporting Solution Implementation and Testing</a:t>
            </a:r>
          </a:p>
          <a:p>
            <a:r>
              <a:rPr lang="en-US" dirty="0">
                <a:solidFill>
                  <a:schemeClr val="tx1"/>
                </a:solidFill>
                <a:latin typeface="Times New Roman" panose="02020603050405020304" pitchFamily="18" charset="0"/>
                <a:cs typeface="Times New Roman" panose="02020603050405020304" pitchFamily="18" charset="0"/>
              </a:rPr>
              <a:t>Tracking and Measuring Project Success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1707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4241-66A9-0532-A33C-7FB44A707837}"/>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 Difference Between Business Analysts And Business Analytics Professionals?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10C780-BB8C-96BC-058E-023BB239D3F0}"/>
              </a:ext>
            </a:extLst>
          </p:cNvPr>
          <p:cNvSpPr>
            <a:spLocks noGrp="1"/>
          </p:cNvSpPr>
          <p:nvPr>
            <p:ph idx="1"/>
          </p:nvPr>
        </p:nvSpPr>
        <p:spPr>
          <a:xfrm>
            <a:off x="1261872" y="1828800"/>
            <a:ext cx="8595360" cy="5029200"/>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Business Analyst</a:t>
            </a:r>
          </a:p>
          <a:p>
            <a:r>
              <a:rPr lang="en-US" dirty="0">
                <a:solidFill>
                  <a:schemeClr val="tx1"/>
                </a:solidFill>
                <a:latin typeface="Times New Roman" panose="02020603050405020304" pitchFamily="18" charset="0"/>
                <a:cs typeface="Times New Roman" panose="02020603050405020304" pitchFamily="18" charset="0"/>
              </a:rPr>
              <a:t>Business analysis has less to do with data and instead focuses on analyzing and optimizing the processes and functions that make up a business. They analyze what a business needs to function optimally and what it needs to improve, and then work to implement solutions. This may include improving processes, changing policies or introducing new technology.</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Business Analytics Professional</a:t>
            </a:r>
          </a:p>
          <a:p>
            <a:r>
              <a:rPr lang="en-US" dirty="0">
                <a:solidFill>
                  <a:schemeClr val="tx1"/>
                </a:solidFill>
                <a:latin typeface="Times New Roman" panose="02020603050405020304" pitchFamily="18" charset="0"/>
                <a:cs typeface="Times New Roman" panose="02020603050405020304" pitchFamily="18" charset="0"/>
              </a:rPr>
              <a:t>Business analytics focuses on data, statistical analysis and reporting to help investigate and analyze business performance, provide insights, and drive recommendations to improve performance.</a:t>
            </a:r>
          </a:p>
          <a:p>
            <a:r>
              <a:rPr lang="en-US" dirty="0">
                <a:solidFill>
                  <a:schemeClr val="tx1"/>
                </a:solidFill>
                <a:latin typeface="Times New Roman" panose="02020603050405020304" pitchFamily="18" charset="0"/>
                <a:cs typeface="Times New Roman" panose="02020603050405020304" pitchFamily="18" charset="0"/>
              </a:rPr>
              <a:t>They may also work with internal or external clients, but their focus is to improve the product, marketing or customer experience by using insights from data, rather than analyzing processes and functions</a:t>
            </a:r>
            <a:r>
              <a:rPr lang="en-US" dirty="0">
                <a:solidFill>
                  <a:schemeClr val="tx1"/>
                </a:solidFill>
              </a:rPr>
              <a:t>.</a:t>
            </a:r>
          </a:p>
          <a:p>
            <a:endParaRPr lang="en-IN" dirty="0"/>
          </a:p>
        </p:txBody>
      </p:sp>
    </p:spTree>
    <p:extLst>
      <p:ext uri="{BB962C8B-B14F-4D97-AF65-F5344CB8AC3E}">
        <p14:creationId xmlns:p14="http://schemas.microsoft.com/office/powerpoint/2010/main" val="503174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29E02-F23B-E035-3177-48D1796549B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Core Business Analytics Skills</a:t>
            </a:r>
          </a:p>
        </p:txBody>
      </p:sp>
      <p:sp>
        <p:nvSpPr>
          <p:cNvPr id="3" name="Content Placeholder 2">
            <a:extLst>
              <a:ext uri="{FF2B5EF4-FFF2-40B4-BE49-F238E27FC236}">
                <a16:creationId xmlns:a16="http://schemas.microsoft.com/office/drawing/2014/main" id="{5B6F6EDB-06C5-A129-269B-4122EC996C5C}"/>
              </a:ext>
            </a:extLst>
          </p:cNvPr>
          <p:cNvSpPr>
            <a:spLocks noGrp="1"/>
          </p:cNvSpPr>
          <p:nvPr>
            <p:ph idx="1"/>
          </p:nvPr>
        </p:nvSpPr>
        <p:spPr>
          <a:xfrm>
            <a:off x="1261872" y="1828800"/>
            <a:ext cx="8595360" cy="4876800"/>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 good communicator</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Being able to present findings in a clear and concise manner is fundamental to making sure that all players understand insights and can put recommendations into practice.</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 problem solver</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Professionals in analytics use a combination of logical thinking, predictive analytics and statistics to make recommendations that will solve problems and propel a business forward.</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 critical thinker</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Business analytics professionals need to think critically about not only the implications of the data they collect, but about what data they should be collecting in the first place.</a:t>
            </a:r>
          </a:p>
          <a:p>
            <a:endParaRPr lang="en-IN" dirty="0"/>
          </a:p>
        </p:txBody>
      </p:sp>
    </p:spTree>
    <p:extLst>
      <p:ext uri="{BB962C8B-B14F-4D97-AF65-F5344CB8AC3E}">
        <p14:creationId xmlns:p14="http://schemas.microsoft.com/office/powerpoint/2010/main" val="5365518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DC56-63D1-EAAB-B139-32F4C87662E9}"/>
              </a:ext>
            </a:extLst>
          </p:cNvPr>
          <p:cNvSpPr>
            <a:spLocks noGrp="1"/>
          </p:cNvSpPr>
          <p:nvPr>
            <p:ph type="title"/>
          </p:nvPr>
        </p:nvSpPr>
        <p:spPr>
          <a:xfrm>
            <a:off x="1261872" y="294198"/>
            <a:ext cx="9692640" cy="892918"/>
          </a:xfrm>
        </p:spPr>
        <p:txBody>
          <a:bodyPr>
            <a:normAutofit/>
          </a:bodyPr>
          <a:lstStyle/>
          <a:p>
            <a:r>
              <a:rPr lang="en-US" dirty="0">
                <a:latin typeface="Times New Roman" panose="02020603050405020304" pitchFamily="18" charset="0"/>
                <a:cs typeface="Times New Roman" panose="02020603050405020304" pitchFamily="18" charset="0"/>
              </a:rPr>
              <a:t>Technical Skills for Business Analytics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D96175-E01D-A456-9C89-597F01BF4CD9}"/>
              </a:ext>
            </a:extLst>
          </p:cNvPr>
          <p:cNvSpPr>
            <a:spLocks noGrp="1"/>
          </p:cNvSpPr>
          <p:nvPr>
            <p:ph idx="1"/>
          </p:nvPr>
        </p:nvSpPr>
        <p:spPr>
          <a:xfrm>
            <a:off x="1261871" y="1187116"/>
            <a:ext cx="9692640" cy="5670884"/>
          </a:xfrm>
        </p:spPr>
        <p:txBody>
          <a:bodyPr>
            <a:normAutofit fontScale="40000" lnSpcReduction="20000"/>
          </a:bodyPr>
          <a:lstStyle/>
          <a:p>
            <a:pPr>
              <a:lnSpc>
                <a:spcPct val="120000"/>
              </a:lnSpc>
              <a:buFont typeface="Wingdings" panose="05000000000000000000" pitchFamily="2" charset="2"/>
              <a:buChar char="§"/>
            </a:pPr>
            <a:r>
              <a:rPr lang="en-US" sz="5000" b="1" dirty="0">
                <a:solidFill>
                  <a:schemeClr val="tx1"/>
                </a:solidFill>
                <a:latin typeface="Times New Roman" panose="02020603050405020304" pitchFamily="18" charset="0"/>
                <a:cs typeface="Times New Roman" panose="02020603050405020304" pitchFamily="18" charset="0"/>
              </a:rPr>
              <a:t>SQL </a:t>
            </a:r>
          </a:p>
          <a:p>
            <a:pPr>
              <a:lnSpc>
                <a:spcPct val="120000"/>
              </a:lnSpc>
            </a:pPr>
            <a:r>
              <a:rPr lang="en-US" sz="5000" dirty="0">
                <a:solidFill>
                  <a:schemeClr val="tx1"/>
                </a:solidFill>
                <a:latin typeface="Times New Roman" panose="02020603050405020304" pitchFamily="18" charset="0"/>
                <a:cs typeface="Times New Roman" panose="02020603050405020304" pitchFamily="18" charset="0"/>
              </a:rPr>
              <a:t>SQL  is the coding language of databases and one of the most important tools in an analytics professional’s toolkit. Professionals write SQL queries to extract and analyze data from the transactions database and develop visualizations to present to stakeholders.</a:t>
            </a:r>
          </a:p>
          <a:p>
            <a:pPr>
              <a:lnSpc>
                <a:spcPct val="120000"/>
              </a:lnSpc>
              <a:buFont typeface="Wingdings" panose="05000000000000000000" pitchFamily="2" charset="2"/>
              <a:buChar char="§"/>
            </a:pPr>
            <a:r>
              <a:rPr lang="en-US" sz="5000" b="1" dirty="0">
                <a:solidFill>
                  <a:schemeClr val="tx1"/>
                </a:solidFill>
                <a:latin typeface="Times New Roman" panose="02020603050405020304" pitchFamily="18" charset="0"/>
                <a:cs typeface="Times New Roman" panose="02020603050405020304" pitchFamily="18" charset="0"/>
              </a:rPr>
              <a:t>Statistical languages</a:t>
            </a:r>
            <a:r>
              <a:rPr lang="en-US" sz="5000" dirty="0">
                <a:solidFill>
                  <a:schemeClr val="tx1"/>
                </a:solidFill>
                <a:latin typeface="Times New Roman" panose="02020603050405020304" pitchFamily="18" charset="0"/>
                <a:cs typeface="Times New Roman" panose="02020603050405020304" pitchFamily="18" charset="0"/>
              </a:rPr>
              <a:t> </a:t>
            </a:r>
          </a:p>
          <a:p>
            <a:pPr>
              <a:lnSpc>
                <a:spcPct val="120000"/>
              </a:lnSpc>
            </a:pPr>
            <a:r>
              <a:rPr lang="en-US" sz="5000" dirty="0">
                <a:solidFill>
                  <a:schemeClr val="tx1"/>
                </a:solidFill>
                <a:latin typeface="Times New Roman" panose="02020603050405020304" pitchFamily="18" charset="0"/>
                <a:cs typeface="Times New Roman" panose="02020603050405020304" pitchFamily="18" charset="0"/>
              </a:rPr>
              <a:t>The two most common programming languages in analytics are R, for statistical analysis, and Python, for general programming. Knowledge in either of these languages can be beneficial when analyzing big data sets, but is not vital.</a:t>
            </a:r>
          </a:p>
          <a:p>
            <a:pPr>
              <a:lnSpc>
                <a:spcPct val="120000"/>
              </a:lnSpc>
              <a:buFont typeface="Wingdings" panose="05000000000000000000" pitchFamily="2" charset="2"/>
              <a:buChar char="§"/>
            </a:pPr>
            <a:r>
              <a:rPr lang="en-US" sz="5000" b="1" dirty="0">
                <a:solidFill>
                  <a:schemeClr val="tx1"/>
                </a:solidFill>
                <a:latin typeface="Times New Roman" panose="02020603050405020304" pitchFamily="18" charset="0"/>
                <a:cs typeface="Times New Roman" panose="02020603050405020304" pitchFamily="18" charset="0"/>
              </a:rPr>
              <a:t>Statistical software</a:t>
            </a:r>
            <a:endParaRPr lang="en-US" sz="5000"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sz="5000" dirty="0">
                <a:solidFill>
                  <a:schemeClr val="tx1"/>
                </a:solidFill>
                <a:latin typeface="Times New Roman" panose="02020603050405020304" pitchFamily="18" charset="0"/>
                <a:cs typeface="Times New Roman" panose="02020603050405020304" pitchFamily="18" charset="0"/>
              </a:rPr>
              <a:t>While the ability to program is helpful for a career in analytics, being able to write code isn’t necessarily required to work as an analytics professional. Apart from the above languages, statistical software such as SPSS, SAS, Sage, Mathematica, and even Excel can be used when managing and analyzing data.</a:t>
            </a:r>
          </a:p>
          <a:p>
            <a:endParaRPr lang="en-IN" dirty="0"/>
          </a:p>
        </p:txBody>
      </p:sp>
    </p:spTree>
    <p:extLst>
      <p:ext uri="{BB962C8B-B14F-4D97-AF65-F5344CB8AC3E}">
        <p14:creationId xmlns:p14="http://schemas.microsoft.com/office/powerpoint/2010/main" val="4292439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F981-3039-92BE-F795-74DE8E4785F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Four Types of Analytics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A4802E-6521-6829-5621-1CD87D27CA41}"/>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Descriptive Analytics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Explains what happened by analyzing past data.</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Example: Monthly sales reports. </a:t>
            </a:r>
          </a:p>
          <a:p>
            <a:r>
              <a:rPr lang="en-US" b="1" dirty="0">
                <a:solidFill>
                  <a:schemeClr val="tx1"/>
                </a:solidFill>
                <a:latin typeface="Times New Roman" panose="02020603050405020304" pitchFamily="18" charset="0"/>
                <a:cs typeface="Times New Roman" panose="02020603050405020304" pitchFamily="18" charset="0"/>
              </a:rPr>
              <a:t>Diagnostic Analytics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Explains why something happened by finding causes and patterns.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Example: Finding why sales dropped in a specific month. </a:t>
            </a:r>
          </a:p>
          <a:p>
            <a:r>
              <a:rPr lang="en-US" b="1" dirty="0">
                <a:solidFill>
                  <a:schemeClr val="tx1"/>
                </a:solidFill>
                <a:latin typeface="Times New Roman" panose="02020603050405020304" pitchFamily="18" charset="0"/>
                <a:cs typeface="Times New Roman" panose="02020603050405020304" pitchFamily="18" charset="0"/>
              </a:rPr>
              <a:t>Predictive Analytics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Predicts future outcomes using historical data and trends.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Example: Forecasting future sales or customer demand.</a:t>
            </a:r>
          </a:p>
          <a:p>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Prescriptive Analytics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Suggests the best actions to take for better results.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Example: Recommending marketing strategies to increase sales.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7097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A2383-54A0-D685-7400-D2E8677680D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Benefits of Business Analysts</a:t>
            </a:r>
          </a:p>
        </p:txBody>
      </p:sp>
      <p:sp>
        <p:nvSpPr>
          <p:cNvPr id="3" name="Content Placeholder 2">
            <a:extLst>
              <a:ext uri="{FF2B5EF4-FFF2-40B4-BE49-F238E27FC236}">
                <a16:creationId xmlns:a16="http://schemas.microsoft.com/office/drawing/2014/main" id="{BD2FAB01-E628-EDB8-C03D-238F941B53CA}"/>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Improve business efficiency </a:t>
            </a:r>
          </a:p>
          <a:p>
            <a:r>
              <a:rPr lang="en-US" dirty="0">
                <a:solidFill>
                  <a:schemeClr val="tx1"/>
                </a:solidFill>
                <a:latin typeface="Times New Roman" panose="02020603050405020304" pitchFamily="18" charset="0"/>
                <a:cs typeface="Times New Roman" panose="02020603050405020304" pitchFamily="18" charset="0"/>
              </a:rPr>
              <a:t>Support better decisions</a:t>
            </a:r>
          </a:p>
          <a:p>
            <a:r>
              <a:rPr lang="en-US" dirty="0">
                <a:solidFill>
                  <a:schemeClr val="tx1"/>
                </a:solidFill>
                <a:latin typeface="Times New Roman" panose="02020603050405020304" pitchFamily="18" charset="0"/>
                <a:cs typeface="Times New Roman" panose="02020603050405020304" pitchFamily="18" charset="0"/>
              </a:rPr>
              <a:t> Reduce operational problems </a:t>
            </a:r>
          </a:p>
          <a:p>
            <a:r>
              <a:rPr lang="en-US" dirty="0">
                <a:solidFill>
                  <a:schemeClr val="tx1"/>
                </a:solidFill>
                <a:latin typeface="Times New Roman" panose="02020603050405020304" pitchFamily="18" charset="0"/>
                <a:cs typeface="Times New Roman" panose="02020603050405020304" pitchFamily="18" charset="0"/>
              </a:rPr>
              <a:t>Improve communication </a:t>
            </a:r>
          </a:p>
          <a:p>
            <a:r>
              <a:rPr lang="en-US" dirty="0">
                <a:solidFill>
                  <a:schemeClr val="tx1"/>
                </a:solidFill>
                <a:latin typeface="Times New Roman" panose="02020603050405020304" pitchFamily="18" charset="0"/>
                <a:cs typeface="Times New Roman" panose="02020603050405020304" pitchFamily="18" charset="0"/>
              </a:rPr>
              <a:t>Help organizations grow</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2591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E7416-F209-8443-22A5-6FDA977D6469}"/>
              </a:ext>
            </a:extLst>
          </p:cNvPr>
          <p:cNvSpPr>
            <a:spLocks noGrp="1"/>
          </p:cNvSpPr>
          <p:nvPr>
            <p:ph type="title"/>
          </p:nvPr>
        </p:nvSpPr>
        <p:spPr>
          <a:xfrm>
            <a:off x="1012898" y="871713"/>
            <a:ext cx="9692640" cy="1021255"/>
          </a:xfrm>
        </p:spPr>
        <p:txBody>
          <a:bodyPr>
            <a:normAutofit fontScale="90000"/>
          </a:bodyPr>
          <a:lstStyle/>
          <a:p>
            <a:r>
              <a:rPr lang="en-US" sz="4900" dirty="0">
                <a:latin typeface="Times New Roman" panose="02020603050405020304" pitchFamily="18" charset="0"/>
                <a:cs typeface="Times New Roman" panose="02020603050405020304" pitchFamily="18" charset="0"/>
              </a:rPr>
              <a:t>What is Waterfall &amp; Agile Methodology</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E62575-FBD0-ECD8-3616-C22995E5C77F}"/>
              </a:ext>
            </a:extLst>
          </p:cNvPr>
          <p:cNvSpPr>
            <a:spLocks noGrp="1"/>
          </p:cNvSpPr>
          <p:nvPr>
            <p:ph idx="1"/>
          </p:nvPr>
        </p:nvSpPr>
        <p:spPr>
          <a:xfrm>
            <a:off x="1012898" y="1604211"/>
            <a:ext cx="8974916" cy="5406188"/>
          </a:xfrm>
        </p:spPr>
        <p:txBody>
          <a:bodyPr>
            <a:normAutofit fontScale="92500" lnSpcReduction="20000"/>
          </a:bodyPr>
          <a:lstStyle/>
          <a:p>
            <a:pPr>
              <a:buFont typeface="Wingdings" panose="05000000000000000000" pitchFamily="2" charset="2"/>
              <a:buChar char="§"/>
            </a:pPr>
            <a:r>
              <a:rPr lang="en-US" sz="2200" b="1" dirty="0">
                <a:solidFill>
                  <a:schemeClr val="tx1"/>
                </a:solidFill>
                <a:latin typeface="Times New Roman" panose="02020603050405020304" pitchFamily="18" charset="0"/>
                <a:cs typeface="Times New Roman" panose="02020603050405020304" pitchFamily="18" charset="0"/>
              </a:rPr>
              <a:t>Waterfall Methodology</a:t>
            </a:r>
          </a:p>
          <a:p>
            <a:r>
              <a:rPr lang="en-US" sz="2200" dirty="0">
                <a:solidFill>
                  <a:schemeClr val="tx1"/>
                </a:solidFill>
                <a:latin typeface="Times New Roman" panose="02020603050405020304" pitchFamily="18" charset="0"/>
                <a:cs typeface="Times New Roman" panose="02020603050405020304" pitchFamily="18" charset="0"/>
              </a:rPr>
              <a:t>Linear and sequential approach </a:t>
            </a:r>
          </a:p>
          <a:p>
            <a:r>
              <a:rPr lang="en-US" sz="2200" dirty="0">
                <a:solidFill>
                  <a:schemeClr val="tx1"/>
                </a:solidFill>
                <a:latin typeface="Times New Roman" panose="02020603050405020304" pitchFamily="18" charset="0"/>
                <a:cs typeface="Times New Roman" panose="02020603050405020304" pitchFamily="18" charset="0"/>
              </a:rPr>
              <a:t>Each phase is completed before the next phase begins </a:t>
            </a:r>
          </a:p>
          <a:p>
            <a:r>
              <a:rPr lang="en-US" sz="2200" dirty="0">
                <a:solidFill>
                  <a:schemeClr val="tx1"/>
                </a:solidFill>
                <a:latin typeface="Times New Roman" panose="02020603050405020304" pitchFamily="18" charset="0"/>
                <a:cs typeface="Times New Roman" panose="02020603050405020304" pitchFamily="18" charset="0"/>
              </a:rPr>
              <a:t>Focuses on planning and documentation </a:t>
            </a:r>
          </a:p>
          <a:p>
            <a:r>
              <a:rPr lang="en-US" sz="2200" dirty="0">
                <a:solidFill>
                  <a:schemeClr val="tx1"/>
                </a:solidFill>
                <a:latin typeface="Times New Roman" panose="02020603050405020304" pitchFamily="18" charset="0"/>
                <a:cs typeface="Times New Roman" panose="02020603050405020304" pitchFamily="18" charset="0"/>
              </a:rPr>
              <a:t>Best for projects with fixed requirements </a:t>
            </a:r>
          </a:p>
          <a:p>
            <a:r>
              <a:rPr lang="en-US" sz="2200" dirty="0">
                <a:solidFill>
                  <a:schemeClr val="tx1"/>
                </a:solidFill>
                <a:latin typeface="Times New Roman" panose="02020603050405020304" pitchFamily="18" charset="0"/>
                <a:cs typeface="Times New Roman" panose="02020603050405020304" pitchFamily="18" charset="0"/>
              </a:rPr>
              <a:t>Easy to track progress and deadlines</a:t>
            </a:r>
          </a:p>
          <a:p>
            <a:pPr>
              <a:buFont typeface="Wingdings" panose="05000000000000000000" pitchFamily="2" charset="2"/>
              <a:buChar char="§"/>
            </a:pPr>
            <a:r>
              <a:rPr lang="en-US" sz="2200" b="1" dirty="0">
                <a:solidFill>
                  <a:schemeClr val="tx1"/>
                </a:solidFill>
                <a:latin typeface="Times New Roman" panose="02020603050405020304" pitchFamily="18" charset="0"/>
                <a:cs typeface="Times New Roman" panose="02020603050405020304" pitchFamily="18" charset="0"/>
              </a:rPr>
              <a:t>Agile Methodology</a:t>
            </a:r>
          </a:p>
          <a:p>
            <a:r>
              <a:rPr lang="en-US" sz="2200" dirty="0">
                <a:solidFill>
                  <a:schemeClr val="tx1"/>
                </a:solidFill>
                <a:latin typeface="Times New Roman" panose="02020603050405020304" pitchFamily="18" charset="0"/>
                <a:cs typeface="Times New Roman" panose="02020603050405020304" pitchFamily="18" charset="0"/>
              </a:rPr>
              <a:t>Flexible and iterative approach </a:t>
            </a:r>
          </a:p>
          <a:p>
            <a:r>
              <a:rPr lang="en-US" sz="2200" dirty="0">
                <a:solidFill>
                  <a:schemeClr val="tx1"/>
                </a:solidFill>
                <a:latin typeface="Times New Roman" panose="02020603050405020304" pitchFamily="18" charset="0"/>
                <a:cs typeface="Times New Roman" panose="02020603050405020304" pitchFamily="18" charset="0"/>
              </a:rPr>
              <a:t>Work is divided into small cycles called sprints </a:t>
            </a:r>
          </a:p>
          <a:p>
            <a:r>
              <a:rPr lang="en-US" sz="2200" dirty="0">
                <a:solidFill>
                  <a:schemeClr val="tx1"/>
                </a:solidFill>
                <a:latin typeface="Times New Roman" panose="02020603050405020304" pitchFamily="18" charset="0"/>
                <a:cs typeface="Times New Roman" panose="02020603050405020304" pitchFamily="18" charset="0"/>
              </a:rPr>
              <a:t>Continuous testing and feedback </a:t>
            </a:r>
          </a:p>
          <a:p>
            <a:r>
              <a:rPr lang="en-US" sz="2200" dirty="0">
                <a:solidFill>
                  <a:schemeClr val="tx1"/>
                </a:solidFill>
                <a:latin typeface="Times New Roman" panose="02020603050405020304" pitchFamily="18" charset="0"/>
                <a:cs typeface="Times New Roman" panose="02020603050405020304" pitchFamily="18" charset="0"/>
              </a:rPr>
              <a:t>Encourages teamwork and collaboration </a:t>
            </a:r>
          </a:p>
          <a:p>
            <a:r>
              <a:rPr lang="en-US" sz="2200" dirty="0">
                <a:solidFill>
                  <a:schemeClr val="tx1"/>
                </a:solidFill>
                <a:latin typeface="Times New Roman" panose="02020603050405020304" pitchFamily="18" charset="0"/>
                <a:cs typeface="Times New Roman" panose="02020603050405020304" pitchFamily="18" charset="0"/>
              </a:rPr>
              <a:t>Quickly adapts to changes</a:t>
            </a:r>
          </a:p>
          <a:p>
            <a:endParaRPr lang="en-IN" dirty="0"/>
          </a:p>
        </p:txBody>
      </p:sp>
    </p:spTree>
    <p:extLst>
      <p:ext uri="{BB962C8B-B14F-4D97-AF65-F5344CB8AC3E}">
        <p14:creationId xmlns:p14="http://schemas.microsoft.com/office/powerpoint/2010/main" val="19541238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8526-A8FE-D136-E8A6-5FD6E1B3D02E}"/>
              </a:ext>
            </a:extLst>
          </p:cNvPr>
          <p:cNvSpPr>
            <a:spLocks noGrp="1"/>
          </p:cNvSpPr>
          <p:nvPr>
            <p:ph type="title"/>
          </p:nvPr>
        </p:nvSpPr>
        <p:spPr>
          <a:xfrm>
            <a:off x="1261872" y="294198"/>
            <a:ext cx="9692640" cy="1085423"/>
          </a:xfrm>
        </p:spPr>
        <p:txBody>
          <a:bodyPr/>
          <a:lstStyle/>
          <a:p>
            <a:r>
              <a:rPr lang="en-US" dirty="0">
                <a:latin typeface="Times New Roman" panose="02020603050405020304" pitchFamily="18" charset="0"/>
                <a:cs typeface="Times New Roman" panose="02020603050405020304" pitchFamily="18" charset="0"/>
              </a:rPr>
              <a:t>Differences Between Waterfall And Agile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A5D557-E1E7-A73C-7CF7-1B04EAF8E9B3}"/>
              </a:ext>
            </a:extLst>
          </p:cNvPr>
          <p:cNvSpPr>
            <a:spLocks noGrp="1"/>
          </p:cNvSpPr>
          <p:nvPr>
            <p:ph idx="1"/>
          </p:nvPr>
        </p:nvSpPr>
        <p:spPr>
          <a:xfrm>
            <a:off x="1261870" y="1534602"/>
            <a:ext cx="9692639" cy="5029200"/>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Agile Methodology</a:t>
            </a:r>
          </a:p>
          <a:p>
            <a:r>
              <a:rPr lang="en-US" dirty="0">
                <a:solidFill>
                  <a:schemeClr val="tx1"/>
                </a:solidFill>
                <a:latin typeface="Times New Roman" panose="02020603050405020304" pitchFamily="18" charset="0"/>
                <a:cs typeface="Times New Roman" panose="02020603050405020304" pitchFamily="18" charset="0"/>
              </a:rPr>
              <a:t>Flexible and iterative approach </a:t>
            </a:r>
          </a:p>
          <a:p>
            <a:r>
              <a:rPr lang="en-US" dirty="0">
                <a:solidFill>
                  <a:schemeClr val="tx1"/>
                </a:solidFill>
                <a:latin typeface="Times New Roman" panose="02020603050405020304" pitchFamily="18" charset="0"/>
                <a:cs typeface="Times New Roman" panose="02020603050405020304" pitchFamily="18" charset="0"/>
              </a:rPr>
              <a:t>Work is completed in small cycles called sprints </a:t>
            </a:r>
          </a:p>
          <a:p>
            <a:r>
              <a:rPr lang="en-US" dirty="0">
                <a:solidFill>
                  <a:schemeClr val="tx1"/>
                </a:solidFill>
                <a:latin typeface="Times New Roman" panose="02020603050405020304" pitchFamily="18" charset="0"/>
                <a:cs typeface="Times New Roman" panose="02020603050405020304" pitchFamily="18" charset="0"/>
              </a:rPr>
              <a:t>Changes can be made easily during development </a:t>
            </a:r>
          </a:p>
          <a:p>
            <a:r>
              <a:rPr lang="en-US" dirty="0">
                <a:solidFill>
                  <a:schemeClr val="tx1"/>
                </a:solidFill>
                <a:latin typeface="Times New Roman" panose="02020603050405020304" pitchFamily="18" charset="0"/>
                <a:cs typeface="Times New Roman" panose="02020603050405020304" pitchFamily="18" charset="0"/>
              </a:rPr>
              <a:t>Continuous customer feedback is included</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Waterfall Methodology</a:t>
            </a:r>
          </a:p>
          <a:p>
            <a:r>
              <a:rPr lang="en-US" dirty="0">
                <a:solidFill>
                  <a:schemeClr val="tx1"/>
                </a:solidFill>
                <a:latin typeface="Times New Roman" panose="02020603050405020304" pitchFamily="18" charset="0"/>
                <a:cs typeface="Times New Roman" panose="02020603050405020304" pitchFamily="18" charset="0"/>
              </a:rPr>
              <a:t>Linear and sequential approach </a:t>
            </a:r>
          </a:p>
          <a:p>
            <a:r>
              <a:rPr lang="en-US" dirty="0">
                <a:solidFill>
                  <a:schemeClr val="tx1"/>
                </a:solidFill>
                <a:latin typeface="Times New Roman" panose="02020603050405020304" pitchFamily="18" charset="0"/>
                <a:cs typeface="Times New Roman" panose="02020603050405020304" pitchFamily="18" charset="0"/>
              </a:rPr>
              <a:t>Each phase must be completed before the next begins </a:t>
            </a:r>
          </a:p>
          <a:p>
            <a:r>
              <a:rPr lang="en-US" dirty="0">
                <a:solidFill>
                  <a:schemeClr val="tx1"/>
                </a:solidFill>
                <a:latin typeface="Times New Roman" panose="02020603050405020304" pitchFamily="18" charset="0"/>
                <a:cs typeface="Times New Roman" panose="02020603050405020304" pitchFamily="18" charset="0"/>
              </a:rPr>
              <a:t>Difficult to make changes after development starts </a:t>
            </a:r>
          </a:p>
          <a:p>
            <a:r>
              <a:rPr lang="en-US" dirty="0">
                <a:solidFill>
                  <a:schemeClr val="tx1"/>
                </a:solidFill>
                <a:latin typeface="Times New Roman" panose="02020603050405020304" pitchFamily="18" charset="0"/>
                <a:cs typeface="Times New Roman" panose="02020603050405020304" pitchFamily="18" charset="0"/>
              </a:rPr>
              <a:t>Limited customer involvement during the process</a:t>
            </a:r>
          </a:p>
          <a:p>
            <a:endParaRPr lang="en-IN" dirty="0"/>
          </a:p>
        </p:txBody>
      </p:sp>
    </p:spTree>
    <p:extLst>
      <p:ext uri="{BB962C8B-B14F-4D97-AF65-F5344CB8AC3E}">
        <p14:creationId xmlns:p14="http://schemas.microsoft.com/office/powerpoint/2010/main" val="699907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AC9FC-4970-91A6-C5A3-27247C09C21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EB3731-B1F6-A672-7F2C-A3C90EAF0A8D}"/>
              </a:ext>
            </a:extLst>
          </p:cNvPr>
          <p:cNvSpPr>
            <a:spLocks noGrp="1"/>
          </p:cNvSpPr>
          <p:nvPr>
            <p:ph idx="1"/>
          </p:nvPr>
        </p:nvSpPr>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Technical projects: </a:t>
            </a:r>
            <a:r>
              <a:rPr lang="en-US" dirty="0">
                <a:solidFill>
                  <a:schemeClr val="tx1"/>
                </a:solidFill>
                <a:latin typeface="Times New Roman" panose="02020603050405020304" pitchFamily="18" charset="0"/>
                <a:cs typeface="Times New Roman" panose="02020603050405020304" pitchFamily="18" charset="0"/>
              </a:rPr>
              <a:t>Agile provides teams with an organized approach to developing complex software or products. Multiple teams can collaborate orderly, without a 45-person planning or re-planning meeting.</a:t>
            </a:r>
          </a:p>
          <a:p>
            <a:r>
              <a:rPr lang="en-US" b="1" dirty="0">
                <a:solidFill>
                  <a:schemeClr val="tx1"/>
                </a:solidFill>
                <a:latin typeface="Times New Roman" panose="02020603050405020304" pitchFamily="18" charset="0"/>
                <a:cs typeface="Times New Roman" panose="02020603050405020304" pitchFamily="18" charset="0"/>
              </a:rPr>
              <a:t>Creative projects: </a:t>
            </a:r>
            <a:r>
              <a:rPr lang="en-US" dirty="0">
                <a:solidFill>
                  <a:schemeClr val="tx1"/>
                </a:solidFill>
                <a:latin typeface="Times New Roman" panose="02020603050405020304" pitchFamily="18" charset="0"/>
                <a:cs typeface="Times New Roman" panose="02020603050405020304" pitchFamily="18" charset="0"/>
              </a:rPr>
              <a:t>Projects that involve a lot of creative problem-solving benefit from an agile approach as it allows for more experimentation and innovative thinking.</a:t>
            </a:r>
          </a:p>
          <a:p>
            <a:r>
              <a:rPr lang="en-US" b="1" dirty="0">
                <a:solidFill>
                  <a:schemeClr val="tx1"/>
                </a:solidFill>
                <a:latin typeface="Times New Roman" panose="02020603050405020304" pitchFamily="18" charset="0"/>
                <a:cs typeface="Times New Roman" panose="02020603050405020304" pitchFamily="18" charset="0"/>
              </a:rPr>
              <a:t>Startups: </a:t>
            </a:r>
            <a:r>
              <a:rPr lang="en-US" dirty="0">
                <a:solidFill>
                  <a:schemeClr val="tx1"/>
                </a:solidFill>
                <a:latin typeface="Times New Roman" panose="02020603050405020304" pitchFamily="18" charset="0"/>
                <a:cs typeface="Times New Roman" panose="02020603050405020304" pitchFamily="18" charset="0"/>
              </a:rPr>
              <a:t>They often need to deliver products or services with limited resources quickly. Agile methods allow them to develop and implement ideas more rapidly, allowing for rapid prototyping and iteration on the fly.</a:t>
            </a:r>
          </a:p>
          <a:p>
            <a:endParaRPr lang="en-IN" dirty="0"/>
          </a:p>
        </p:txBody>
      </p:sp>
    </p:spTree>
    <p:extLst>
      <p:ext uri="{BB962C8B-B14F-4D97-AF65-F5344CB8AC3E}">
        <p14:creationId xmlns:p14="http://schemas.microsoft.com/office/powerpoint/2010/main" val="2615493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7FA35-51B9-A4CF-7FBA-3BBA083D728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What is Stakeholder Management?</a:t>
            </a:r>
          </a:p>
        </p:txBody>
      </p:sp>
      <p:sp>
        <p:nvSpPr>
          <p:cNvPr id="3" name="Content Placeholder 2">
            <a:extLst>
              <a:ext uri="{FF2B5EF4-FFF2-40B4-BE49-F238E27FC236}">
                <a16:creationId xmlns:a16="http://schemas.microsoft.com/office/drawing/2014/main" id="{C98E2554-689E-2AAB-AF97-35611C00A261}"/>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Stakeholder management is the process of identifying, analyzing, and engaging people or groups affected by a project or business. </a:t>
            </a:r>
          </a:p>
          <a:p>
            <a:r>
              <a:rPr lang="en-US" dirty="0">
                <a:solidFill>
                  <a:schemeClr val="tx1"/>
                </a:solidFill>
                <a:latin typeface="Times New Roman" panose="02020603050405020304" pitchFamily="18" charset="0"/>
                <a:cs typeface="Times New Roman" panose="02020603050405020304" pitchFamily="18" charset="0"/>
              </a:rPr>
              <a:t>It helps organizations build good relationships and improve communication with stakeholders. </a:t>
            </a:r>
          </a:p>
          <a:p>
            <a:r>
              <a:rPr lang="en-US" dirty="0">
                <a:solidFill>
                  <a:schemeClr val="tx1"/>
                </a:solidFill>
                <a:latin typeface="Times New Roman" panose="02020603050405020304" pitchFamily="18" charset="0"/>
                <a:cs typeface="Times New Roman" panose="02020603050405020304" pitchFamily="18" charset="0"/>
              </a:rPr>
              <a:t>Effective stakeholder management supports project success and better decision-making.</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89569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F3BD-FF41-2FCC-5E2F-AC6822AF1FB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Stakeholder Management Process</a:t>
            </a:r>
          </a:p>
        </p:txBody>
      </p:sp>
      <p:sp>
        <p:nvSpPr>
          <p:cNvPr id="3" name="Content Placeholder 2">
            <a:extLst>
              <a:ext uri="{FF2B5EF4-FFF2-40B4-BE49-F238E27FC236}">
                <a16:creationId xmlns:a16="http://schemas.microsoft.com/office/drawing/2014/main" id="{847353E6-C14E-45F8-6D1C-E8F9AD868022}"/>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Identify stakeholders </a:t>
            </a:r>
          </a:p>
          <a:p>
            <a:r>
              <a:rPr lang="en-US" dirty="0">
                <a:solidFill>
                  <a:schemeClr val="tx1"/>
                </a:solidFill>
                <a:latin typeface="Times New Roman" panose="02020603050405020304" pitchFamily="18" charset="0"/>
                <a:cs typeface="Times New Roman" panose="02020603050405020304" pitchFamily="18" charset="0"/>
              </a:rPr>
              <a:t>Analyze stakeholders </a:t>
            </a:r>
          </a:p>
          <a:p>
            <a:r>
              <a:rPr lang="en-US" dirty="0">
                <a:solidFill>
                  <a:schemeClr val="tx1"/>
                </a:solidFill>
                <a:latin typeface="Times New Roman" panose="02020603050405020304" pitchFamily="18" charset="0"/>
                <a:cs typeface="Times New Roman" panose="02020603050405020304" pitchFamily="18" charset="0"/>
              </a:rPr>
              <a:t>Prioritize stakeholders </a:t>
            </a:r>
          </a:p>
          <a:p>
            <a:r>
              <a:rPr lang="en-US" dirty="0">
                <a:solidFill>
                  <a:schemeClr val="tx1"/>
                </a:solidFill>
                <a:latin typeface="Times New Roman" panose="02020603050405020304" pitchFamily="18" charset="0"/>
                <a:cs typeface="Times New Roman" panose="02020603050405020304" pitchFamily="18" charset="0"/>
              </a:rPr>
              <a:t>Develop communication plans </a:t>
            </a:r>
          </a:p>
          <a:p>
            <a:r>
              <a:rPr lang="en-US" dirty="0">
                <a:solidFill>
                  <a:schemeClr val="tx1"/>
                </a:solidFill>
                <a:latin typeface="Times New Roman" panose="02020603050405020304" pitchFamily="18" charset="0"/>
                <a:cs typeface="Times New Roman" panose="02020603050405020304" pitchFamily="18" charset="0"/>
              </a:rPr>
              <a:t>Engage and monitor stakeholders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1719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81E0C-9842-D10B-2615-CD167A7A934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What Isn’t Stakeholder Management?</a:t>
            </a:r>
          </a:p>
        </p:txBody>
      </p:sp>
      <p:sp>
        <p:nvSpPr>
          <p:cNvPr id="3" name="Content Placeholder 2">
            <a:extLst>
              <a:ext uri="{FF2B5EF4-FFF2-40B4-BE49-F238E27FC236}">
                <a16:creationId xmlns:a16="http://schemas.microsoft.com/office/drawing/2014/main" id="{149C0422-6658-B414-39AE-6B9092637B8C}"/>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Only communication</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It is more than just sending updates or emails. </a:t>
            </a:r>
          </a:p>
          <a:p>
            <a:r>
              <a:rPr lang="en-US" b="1" dirty="0">
                <a:solidFill>
                  <a:schemeClr val="tx1"/>
                </a:solidFill>
                <a:latin typeface="Times New Roman" panose="02020603050405020304" pitchFamily="18" charset="0"/>
                <a:cs typeface="Times New Roman" panose="02020603050405020304" pitchFamily="18" charset="0"/>
              </a:rPr>
              <a:t>Controlling people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It focuses on collaboration, not forcing decisions.</a:t>
            </a:r>
          </a:p>
          <a:p>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A one-time activity</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Stakeholder management is a continuous process throughout a project. </a:t>
            </a:r>
          </a:p>
          <a:p>
            <a:r>
              <a:rPr lang="en-US" b="1" dirty="0">
                <a:solidFill>
                  <a:schemeClr val="tx1"/>
                </a:solidFill>
                <a:latin typeface="Times New Roman" panose="02020603050405020304" pitchFamily="18" charset="0"/>
                <a:cs typeface="Times New Roman" panose="02020603050405020304" pitchFamily="18" charset="0"/>
              </a:rPr>
              <a:t>Ignoring stakeholder needs</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Good management involves understanding and addressing concerns.</a:t>
            </a:r>
          </a:p>
          <a:p>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Only the manager’s responsibility</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Team members also help maintain stakeholder relationships.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9760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2D1DF-E495-6FEB-16A1-E1D2AD32FAB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Benefits of Stakeholder Management</a:t>
            </a:r>
          </a:p>
        </p:txBody>
      </p:sp>
      <p:sp>
        <p:nvSpPr>
          <p:cNvPr id="3" name="Content Placeholder 2">
            <a:extLst>
              <a:ext uri="{FF2B5EF4-FFF2-40B4-BE49-F238E27FC236}">
                <a16:creationId xmlns:a16="http://schemas.microsoft.com/office/drawing/2014/main" id="{01F1ECBB-1AEC-45C8-D4BC-C8037CCC54E5}"/>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Better teamwork and collaboration </a:t>
            </a:r>
          </a:p>
          <a:p>
            <a:r>
              <a:rPr lang="en-US" dirty="0">
                <a:solidFill>
                  <a:schemeClr val="tx1"/>
                </a:solidFill>
                <a:latin typeface="Times New Roman" panose="02020603050405020304" pitchFamily="18" charset="0"/>
                <a:cs typeface="Times New Roman" panose="02020603050405020304" pitchFamily="18" charset="0"/>
              </a:rPr>
              <a:t>Improved project planning </a:t>
            </a:r>
          </a:p>
          <a:p>
            <a:r>
              <a:rPr lang="en-US" dirty="0">
                <a:solidFill>
                  <a:schemeClr val="tx1"/>
                </a:solidFill>
                <a:latin typeface="Times New Roman" panose="02020603050405020304" pitchFamily="18" charset="0"/>
                <a:cs typeface="Times New Roman" panose="02020603050405020304" pitchFamily="18" charset="0"/>
              </a:rPr>
              <a:t>Faster problem solving</a:t>
            </a:r>
          </a:p>
          <a:p>
            <a:r>
              <a:rPr lang="en-US" dirty="0">
                <a:solidFill>
                  <a:schemeClr val="tx1"/>
                </a:solidFill>
                <a:latin typeface="Times New Roman" panose="02020603050405020304" pitchFamily="18" charset="0"/>
                <a:cs typeface="Times New Roman" panose="02020603050405020304" pitchFamily="18" charset="0"/>
              </a:rPr>
              <a:t> Increased stakeholder support </a:t>
            </a:r>
          </a:p>
          <a:p>
            <a:r>
              <a:rPr lang="en-US" dirty="0">
                <a:solidFill>
                  <a:schemeClr val="tx1"/>
                </a:solidFill>
                <a:latin typeface="Times New Roman" panose="02020603050405020304" pitchFamily="18" charset="0"/>
                <a:cs typeface="Times New Roman" panose="02020603050405020304" pitchFamily="18" charset="0"/>
              </a:rPr>
              <a:t>Better organizational reputation </a:t>
            </a:r>
          </a:p>
          <a:p>
            <a:r>
              <a:rPr lang="en-US" dirty="0">
                <a:solidFill>
                  <a:schemeClr val="tx1"/>
                </a:solidFill>
                <a:latin typeface="Times New Roman" panose="02020603050405020304" pitchFamily="18" charset="0"/>
                <a:cs typeface="Times New Roman" panose="02020603050405020304" pitchFamily="18" charset="0"/>
              </a:rPr>
              <a:t>Reduced project failure risks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028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365C9-9F9D-3AB6-A411-41ACA028B4F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Challenges in Stakeholder Management</a:t>
            </a:r>
          </a:p>
        </p:txBody>
      </p:sp>
      <p:sp>
        <p:nvSpPr>
          <p:cNvPr id="3" name="Content Placeholder 2">
            <a:extLst>
              <a:ext uri="{FF2B5EF4-FFF2-40B4-BE49-F238E27FC236}">
                <a16:creationId xmlns:a16="http://schemas.microsoft.com/office/drawing/2014/main" id="{C6C2BACF-B6F3-884D-EFF3-6F36F88C5132}"/>
              </a:ext>
            </a:extLst>
          </p:cNvPr>
          <p:cNvSpPr>
            <a:spLocks noGrp="1"/>
          </p:cNvSpPr>
          <p:nvPr>
            <p:ph idx="1"/>
          </p:nvPr>
        </p:nvSpPr>
        <p:spPr>
          <a:xfrm>
            <a:off x="1534588" y="2037347"/>
            <a:ext cx="8595360" cy="4351337"/>
          </a:xfrm>
        </p:spPr>
        <p:txBody>
          <a:bodyPr/>
          <a:lstStyle/>
          <a:p>
            <a:r>
              <a:rPr lang="en-US" dirty="0">
                <a:solidFill>
                  <a:schemeClr val="tx1"/>
                </a:solidFill>
                <a:latin typeface="Times New Roman" panose="02020603050405020304" pitchFamily="18" charset="0"/>
                <a:cs typeface="Times New Roman" panose="02020603050405020304" pitchFamily="18" charset="0"/>
              </a:rPr>
              <a:t>Communication gaps </a:t>
            </a:r>
          </a:p>
          <a:p>
            <a:r>
              <a:rPr lang="en-US" dirty="0">
                <a:solidFill>
                  <a:schemeClr val="tx1"/>
                </a:solidFill>
                <a:latin typeface="Times New Roman" panose="02020603050405020304" pitchFamily="18" charset="0"/>
                <a:cs typeface="Times New Roman" panose="02020603050405020304" pitchFamily="18" charset="0"/>
              </a:rPr>
              <a:t>Conflicts of interest </a:t>
            </a:r>
          </a:p>
          <a:p>
            <a:r>
              <a:rPr lang="en-US" dirty="0">
                <a:solidFill>
                  <a:schemeClr val="tx1"/>
                </a:solidFill>
                <a:latin typeface="Times New Roman" panose="02020603050405020304" pitchFamily="18" charset="0"/>
                <a:cs typeface="Times New Roman" panose="02020603050405020304" pitchFamily="18" charset="0"/>
              </a:rPr>
              <a:t>Changing stakeholder expectations </a:t>
            </a:r>
          </a:p>
          <a:p>
            <a:r>
              <a:rPr lang="en-US" dirty="0">
                <a:solidFill>
                  <a:schemeClr val="tx1"/>
                </a:solidFill>
                <a:latin typeface="Times New Roman" panose="02020603050405020304" pitchFamily="18" charset="0"/>
                <a:cs typeface="Times New Roman" panose="02020603050405020304" pitchFamily="18" charset="0"/>
              </a:rPr>
              <a:t>Managing multiple stakeholders </a:t>
            </a:r>
          </a:p>
          <a:p>
            <a:r>
              <a:rPr lang="en-US" dirty="0">
                <a:solidFill>
                  <a:schemeClr val="tx1"/>
                </a:solidFill>
                <a:latin typeface="Times New Roman" panose="02020603050405020304" pitchFamily="18" charset="0"/>
                <a:cs typeface="Times New Roman" panose="02020603050405020304" pitchFamily="18" charset="0"/>
              </a:rPr>
              <a:t>Resistance to change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96448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9478-E64F-BEE8-46D7-60F7EF3FFD1F}"/>
              </a:ext>
            </a:extLst>
          </p:cNvPr>
          <p:cNvSpPr>
            <a:spLocks noGrp="1"/>
          </p:cNvSpPr>
          <p:nvPr>
            <p:ph type="ctrTitle"/>
          </p:nvPr>
        </p:nvSpPr>
        <p:spPr/>
        <p:txBody>
          <a:bodyPr>
            <a:normAutofit/>
          </a:bodyPr>
          <a:lstStyle/>
          <a:p>
            <a:r>
              <a:rPr lang="en-IN" dirty="0">
                <a:latin typeface="Times New Roman" panose="02020603050405020304" pitchFamily="18" charset="0"/>
                <a:cs typeface="Times New Roman" panose="02020603050405020304" pitchFamily="18" charset="0"/>
              </a:rPr>
              <a:t>4.Data vs. Information (2 units)</a:t>
            </a:r>
            <a:br>
              <a:rPr lang="en-IN" dirty="0"/>
            </a:br>
            <a:endParaRPr lang="en-IN" dirty="0"/>
          </a:p>
        </p:txBody>
      </p:sp>
    </p:spTree>
    <p:extLst>
      <p:ext uri="{BB962C8B-B14F-4D97-AF65-F5344CB8AC3E}">
        <p14:creationId xmlns:p14="http://schemas.microsoft.com/office/powerpoint/2010/main" val="2170102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F7BE-E343-8979-BAFE-EF7D24BAE9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r>
              <a:rPr lang="en-US" dirty="0"/>
              <a:t> </a:t>
            </a:r>
            <a:endParaRPr lang="en-IN" dirty="0"/>
          </a:p>
        </p:txBody>
      </p:sp>
      <p:sp>
        <p:nvSpPr>
          <p:cNvPr id="3" name="Content Placeholder 2">
            <a:extLst>
              <a:ext uri="{FF2B5EF4-FFF2-40B4-BE49-F238E27FC236}">
                <a16:creationId xmlns:a16="http://schemas.microsoft.com/office/drawing/2014/main" id="{7AB00474-0374-CD85-C883-0D7B0C315A2D}"/>
              </a:ext>
            </a:extLst>
          </p:cNvPr>
          <p:cNvSpPr>
            <a:spLocks noGrp="1"/>
          </p:cNvSpPr>
          <p:nvPr>
            <p:ph idx="1"/>
          </p:nvPr>
        </p:nvSpPr>
        <p:spPr/>
        <p:txBody>
          <a:bodyPr>
            <a:normAutofit/>
          </a:bodyPr>
          <a:lstStyle/>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Raw Data</a:t>
            </a:r>
            <a:endParaRPr lang="en-US"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Raw data is the original data collected from different sources. It is unorganized and not analyzed. Raw data may contain errors, duplicates, or unnecessary information. It needs processing before use.</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Processed Data</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Processed data is organized and analyzed data. </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It is converted into meaningful information. </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Data cleaning, filtering, and analysis are done before use. </a:t>
            </a:r>
          </a:p>
          <a:p>
            <a:pPr>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Easier to understand and use for decision-making.</a:t>
            </a:r>
          </a:p>
          <a:p>
            <a:endParaRPr lang="en-IN" dirty="0"/>
          </a:p>
        </p:txBody>
      </p:sp>
    </p:spTree>
    <p:extLst>
      <p:ext uri="{BB962C8B-B14F-4D97-AF65-F5344CB8AC3E}">
        <p14:creationId xmlns:p14="http://schemas.microsoft.com/office/powerpoint/2010/main" val="13898422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3D30-EB68-F02E-2A29-8380C1716B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Importance of Processing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10B68B-F00A-26B4-56BF-69F21504A03C}"/>
              </a:ext>
            </a:extLst>
          </p:cNvPr>
          <p:cNvSpPr>
            <a:spLocks noGrp="1"/>
          </p:cNvSpPr>
          <p:nvPr>
            <p:ph idx="1"/>
          </p:nvPr>
        </p:nvSpPr>
        <p:spPr/>
        <p:txBody>
          <a:bodyPr>
            <a:normAutofit/>
          </a:bodyPr>
          <a:lstStyle/>
          <a:p>
            <a:pPr algn="just"/>
            <a:r>
              <a:rPr lang="en-US" b="1" dirty="0">
                <a:solidFill>
                  <a:schemeClr val="tx1"/>
                </a:solidFill>
                <a:latin typeface="Times New Roman" panose="02020603050405020304" pitchFamily="18" charset="0"/>
                <a:cs typeface="Times New Roman" panose="02020603050405020304" pitchFamily="18" charset="0"/>
              </a:rPr>
              <a:t>Enhancing Data Quality</a:t>
            </a:r>
            <a:r>
              <a:rPr lang="en-US" dirty="0">
                <a:solidFill>
                  <a:schemeClr val="tx1"/>
                </a:solidFill>
                <a:latin typeface="Times New Roman" panose="02020603050405020304" pitchFamily="18" charset="0"/>
                <a:cs typeface="Times New Roman" panose="02020603050405020304" pitchFamily="18" charset="0"/>
              </a:rPr>
              <a:t>: Processing helps identify and correct errors, ensuring the accuracy of the data used for analysis.</a:t>
            </a:r>
          </a:p>
          <a:p>
            <a:pPr algn="just"/>
            <a:r>
              <a:rPr lang="en-US" b="1" dirty="0">
                <a:solidFill>
                  <a:schemeClr val="tx1"/>
                </a:solidFill>
                <a:latin typeface="Times New Roman" panose="02020603050405020304" pitchFamily="18" charset="0"/>
                <a:cs typeface="Times New Roman" panose="02020603050405020304" pitchFamily="18" charset="0"/>
              </a:rPr>
              <a:t>Improving Efficiency</a:t>
            </a:r>
            <a:r>
              <a:rPr lang="en-US" dirty="0">
                <a:solidFill>
                  <a:schemeClr val="tx1"/>
                </a:solidFill>
                <a:latin typeface="Times New Roman" panose="02020603050405020304" pitchFamily="18" charset="0"/>
                <a:cs typeface="Times New Roman" panose="02020603050405020304" pitchFamily="18" charset="0"/>
              </a:rPr>
              <a:t>: Cleaned and organized data allows for faster analysis and reporting, saving time and resources.</a:t>
            </a:r>
          </a:p>
          <a:p>
            <a:pPr algn="just"/>
            <a:r>
              <a:rPr lang="en-US" b="1" dirty="0">
                <a:solidFill>
                  <a:schemeClr val="tx1"/>
                </a:solidFill>
                <a:latin typeface="Times New Roman" panose="02020603050405020304" pitchFamily="18" charset="0"/>
                <a:cs typeface="Times New Roman" panose="02020603050405020304" pitchFamily="18" charset="0"/>
              </a:rPr>
              <a:t>Facilitating Decision-Making</a:t>
            </a:r>
            <a:r>
              <a:rPr lang="en-US" dirty="0">
                <a:solidFill>
                  <a:schemeClr val="tx1"/>
                </a:solidFill>
                <a:latin typeface="Times New Roman" panose="02020603050405020304" pitchFamily="18" charset="0"/>
                <a:cs typeface="Times New Roman" panose="02020603050405020304" pitchFamily="18" charset="0"/>
              </a:rPr>
              <a:t>: Processed data provides actionable insights that inform strategic decisions, enabling organizations to respond effectively to trends and changes.</a:t>
            </a:r>
          </a:p>
          <a:p>
            <a:pPr algn="just"/>
            <a:r>
              <a:rPr lang="en-US" b="1" dirty="0">
                <a:solidFill>
                  <a:schemeClr val="tx1"/>
                </a:solidFill>
                <a:latin typeface="Times New Roman" panose="02020603050405020304" pitchFamily="18" charset="0"/>
                <a:cs typeface="Times New Roman" panose="02020603050405020304" pitchFamily="18" charset="0"/>
              </a:rPr>
              <a:t>Compliance and Reporting</a:t>
            </a:r>
            <a:r>
              <a:rPr lang="en-US" dirty="0">
                <a:solidFill>
                  <a:schemeClr val="tx1"/>
                </a:solidFill>
                <a:latin typeface="Times New Roman" panose="02020603050405020304" pitchFamily="18" charset="0"/>
                <a:cs typeface="Times New Roman" panose="02020603050405020304" pitchFamily="18" charset="0"/>
              </a:rPr>
              <a:t>: Many industries require the use of processed data for compliance and regulatory reporting purposes.</a:t>
            </a:r>
          </a:p>
          <a:p>
            <a:endParaRPr lang="en-IN" dirty="0"/>
          </a:p>
        </p:txBody>
      </p:sp>
    </p:spTree>
    <p:extLst>
      <p:ext uri="{BB962C8B-B14F-4D97-AF65-F5344CB8AC3E}">
        <p14:creationId xmlns:p14="http://schemas.microsoft.com/office/powerpoint/2010/main" val="30100111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A992-637E-A773-67F4-80440EAE5927}"/>
              </a:ext>
            </a:extLst>
          </p:cNvPr>
          <p:cNvSpPr>
            <a:spLocks noGrp="1"/>
          </p:cNvSpPr>
          <p:nvPr>
            <p:ph type="title"/>
          </p:nvPr>
        </p:nvSpPr>
        <p:spPr>
          <a:xfrm>
            <a:off x="1261872" y="294198"/>
            <a:ext cx="9692640" cy="989170"/>
          </a:xfrm>
        </p:spPr>
        <p:txBody>
          <a:bodyPr/>
          <a:lstStyle/>
          <a:p>
            <a:r>
              <a:rPr lang="en-IN" dirty="0">
                <a:latin typeface="Times New Roman" panose="02020603050405020304" pitchFamily="18" charset="0"/>
                <a:cs typeface="Times New Roman" panose="02020603050405020304" pitchFamily="18" charset="0"/>
              </a:rPr>
              <a:t>Raw Data vs Processed Data</a:t>
            </a:r>
          </a:p>
        </p:txBody>
      </p:sp>
      <p:sp>
        <p:nvSpPr>
          <p:cNvPr id="3" name="Content Placeholder 2">
            <a:extLst>
              <a:ext uri="{FF2B5EF4-FFF2-40B4-BE49-F238E27FC236}">
                <a16:creationId xmlns:a16="http://schemas.microsoft.com/office/drawing/2014/main" id="{F66E4BA9-6CE2-BF81-4558-47FEC71E94F8}"/>
              </a:ext>
            </a:extLst>
          </p:cNvPr>
          <p:cNvSpPr>
            <a:spLocks noGrp="1"/>
          </p:cNvSpPr>
          <p:nvPr>
            <p:ph idx="1"/>
          </p:nvPr>
        </p:nvSpPr>
        <p:spPr>
          <a:xfrm>
            <a:off x="1374167" y="1534602"/>
            <a:ext cx="8595360" cy="5029200"/>
          </a:xfrm>
        </p:spPr>
        <p:txBody>
          <a:bodyPr>
            <a:normAutofit/>
          </a:bodyPr>
          <a:lstStyle/>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Raw Data</a:t>
            </a:r>
          </a:p>
          <a:p>
            <a:pPr algn="just"/>
            <a:r>
              <a:rPr lang="en-US" dirty="0">
                <a:solidFill>
                  <a:schemeClr val="tx1"/>
                </a:solidFill>
                <a:latin typeface="Times New Roman" panose="02020603050405020304" pitchFamily="18" charset="0"/>
                <a:cs typeface="Times New Roman" panose="02020603050405020304" pitchFamily="18" charset="0"/>
              </a:rPr>
              <a:t>Original and unorganized </a:t>
            </a:r>
          </a:p>
          <a:p>
            <a:pPr algn="just"/>
            <a:r>
              <a:rPr lang="en-US" dirty="0">
                <a:solidFill>
                  <a:schemeClr val="tx1"/>
                </a:solidFill>
                <a:latin typeface="Times New Roman" panose="02020603050405020304" pitchFamily="18" charset="0"/>
                <a:cs typeface="Times New Roman" panose="02020603050405020304" pitchFamily="18" charset="0"/>
              </a:rPr>
              <a:t>Difficult to analyze </a:t>
            </a:r>
          </a:p>
          <a:p>
            <a:pPr algn="just"/>
            <a:r>
              <a:rPr lang="en-US" dirty="0">
                <a:solidFill>
                  <a:schemeClr val="tx1"/>
                </a:solidFill>
                <a:latin typeface="Times New Roman" panose="02020603050405020304" pitchFamily="18" charset="0"/>
                <a:cs typeface="Times New Roman" panose="02020603050405020304" pitchFamily="18" charset="0"/>
              </a:rPr>
              <a:t>Contains errors and duplicates </a:t>
            </a:r>
          </a:p>
          <a:p>
            <a:pPr algn="just"/>
            <a:r>
              <a:rPr lang="en-US" dirty="0">
                <a:solidFill>
                  <a:schemeClr val="tx1"/>
                </a:solidFill>
                <a:latin typeface="Times New Roman" panose="02020603050405020304" pitchFamily="18" charset="0"/>
                <a:cs typeface="Times New Roman" panose="02020603050405020304" pitchFamily="18" charset="0"/>
              </a:rPr>
              <a:t>Needs processing </a:t>
            </a:r>
          </a:p>
          <a:p>
            <a:pPr algn="just">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Processed Data</a:t>
            </a:r>
          </a:p>
          <a:p>
            <a:pPr algn="just"/>
            <a:r>
              <a:rPr lang="en-US" dirty="0">
                <a:solidFill>
                  <a:schemeClr val="tx1"/>
                </a:solidFill>
                <a:latin typeface="Times New Roman" panose="02020603050405020304" pitchFamily="18" charset="0"/>
                <a:cs typeface="Times New Roman" panose="02020603050405020304" pitchFamily="18" charset="0"/>
              </a:rPr>
              <a:t>Organized and meaningful </a:t>
            </a:r>
          </a:p>
          <a:p>
            <a:pPr algn="just"/>
            <a:r>
              <a:rPr lang="en-US" dirty="0">
                <a:solidFill>
                  <a:schemeClr val="tx1"/>
                </a:solidFill>
                <a:latin typeface="Times New Roman" panose="02020603050405020304" pitchFamily="18" charset="0"/>
                <a:cs typeface="Times New Roman" panose="02020603050405020304" pitchFamily="18" charset="0"/>
              </a:rPr>
              <a:t>Easy to analyze </a:t>
            </a:r>
          </a:p>
          <a:p>
            <a:pPr algn="just"/>
            <a:r>
              <a:rPr lang="en-US" dirty="0">
                <a:solidFill>
                  <a:schemeClr val="tx1"/>
                </a:solidFill>
                <a:latin typeface="Times New Roman" panose="02020603050405020304" pitchFamily="18" charset="0"/>
                <a:cs typeface="Times New Roman" panose="02020603050405020304" pitchFamily="18" charset="0"/>
              </a:rPr>
              <a:t>More accurate and useful </a:t>
            </a:r>
          </a:p>
          <a:p>
            <a:pPr algn="just"/>
            <a:r>
              <a:rPr lang="en-US" dirty="0">
                <a:solidFill>
                  <a:schemeClr val="tx1"/>
                </a:solidFill>
                <a:latin typeface="Times New Roman" panose="02020603050405020304" pitchFamily="18" charset="0"/>
                <a:cs typeface="Times New Roman" panose="02020603050405020304" pitchFamily="18" charset="0"/>
              </a:rPr>
              <a:t>Ready for reporting and decisions</a:t>
            </a:r>
          </a:p>
          <a:p>
            <a:endParaRPr lang="en-IN" dirty="0"/>
          </a:p>
        </p:txBody>
      </p:sp>
    </p:spTree>
    <p:extLst>
      <p:ext uri="{BB962C8B-B14F-4D97-AF65-F5344CB8AC3E}">
        <p14:creationId xmlns:p14="http://schemas.microsoft.com/office/powerpoint/2010/main" val="19125447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0E90F-B0F8-D051-A110-D59E24EA9DA4}"/>
              </a:ext>
            </a:extLst>
          </p:cNvPr>
          <p:cNvSpPr>
            <a:spLocks noGrp="1"/>
          </p:cNvSpPr>
          <p:nvPr>
            <p:ph type="title"/>
          </p:nvPr>
        </p:nvSpPr>
        <p:spPr>
          <a:xfrm>
            <a:off x="1261872" y="294198"/>
            <a:ext cx="9692640" cy="1117507"/>
          </a:xfrm>
        </p:spPr>
        <p:txBody>
          <a:bodyPr/>
          <a:lstStyle/>
          <a:p>
            <a:r>
              <a:rPr lang="en-IN" dirty="0">
                <a:latin typeface="Times New Roman" panose="02020603050405020304" pitchFamily="18" charset="0"/>
                <a:cs typeface="Times New Roman" panose="02020603050405020304" pitchFamily="18" charset="0"/>
              </a:rPr>
              <a:t>Importance of Knowledge Management</a:t>
            </a:r>
          </a:p>
        </p:txBody>
      </p:sp>
      <p:sp>
        <p:nvSpPr>
          <p:cNvPr id="3" name="Content Placeholder 2">
            <a:extLst>
              <a:ext uri="{FF2B5EF4-FFF2-40B4-BE49-F238E27FC236}">
                <a16:creationId xmlns:a16="http://schemas.microsoft.com/office/drawing/2014/main" id="{09EE3A57-6A1C-8B20-5B10-EDEF79C4F6F0}"/>
              </a:ext>
            </a:extLst>
          </p:cNvPr>
          <p:cNvSpPr>
            <a:spLocks noGrp="1"/>
          </p:cNvSpPr>
          <p:nvPr>
            <p:ph idx="1"/>
          </p:nvPr>
        </p:nvSpPr>
        <p:spPr>
          <a:xfrm>
            <a:off x="1261872" y="1828800"/>
            <a:ext cx="8595360" cy="5029200"/>
          </a:xfrm>
        </p:spPr>
        <p:txBody>
          <a:bodyPr>
            <a:normAutofit/>
          </a:bodyPr>
          <a:lstStyle/>
          <a:p>
            <a:pPr algn="just"/>
            <a:r>
              <a:rPr lang="en-US" dirty="0">
                <a:solidFill>
                  <a:schemeClr val="tx1"/>
                </a:solidFill>
                <a:latin typeface="Times New Roman" panose="02020603050405020304" pitchFamily="18" charset="0"/>
                <a:cs typeface="Times New Roman" panose="02020603050405020304" pitchFamily="18" charset="0"/>
              </a:rPr>
              <a:t>Organizations collect huge amounts of information every day.</a:t>
            </a:r>
          </a:p>
          <a:p>
            <a:pPr algn="just"/>
            <a:r>
              <a:rPr lang="en-US" dirty="0">
                <a:solidFill>
                  <a:schemeClr val="tx1"/>
                </a:solidFill>
                <a:latin typeface="Times New Roman" panose="02020603050405020304" pitchFamily="18" charset="0"/>
                <a:cs typeface="Times New Roman" panose="02020603050405020304" pitchFamily="18" charset="0"/>
              </a:rPr>
              <a:t> Raw information becomes valuable only when it is organized and used properly. </a:t>
            </a:r>
          </a:p>
          <a:p>
            <a:pPr algn="just"/>
            <a:r>
              <a:rPr lang="en-US" dirty="0">
                <a:solidFill>
                  <a:schemeClr val="tx1"/>
                </a:solidFill>
                <a:latin typeface="Times New Roman" panose="02020603050405020304" pitchFamily="18" charset="0"/>
                <a:cs typeface="Times New Roman" panose="02020603050405020304" pitchFamily="18" charset="0"/>
              </a:rPr>
              <a:t>Knowledge helps businesses make better decisions and improve performance. </a:t>
            </a:r>
          </a:p>
          <a:p>
            <a:pPr algn="just"/>
            <a:r>
              <a:rPr lang="en-US" dirty="0">
                <a:solidFill>
                  <a:schemeClr val="tx1"/>
                </a:solidFill>
                <a:latin typeface="Times New Roman" panose="02020603050405020304" pitchFamily="18" charset="0"/>
                <a:cs typeface="Times New Roman" panose="02020603050405020304" pitchFamily="18" charset="0"/>
              </a:rPr>
              <a:t>Information management improves access, sharing, and understanding of data</a:t>
            </a:r>
          </a:p>
          <a:p>
            <a:pPr algn="just"/>
            <a:r>
              <a:rPr lang="en-US" dirty="0">
                <a:solidFill>
                  <a:schemeClr val="tx1"/>
                </a:solidFill>
                <a:latin typeface="Times New Roman" panose="02020603050405020304" pitchFamily="18" charset="0"/>
                <a:cs typeface="Times New Roman" panose="02020603050405020304" pitchFamily="18" charset="0"/>
              </a:rPr>
              <a:t>Improves business efficiency </a:t>
            </a:r>
          </a:p>
          <a:p>
            <a:pPr algn="just"/>
            <a:r>
              <a:rPr lang="en-US" dirty="0">
                <a:solidFill>
                  <a:schemeClr val="tx1"/>
                </a:solidFill>
                <a:latin typeface="Times New Roman" panose="02020603050405020304" pitchFamily="18" charset="0"/>
                <a:cs typeface="Times New Roman" panose="02020603050405020304" pitchFamily="18" charset="0"/>
              </a:rPr>
              <a:t>Supports better decision-making </a:t>
            </a:r>
          </a:p>
          <a:p>
            <a:pPr algn="just"/>
            <a:r>
              <a:rPr lang="en-US" dirty="0">
                <a:solidFill>
                  <a:schemeClr val="tx1"/>
                </a:solidFill>
                <a:latin typeface="Times New Roman" panose="02020603050405020304" pitchFamily="18" charset="0"/>
                <a:cs typeface="Times New Roman" panose="02020603050405020304" pitchFamily="18" charset="0"/>
              </a:rPr>
              <a:t>Enhances collaboration and communication</a:t>
            </a:r>
          </a:p>
          <a:p>
            <a:pPr algn="just"/>
            <a:r>
              <a:rPr lang="en-US" dirty="0">
                <a:solidFill>
                  <a:schemeClr val="tx1"/>
                </a:solidFill>
                <a:latin typeface="Times New Roman" panose="02020603050405020304" pitchFamily="18" charset="0"/>
                <a:cs typeface="Times New Roman" panose="02020603050405020304" pitchFamily="18" charset="0"/>
              </a:rPr>
              <a:t> Helps employees access the right information quickly </a:t>
            </a:r>
          </a:p>
          <a:p>
            <a:pPr algn="just"/>
            <a:r>
              <a:rPr lang="en-US" dirty="0">
                <a:solidFill>
                  <a:schemeClr val="tx1"/>
                </a:solidFill>
                <a:latin typeface="Times New Roman" panose="02020603050405020304" pitchFamily="18" charset="0"/>
                <a:cs typeface="Times New Roman" panose="02020603050405020304" pitchFamily="18" charset="0"/>
              </a:rPr>
              <a:t>Supports digital transformation and innovation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5253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E67A1-1C1A-BF1A-F509-C679995E61A0}"/>
              </a:ext>
            </a:extLst>
          </p:cNvPr>
          <p:cNvSpPr>
            <a:spLocks noGrp="1"/>
          </p:cNvSpPr>
          <p:nvPr>
            <p:ph type="title"/>
          </p:nvPr>
        </p:nvSpPr>
        <p:spPr>
          <a:xfrm>
            <a:off x="1261872" y="486703"/>
            <a:ext cx="9692640" cy="1397124"/>
          </a:xfrm>
        </p:spPr>
        <p:txBody>
          <a:bodyPr/>
          <a:lstStyle/>
          <a:p>
            <a:r>
              <a:rPr lang="en-US" dirty="0">
                <a:latin typeface="Times New Roman" panose="02020603050405020304" pitchFamily="18" charset="0"/>
                <a:cs typeface="Times New Roman" panose="02020603050405020304" pitchFamily="18" charset="0"/>
              </a:rPr>
              <a:t>Steps to Transform Information into Knowledge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A77649-7FAB-A686-BB17-B958269B090F}"/>
              </a:ext>
            </a:extLst>
          </p:cNvPr>
          <p:cNvSpPr>
            <a:spLocks noGrp="1"/>
          </p:cNvSpPr>
          <p:nvPr>
            <p:ph idx="1"/>
          </p:nvPr>
        </p:nvSpPr>
        <p:spPr>
          <a:xfrm>
            <a:off x="1261872" y="2212465"/>
            <a:ext cx="8595360" cy="4351337"/>
          </a:xfrm>
        </p:spPr>
        <p:txBody>
          <a:bodyPr/>
          <a:lstStyle/>
          <a:p>
            <a:pPr algn="just"/>
            <a:r>
              <a:rPr lang="en-US" dirty="0">
                <a:solidFill>
                  <a:schemeClr val="tx1"/>
                </a:solidFill>
                <a:latin typeface="Times New Roman" panose="02020603050405020304" pitchFamily="18" charset="0"/>
                <a:cs typeface="Times New Roman" panose="02020603050405020304" pitchFamily="18" charset="0"/>
              </a:rPr>
              <a:t>Focus on important business processes </a:t>
            </a:r>
          </a:p>
          <a:p>
            <a:pPr algn="just"/>
            <a:r>
              <a:rPr lang="en-US" dirty="0">
                <a:solidFill>
                  <a:schemeClr val="tx1"/>
                </a:solidFill>
                <a:latin typeface="Times New Roman" panose="02020603050405020304" pitchFamily="18" charset="0"/>
                <a:cs typeface="Times New Roman" panose="02020603050405020304" pitchFamily="18" charset="0"/>
              </a:rPr>
              <a:t>Create common business language </a:t>
            </a:r>
          </a:p>
          <a:p>
            <a:pPr algn="just"/>
            <a:r>
              <a:rPr lang="en-US" dirty="0">
                <a:solidFill>
                  <a:schemeClr val="tx1"/>
                </a:solidFill>
                <a:latin typeface="Times New Roman" panose="02020603050405020304" pitchFamily="18" charset="0"/>
                <a:cs typeface="Times New Roman" panose="02020603050405020304" pitchFamily="18" charset="0"/>
              </a:rPr>
              <a:t>Integrate information into systems and tools </a:t>
            </a:r>
          </a:p>
          <a:p>
            <a:pPr algn="just"/>
            <a:r>
              <a:rPr lang="en-US" dirty="0">
                <a:solidFill>
                  <a:schemeClr val="tx1"/>
                </a:solidFill>
                <a:latin typeface="Times New Roman" panose="02020603050405020304" pitchFamily="18" charset="0"/>
                <a:cs typeface="Times New Roman" panose="02020603050405020304" pitchFamily="18" charset="0"/>
              </a:rPr>
              <a:t>Develop governance and management processes</a:t>
            </a:r>
          </a:p>
          <a:p>
            <a:pPr algn="just"/>
            <a:r>
              <a:rPr lang="en-US" dirty="0">
                <a:solidFill>
                  <a:schemeClr val="tx1"/>
                </a:solidFill>
                <a:latin typeface="Times New Roman" panose="02020603050405020304" pitchFamily="18" charset="0"/>
                <a:cs typeface="Times New Roman" panose="02020603050405020304" pitchFamily="18" charset="0"/>
              </a:rPr>
              <a:t> Improve information organization and quality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7420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2C87-B905-20B5-3517-4CDF5D89655D}"/>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Benefits</a:t>
            </a:r>
            <a:br>
              <a:rPr lang="en-US" dirty="0"/>
            </a:br>
            <a:endParaRPr lang="en-IN" dirty="0"/>
          </a:p>
        </p:txBody>
      </p:sp>
      <p:sp>
        <p:nvSpPr>
          <p:cNvPr id="3" name="Content Placeholder 2">
            <a:extLst>
              <a:ext uri="{FF2B5EF4-FFF2-40B4-BE49-F238E27FC236}">
                <a16:creationId xmlns:a16="http://schemas.microsoft.com/office/drawing/2014/main" id="{9E00A253-1031-1E39-7C42-3976B9603A5B}"/>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Faster access to information </a:t>
            </a:r>
          </a:p>
          <a:p>
            <a:r>
              <a:rPr lang="en-US" dirty="0">
                <a:solidFill>
                  <a:schemeClr val="tx1"/>
                </a:solidFill>
                <a:latin typeface="Times New Roman" panose="02020603050405020304" pitchFamily="18" charset="0"/>
                <a:cs typeface="Times New Roman" panose="02020603050405020304" pitchFamily="18" charset="0"/>
              </a:rPr>
              <a:t>Better collaboration among teams </a:t>
            </a:r>
          </a:p>
          <a:p>
            <a:r>
              <a:rPr lang="en-US" dirty="0">
                <a:solidFill>
                  <a:schemeClr val="tx1"/>
                </a:solidFill>
                <a:latin typeface="Times New Roman" panose="02020603050405020304" pitchFamily="18" charset="0"/>
                <a:cs typeface="Times New Roman" panose="02020603050405020304" pitchFamily="18" charset="0"/>
              </a:rPr>
              <a:t>Improved customer service </a:t>
            </a:r>
          </a:p>
          <a:p>
            <a:r>
              <a:rPr lang="en-US" dirty="0">
                <a:solidFill>
                  <a:schemeClr val="tx1"/>
                </a:solidFill>
                <a:latin typeface="Times New Roman" panose="02020603050405020304" pitchFamily="18" charset="0"/>
                <a:cs typeface="Times New Roman" panose="02020603050405020304" pitchFamily="18" charset="0"/>
              </a:rPr>
              <a:t>Better decision-making and productivity </a:t>
            </a:r>
          </a:p>
          <a:p>
            <a:r>
              <a:rPr lang="en-US" dirty="0">
                <a:solidFill>
                  <a:schemeClr val="tx1"/>
                </a:solidFill>
                <a:latin typeface="Times New Roman" panose="02020603050405020304" pitchFamily="18" charset="0"/>
                <a:cs typeface="Times New Roman" panose="02020603050405020304" pitchFamily="18" charset="0"/>
              </a:rPr>
              <a:t>Increased business agility and innovation</a:t>
            </a:r>
          </a:p>
          <a:p>
            <a:endParaRPr lang="en-IN" dirty="0"/>
          </a:p>
        </p:txBody>
      </p:sp>
    </p:spTree>
    <p:extLst>
      <p:ext uri="{BB962C8B-B14F-4D97-AF65-F5344CB8AC3E}">
        <p14:creationId xmlns:p14="http://schemas.microsoft.com/office/powerpoint/2010/main" val="33116315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E3504-20EF-5784-A045-2DFECB40D9BA}"/>
              </a:ext>
            </a:extLst>
          </p:cNvPr>
          <p:cNvSpPr>
            <a:spLocks noGrp="1"/>
          </p:cNvSpPr>
          <p:nvPr>
            <p:ph type="title"/>
          </p:nvPr>
        </p:nvSpPr>
        <p:spPr>
          <a:xfrm>
            <a:off x="1261872" y="903798"/>
            <a:ext cx="9692640" cy="1397124"/>
          </a:xfrm>
        </p:spPr>
        <p:txBody>
          <a:bodyPr/>
          <a:lstStyle/>
          <a:p>
            <a:r>
              <a:rPr lang="en-US" dirty="0"/>
              <a:t>Challenges</a:t>
            </a:r>
            <a:br>
              <a:rPr lang="en-US" dirty="0"/>
            </a:br>
            <a:endParaRPr lang="en-IN" dirty="0"/>
          </a:p>
        </p:txBody>
      </p:sp>
      <p:sp>
        <p:nvSpPr>
          <p:cNvPr id="3" name="Content Placeholder 2">
            <a:extLst>
              <a:ext uri="{FF2B5EF4-FFF2-40B4-BE49-F238E27FC236}">
                <a16:creationId xmlns:a16="http://schemas.microsoft.com/office/drawing/2014/main" id="{7BDBC7BC-F6A7-9C33-7847-E5209BF55F2F}"/>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Large amount of unstructured data </a:t>
            </a:r>
          </a:p>
          <a:p>
            <a:r>
              <a:rPr lang="en-US" dirty="0">
                <a:solidFill>
                  <a:schemeClr val="tx1"/>
                </a:solidFill>
                <a:latin typeface="Times New Roman" panose="02020603050405020304" pitchFamily="18" charset="0"/>
                <a:cs typeface="Times New Roman" panose="02020603050405020304" pitchFamily="18" charset="0"/>
              </a:rPr>
              <a:t>Poor information organization </a:t>
            </a:r>
          </a:p>
          <a:p>
            <a:r>
              <a:rPr lang="en-US" dirty="0">
                <a:solidFill>
                  <a:schemeClr val="tx1"/>
                </a:solidFill>
                <a:latin typeface="Times New Roman" panose="02020603050405020304" pitchFamily="18" charset="0"/>
                <a:cs typeface="Times New Roman" panose="02020603050405020304" pitchFamily="18" charset="0"/>
              </a:rPr>
              <a:t>Lack of governance and standards </a:t>
            </a:r>
          </a:p>
          <a:p>
            <a:r>
              <a:rPr lang="en-US" dirty="0">
                <a:solidFill>
                  <a:schemeClr val="tx1"/>
                </a:solidFill>
                <a:latin typeface="Times New Roman" panose="02020603050405020304" pitchFamily="18" charset="0"/>
                <a:cs typeface="Times New Roman" panose="02020603050405020304" pitchFamily="18" charset="0"/>
              </a:rPr>
              <a:t>Difficulty integrating systems </a:t>
            </a:r>
          </a:p>
          <a:p>
            <a:r>
              <a:rPr lang="en-US" dirty="0">
                <a:solidFill>
                  <a:schemeClr val="tx1"/>
                </a:solidFill>
                <a:latin typeface="Times New Roman" panose="02020603050405020304" pitchFamily="18" charset="0"/>
                <a:cs typeface="Times New Roman" panose="02020603050405020304" pitchFamily="18" charset="0"/>
              </a:rPr>
              <a:t>Maintaining updated and accurate content</a:t>
            </a:r>
          </a:p>
          <a:p>
            <a:endParaRPr lang="en-IN" dirty="0"/>
          </a:p>
        </p:txBody>
      </p:sp>
    </p:spTree>
    <p:extLst>
      <p:ext uri="{BB962C8B-B14F-4D97-AF65-F5344CB8AC3E}">
        <p14:creationId xmlns:p14="http://schemas.microsoft.com/office/powerpoint/2010/main" val="23697649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0E5D9-7570-09DD-42FA-505A0C31536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Importance of Information for Decision Making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75906B-E754-0DBD-3DF7-C3D4DF8B4CCA}"/>
              </a:ext>
            </a:extLst>
          </p:cNvPr>
          <p:cNvSpPr>
            <a:spLocks noGrp="1"/>
          </p:cNvSpPr>
          <p:nvPr>
            <p:ph idx="1"/>
          </p:nvPr>
        </p:nvSpPr>
        <p:spPr>
          <a:xfrm>
            <a:off x="1261871" y="1828800"/>
            <a:ext cx="9807181" cy="502920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Risk Management:</a:t>
            </a:r>
          </a:p>
          <a:p>
            <a:pPr marL="0" indent="0">
              <a:buNone/>
            </a:pPr>
            <a:r>
              <a:rPr lang="en-US" dirty="0">
                <a:solidFill>
                  <a:schemeClr val="tx1"/>
                </a:solidFill>
                <a:latin typeface="Times New Roman" panose="02020603050405020304" pitchFamily="18" charset="0"/>
                <a:cs typeface="Times New Roman" panose="02020603050405020304" pitchFamily="18" charset="0"/>
              </a:rPr>
              <a:t>Informed decisions allow for better risk assessment and management. Decision-makers can anticipate potential challenges and implement strategies to mitigate risks.</a:t>
            </a:r>
          </a:p>
          <a:p>
            <a:r>
              <a:rPr lang="en-US" b="1" dirty="0">
                <a:solidFill>
                  <a:schemeClr val="tx1"/>
                </a:solidFill>
                <a:latin typeface="Times New Roman" panose="02020603050405020304" pitchFamily="18" charset="0"/>
                <a:cs typeface="Times New Roman" panose="02020603050405020304" pitchFamily="18" charset="0"/>
              </a:rPr>
              <a:t>Market Analysis:</a:t>
            </a:r>
          </a:p>
          <a:p>
            <a:pPr marL="0" indent="0">
              <a:buNone/>
            </a:pPr>
            <a:r>
              <a:rPr lang="en-US" dirty="0">
                <a:solidFill>
                  <a:schemeClr val="tx1"/>
                </a:solidFill>
                <a:latin typeface="Times New Roman" panose="02020603050405020304" pitchFamily="18" charset="0"/>
                <a:cs typeface="Times New Roman" panose="02020603050405020304" pitchFamily="18" charset="0"/>
              </a:rPr>
              <a:t>Accurate and timely information about market trends, consumer preferences, and competitor actions is essential for firms to make informed decisions about pricing, production, and marketing strategies.</a:t>
            </a:r>
          </a:p>
          <a:p>
            <a:r>
              <a:rPr lang="en-US" b="1" dirty="0">
                <a:solidFill>
                  <a:schemeClr val="tx1"/>
                </a:solidFill>
                <a:latin typeface="Times New Roman" panose="02020603050405020304" pitchFamily="18" charset="0"/>
                <a:cs typeface="Times New Roman" panose="02020603050405020304" pitchFamily="18" charset="0"/>
              </a:rPr>
              <a:t>Policy Formulation:</a:t>
            </a:r>
            <a:endParaRPr lang="en-US" sz="18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2000" dirty="0">
                <a:solidFill>
                  <a:schemeClr val="tx1"/>
                </a:solidFill>
                <a:latin typeface="Times New Roman" panose="02020603050405020304" pitchFamily="18" charset="0"/>
                <a:cs typeface="Times New Roman" panose="02020603050405020304" pitchFamily="18" charset="0"/>
              </a:rPr>
              <a:t>Governments rely on information to formulate effective economic policies. Data on unemployment rates, inflation, and GDP growth are crucial for designing policies that promote economic stability.</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6641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06722-ABDE-DD3D-40F4-A032AD8B0879}"/>
              </a:ext>
            </a:extLst>
          </p:cNvPr>
          <p:cNvSpPr>
            <a:spLocks noGrp="1"/>
          </p:cNvSpPr>
          <p:nvPr>
            <p:ph type="title"/>
          </p:nvPr>
        </p:nvSpPr>
        <p:spPr>
          <a:xfrm>
            <a:off x="1261872" y="431676"/>
            <a:ext cx="9692640" cy="1397124"/>
          </a:xfrm>
        </p:spPr>
        <p:txBody>
          <a:bodyPr>
            <a:normAutofit/>
          </a:bodyPr>
          <a:lstStyle/>
          <a:p>
            <a:r>
              <a:rPr lang="en-US" dirty="0">
                <a:latin typeface="Times New Roman" panose="02020603050405020304" pitchFamily="18" charset="0"/>
                <a:cs typeface="Times New Roman" panose="02020603050405020304" pitchFamily="18" charset="0"/>
              </a:rPr>
              <a:t>Challenges in Information Gathering</a:t>
            </a:r>
            <a:br>
              <a:rPr lang="en-US" dirty="0"/>
            </a:br>
            <a:endParaRPr lang="en-IN" dirty="0"/>
          </a:p>
        </p:txBody>
      </p:sp>
      <p:sp>
        <p:nvSpPr>
          <p:cNvPr id="3" name="Content Placeholder 2">
            <a:extLst>
              <a:ext uri="{FF2B5EF4-FFF2-40B4-BE49-F238E27FC236}">
                <a16:creationId xmlns:a16="http://schemas.microsoft.com/office/drawing/2014/main" id="{DD4074A4-1844-D77F-7521-F43346E76E07}"/>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Information Costs:</a:t>
            </a:r>
          </a:p>
          <a:p>
            <a:pPr marL="0" indent="0">
              <a:buNone/>
            </a:pPr>
            <a:r>
              <a:rPr lang="en-US" dirty="0">
                <a:solidFill>
                  <a:schemeClr val="tx1"/>
                </a:solidFill>
                <a:latin typeface="Times New Roman" panose="02020603050405020304" pitchFamily="18" charset="0"/>
                <a:cs typeface="Times New Roman" panose="02020603050405020304" pitchFamily="18" charset="0"/>
              </a:rPr>
              <a:t>Gathering and processing information incur costs, and decision-makers need to weigh these costs against the benefits of having more accurate and timely information.</a:t>
            </a:r>
          </a:p>
          <a:p>
            <a:r>
              <a:rPr lang="en-US" b="1" dirty="0">
                <a:solidFill>
                  <a:schemeClr val="tx1"/>
                </a:solidFill>
                <a:latin typeface="Times New Roman" panose="02020603050405020304" pitchFamily="18" charset="0"/>
                <a:cs typeface="Times New Roman" panose="02020603050405020304" pitchFamily="18" charset="0"/>
              </a:rPr>
              <a:t>Incomplete Information:</a:t>
            </a:r>
          </a:p>
          <a:p>
            <a:pPr marL="0" indent="0">
              <a:buNone/>
            </a:pPr>
            <a:r>
              <a:rPr lang="en-US" dirty="0">
                <a:solidFill>
                  <a:schemeClr val="tx1"/>
                </a:solidFill>
                <a:latin typeface="Times New Roman" panose="02020603050405020304" pitchFamily="18" charset="0"/>
                <a:cs typeface="Times New Roman" panose="02020603050405020304" pitchFamily="18" charset="0"/>
              </a:rPr>
              <a:t>In some cases, decision-makers may face incomplete information, making it challenging to make optimal choices. This is particularly relevant in dynamic and uncertain environments.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4853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42369-150F-DC4B-3BB8-3273F0EF1FC9}"/>
              </a:ext>
            </a:extLst>
          </p:cNvPr>
          <p:cNvSpPr>
            <a:spLocks noGrp="1"/>
          </p:cNvSpPr>
          <p:nvPr>
            <p:ph type="title"/>
          </p:nvPr>
        </p:nvSpPr>
        <p:spPr>
          <a:xfrm>
            <a:off x="1261871" y="545433"/>
            <a:ext cx="9692640" cy="1283368"/>
          </a:xfrm>
        </p:spPr>
        <p:txBody>
          <a:bodyPr>
            <a:normAutofit fontScale="90000"/>
          </a:bodyPr>
          <a:lstStyle/>
          <a:p>
            <a:r>
              <a:rPr lang="en-US" dirty="0">
                <a:latin typeface="Times New Roman" panose="02020603050405020304" pitchFamily="18" charset="0"/>
                <a:cs typeface="Times New Roman" panose="02020603050405020304" pitchFamily="18" charset="0"/>
              </a:rPr>
              <a:t>The Significance of Asymmetric Information</a:t>
            </a:r>
            <a:br>
              <a:rPr lang="en-US" dirty="0"/>
            </a:br>
            <a:endParaRPr lang="en-IN" dirty="0"/>
          </a:p>
        </p:txBody>
      </p:sp>
      <p:sp>
        <p:nvSpPr>
          <p:cNvPr id="3" name="Content Placeholder 2">
            <a:extLst>
              <a:ext uri="{FF2B5EF4-FFF2-40B4-BE49-F238E27FC236}">
                <a16:creationId xmlns:a16="http://schemas.microsoft.com/office/drawing/2014/main" id="{E097048A-A7D3-7827-B996-D90B196B9176}"/>
              </a:ext>
            </a:extLst>
          </p:cNvPr>
          <p:cNvSpPr>
            <a:spLocks noGrp="1"/>
          </p:cNvSpPr>
          <p:nvPr>
            <p:ph idx="1"/>
          </p:nvPr>
        </p:nvSpPr>
        <p:spPr>
          <a:xfrm>
            <a:off x="1261871" y="1828800"/>
            <a:ext cx="9839265" cy="5029200"/>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Market Failure:</a:t>
            </a:r>
          </a:p>
          <a:p>
            <a:r>
              <a:rPr lang="en-US" dirty="0">
                <a:solidFill>
                  <a:schemeClr val="tx1"/>
                </a:solidFill>
                <a:latin typeface="Times New Roman" panose="02020603050405020304" pitchFamily="18" charset="0"/>
                <a:cs typeface="Times New Roman" panose="02020603050405020304" pitchFamily="18" charset="0"/>
              </a:rPr>
              <a:t>Asymmetric information can lead to market failure, where the allocation of resources is not efficient. This is particularly evident in markets like insurance, where one party may have more information about their risk profile.</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Adverse Selection:</a:t>
            </a:r>
          </a:p>
          <a:p>
            <a:r>
              <a:rPr lang="en-US" dirty="0">
                <a:solidFill>
                  <a:schemeClr val="tx1"/>
                </a:solidFill>
                <a:latin typeface="Times New Roman" panose="02020603050405020304" pitchFamily="18" charset="0"/>
                <a:cs typeface="Times New Roman" panose="02020603050405020304" pitchFamily="18" charset="0"/>
              </a:rPr>
              <a:t>Adverse selection occurs when individuals with private information about their risks are more likely to participate in certain transactions. This can lead to undesirable outcomes, such as higher premiums for insurance.</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Moral Hazard:</a:t>
            </a:r>
          </a:p>
          <a:p>
            <a:r>
              <a:rPr lang="en-US" dirty="0">
                <a:solidFill>
                  <a:schemeClr val="tx1"/>
                </a:solidFill>
                <a:latin typeface="Times New Roman" panose="02020603050405020304" pitchFamily="18" charset="0"/>
                <a:cs typeface="Times New Roman" panose="02020603050405020304" pitchFamily="18" charset="0"/>
              </a:rPr>
              <a:t>Moral hazard arises when one party changes their behavior after entering into an agreement because the other party cannot observe or monitor the actions. This is common in situations involving insurance or financial transactions</a:t>
            </a:r>
            <a:r>
              <a:rPr lang="en-US" dirty="0">
                <a:solidFill>
                  <a:schemeClr val="tx1"/>
                </a:solidFill>
              </a:rPr>
              <a:t>.</a:t>
            </a:r>
            <a:br>
              <a:rPr lang="en-US" dirty="0"/>
            </a:br>
            <a:endParaRPr lang="en-US" dirty="0"/>
          </a:p>
          <a:p>
            <a:endParaRPr lang="en-US" dirty="0"/>
          </a:p>
          <a:p>
            <a:endParaRPr lang="en-IN" dirty="0"/>
          </a:p>
        </p:txBody>
      </p:sp>
    </p:spTree>
    <p:extLst>
      <p:ext uri="{BB962C8B-B14F-4D97-AF65-F5344CB8AC3E}">
        <p14:creationId xmlns:p14="http://schemas.microsoft.com/office/powerpoint/2010/main" val="40884786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CEA9-BD88-216E-84F0-7D08EC91B830}"/>
              </a:ext>
            </a:extLst>
          </p:cNvPr>
          <p:cNvSpPr>
            <a:spLocks noGrp="1"/>
          </p:cNvSpPr>
          <p:nvPr>
            <p:ph type="title"/>
          </p:nvPr>
        </p:nvSpPr>
        <p:spPr>
          <a:xfrm>
            <a:off x="1261872" y="165861"/>
            <a:ext cx="9692640" cy="1397124"/>
          </a:xfrm>
        </p:spPr>
        <p:txBody>
          <a:bodyPr/>
          <a:lstStyle/>
          <a:p>
            <a:r>
              <a:rPr lang="en-IN" dirty="0">
                <a:latin typeface="Times New Roman" panose="02020603050405020304" pitchFamily="18" charset="0"/>
                <a:cs typeface="Times New Roman" panose="02020603050405020304" pitchFamily="18" charset="0"/>
              </a:rPr>
              <a:t>Mitigating Asymmetric Information</a:t>
            </a:r>
          </a:p>
        </p:txBody>
      </p:sp>
      <p:sp>
        <p:nvSpPr>
          <p:cNvPr id="3" name="Content Placeholder 2">
            <a:extLst>
              <a:ext uri="{FF2B5EF4-FFF2-40B4-BE49-F238E27FC236}">
                <a16:creationId xmlns:a16="http://schemas.microsoft.com/office/drawing/2014/main" id="{F9DB0FB2-0382-4CEE-3791-DD664B316C14}"/>
              </a:ext>
            </a:extLst>
          </p:cNvPr>
          <p:cNvSpPr>
            <a:spLocks noGrp="1"/>
          </p:cNvSpPr>
          <p:nvPr>
            <p:ph idx="1"/>
          </p:nvPr>
        </p:nvSpPr>
        <p:spPr/>
        <p:txBody>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Screening and Signaling:</a:t>
            </a:r>
          </a:p>
          <a:p>
            <a:r>
              <a:rPr lang="en-US" dirty="0">
                <a:solidFill>
                  <a:schemeClr val="tx1"/>
                </a:solidFill>
                <a:latin typeface="Times New Roman" panose="02020603050405020304" pitchFamily="18" charset="0"/>
                <a:cs typeface="Times New Roman" panose="02020603050405020304" pitchFamily="18" charset="0"/>
              </a:rPr>
              <a:t>Screening involves mechanisms to separate high-risk from low-risk individuals. Signaling involves conveying private information to the other party to reduce information asymmetry.</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Regulation and Disclosure:</a:t>
            </a:r>
          </a:p>
          <a:p>
            <a:r>
              <a:rPr lang="en-US" dirty="0">
                <a:solidFill>
                  <a:schemeClr val="tx1"/>
                </a:solidFill>
                <a:latin typeface="Times New Roman" panose="02020603050405020304" pitchFamily="18" charset="0"/>
                <a:cs typeface="Times New Roman" panose="02020603050405020304" pitchFamily="18" charset="0"/>
              </a:rPr>
              <a:t>Government regulations and disclosure requirements aim to ensure that relevant information is made available to all parties involved in transactions, reducing the impact of information asymmetry.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5458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CE2F-D250-6736-492D-D87AE450252B}"/>
              </a:ext>
            </a:extLst>
          </p:cNvPr>
          <p:cNvSpPr>
            <a:spLocks noGrp="1"/>
          </p:cNvSpPr>
          <p:nvPr>
            <p:ph type="ctrTitle"/>
          </p:nvPr>
        </p:nvSpPr>
        <p:spPr/>
        <p:txBody>
          <a:bodyPr>
            <a:normAutofit/>
          </a:bodyPr>
          <a:lstStyle/>
          <a:p>
            <a:r>
              <a:rPr lang="en-US" dirty="0">
                <a:latin typeface="Times New Roman" panose="02020603050405020304" pitchFamily="18" charset="0"/>
                <a:cs typeface="Times New Roman" panose="02020603050405020304" pitchFamily="18" charset="0"/>
              </a:rPr>
              <a:t>5.Overview of Data-Driven Decision 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73931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E2C2E-77E9-9108-CC14-A6F1EC65EC7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br>
              <a:rPr lang="en-US" dirty="0"/>
            </a:br>
            <a:endParaRPr lang="en-IN" dirty="0"/>
          </a:p>
        </p:txBody>
      </p:sp>
      <p:sp>
        <p:nvSpPr>
          <p:cNvPr id="3" name="Content Placeholder 2">
            <a:extLst>
              <a:ext uri="{FF2B5EF4-FFF2-40B4-BE49-F238E27FC236}">
                <a16:creationId xmlns:a16="http://schemas.microsoft.com/office/drawing/2014/main" id="{98909ED0-125E-6401-F995-442A4EEE7A66}"/>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Data-driven decision making (DDDM) means using data, facts, and analysis to make business decisions. </a:t>
            </a:r>
          </a:p>
          <a:p>
            <a:r>
              <a:rPr lang="en-US" dirty="0">
                <a:solidFill>
                  <a:schemeClr val="tx1"/>
                </a:solidFill>
                <a:latin typeface="Times New Roman" panose="02020603050405020304" pitchFamily="18" charset="0"/>
                <a:cs typeface="Times New Roman" panose="02020603050405020304" pitchFamily="18" charset="0"/>
              </a:rPr>
              <a:t>Organizations use data to improve performance, solve problems, and achieve business goals. </a:t>
            </a:r>
          </a:p>
          <a:p>
            <a:r>
              <a:rPr lang="en-US" dirty="0">
                <a:solidFill>
                  <a:schemeClr val="tx1"/>
                </a:solidFill>
                <a:latin typeface="Times New Roman" panose="02020603050405020304" pitchFamily="18" charset="0"/>
                <a:cs typeface="Times New Roman" panose="02020603050405020304" pitchFamily="18" charset="0"/>
              </a:rPr>
              <a:t>Data helps reduce uncertainty and supports better planning. </a:t>
            </a:r>
          </a:p>
          <a:p>
            <a:r>
              <a:rPr lang="en-US" dirty="0">
                <a:solidFill>
                  <a:schemeClr val="tx1"/>
                </a:solidFill>
                <a:latin typeface="Times New Roman" panose="02020603050405020304" pitchFamily="18" charset="0"/>
                <a:cs typeface="Times New Roman" panose="02020603050405020304" pitchFamily="18" charset="0"/>
              </a:rPr>
              <a:t>Modern businesses rely on data for faster and smarter decision-making.</a:t>
            </a:r>
          </a:p>
          <a:p>
            <a:endParaRPr lang="en-IN" dirty="0"/>
          </a:p>
        </p:txBody>
      </p:sp>
    </p:spTree>
    <p:extLst>
      <p:ext uri="{BB962C8B-B14F-4D97-AF65-F5344CB8AC3E}">
        <p14:creationId xmlns:p14="http://schemas.microsoft.com/office/powerpoint/2010/main" val="5515057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EF4B8-773F-B503-7B86-9F6F8122568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Importance of Data-Driven Decision Making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A918D5-9938-C53E-4C70-397C02BBD712}"/>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Improves business performance </a:t>
            </a:r>
          </a:p>
          <a:p>
            <a:r>
              <a:rPr lang="en-US" dirty="0">
                <a:solidFill>
                  <a:schemeClr val="tx1"/>
                </a:solidFill>
                <a:latin typeface="Times New Roman" panose="02020603050405020304" pitchFamily="18" charset="0"/>
                <a:cs typeface="Times New Roman" panose="02020603050405020304" pitchFamily="18" charset="0"/>
              </a:rPr>
              <a:t>Supports accurate decision-making </a:t>
            </a:r>
          </a:p>
          <a:p>
            <a:r>
              <a:rPr lang="en-US" dirty="0">
                <a:solidFill>
                  <a:schemeClr val="tx1"/>
                </a:solidFill>
                <a:latin typeface="Times New Roman" panose="02020603050405020304" pitchFamily="18" charset="0"/>
                <a:cs typeface="Times New Roman" panose="02020603050405020304" pitchFamily="18" charset="0"/>
              </a:rPr>
              <a:t>Helps understand customer behavior</a:t>
            </a:r>
          </a:p>
          <a:p>
            <a:r>
              <a:rPr lang="en-US" dirty="0">
                <a:solidFill>
                  <a:schemeClr val="tx1"/>
                </a:solidFill>
                <a:latin typeface="Times New Roman" panose="02020603050405020304" pitchFamily="18" charset="0"/>
                <a:cs typeface="Times New Roman" panose="02020603050405020304" pitchFamily="18" charset="0"/>
              </a:rPr>
              <a:t> Reduces risks and uncertainty</a:t>
            </a:r>
          </a:p>
          <a:p>
            <a:r>
              <a:rPr lang="en-US" dirty="0">
                <a:solidFill>
                  <a:schemeClr val="tx1"/>
                </a:solidFill>
                <a:latin typeface="Times New Roman" panose="02020603050405020304" pitchFamily="18" charset="0"/>
                <a:cs typeface="Times New Roman" panose="02020603050405020304" pitchFamily="18" charset="0"/>
              </a:rPr>
              <a:t> Improves planning and forecasting </a:t>
            </a:r>
          </a:p>
          <a:p>
            <a:r>
              <a:rPr lang="en-US" dirty="0">
                <a:solidFill>
                  <a:schemeClr val="tx1"/>
                </a:solidFill>
                <a:latin typeface="Times New Roman" panose="02020603050405020304" pitchFamily="18" charset="0"/>
                <a:cs typeface="Times New Roman" panose="02020603050405020304" pitchFamily="18" charset="0"/>
              </a:rPr>
              <a:t>Increases productivity and efficiency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71693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AAB9A-FE86-B6D2-D696-359FADFC34E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Common Data Sources</a:t>
            </a:r>
            <a:br>
              <a:rPr lang="en-US" dirty="0"/>
            </a:br>
            <a:endParaRPr lang="en-IN" dirty="0"/>
          </a:p>
        </p:txBody>
      </p:sp>
      <p:sp>
        <p:nvSpPr>
          <p:cNvPr id="3" name="Content Placeholder 2">
            <a:extLst>
              <a:ext uri="{FF2B5EF4-FFF2-40B4-BE49-F238E27FC236}">
                <a16:creationId xmlns:a16="http://schemas.microsoft.com/office/drawing/2014/main" id="{C9171678-C246-9170-E5BF-260843325253}"/>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Customer feedback </a:t>
            </a:r>
          </a:p>
          <a:p>
            <a:r>
              <a:rPr lang="en-US" dirty="0">
                <a:solidFill>
                  <a:schemeClr val="tx1"/>
                </a:solidFill>
                <a:latin typeface="Times New Roman" panose="02020603050405020304" pitchFamily="18" charset="0"/>
                <a:cs typeface="Times New Roman" panose="02020603050405020304" pitchFamily="18" charset="0"/>
              </a:rPr>
              <a:t>Sales and transaction records </a:t>
            </a:r>
          </a:p>
          <a:p>
            <a:r>
              <a:rPr lang="en-US" dirty="0">
                <a:solidFill>
                  <a:schemeClr val="tx1"/>
                </a:solidFill>
                <a:latin typeface="Times New Roman" panose="02020603050405020304" pitchFamily="18" charset="0"/>
                <a:cs typeface="Times New Roman" panose="02020603050405020304" pitchFamily="18" charset="0"/>
              </a:rPr>
              <a:t>Social media data </a:t>
            </a:r>
          </a:p>
          <a:p>
            <a:r>
              <a:rPr lang="en-US" dirty="0">
                <a:solidFill>
                  <a:schemeClr val="tx1"/>
                </a:solidFill>
                <a:latin typeface="Times New Roman" panose="02020603050405020304" pitchFamily="18" charset="0"/>
                <a:cs typeface="Times New Roman" panose="02020603050405020304" pitchFamily="18" charset="0"/>
              </a:rPr>
              <a:t>Website analytics </a:t>
            </a:r>
          </a:p>
          <a:p>
            <a:r>
              <a:rPr lang="en-US" dirty="0">
                <a:solidFill>
                  <a:schemeClr val="tx1"/>
                </a:solidFill>
                <a:latin typeface="Times New Roman" panose="02020603050405020304" pitchFamily="18" charset="0"/>
                <a:cs typeface="Times New Roman" panose="02020603050405020304" pitchFamily="18" charset="0"/>
              </a:rPr>
              <a:t>Market research </a:t>
            </a:r>
          </a:p>
          <a:p>
            <a:r>
              <a:rPr lang="en-US" dirty="0">
                <a:solidFill>
                  <a:schemeClr val="tx1"/>
                </a:solidFill>
                <a:latin typeface="Times New Roman" panose="02020603050405020304" pitchFamily="18" charset="0"/>
                <a:cs typeface="Times New Roman" panose="02020603050405020304" pitchFamily="18" charset="0"/>
              </a:rPr>
              <a:t>Financial reports</a:t>
            </a:r>
          </a:p>
          <a:p>
            <a:endParaRPr lang="en-IN" dirty="0"/>
          </a:p>
        </p:txBody>
      </p:sp>
    </p:spTree>
    <p:extLst>
      <p:ext uri="{BB962C8B-B14F-4D97-AF65-F5344CB8AC3E}">
        <p14:creationId xmlns:p14="http://schemas.microsoft.com/office/powerpoint/2010/main" val="6613585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BA4D-5872-2DD8-B565-11D87A1687E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Transitioning to Data-Driven Decision-Making</a:t>
            </a:r>
          </a:p>
        </p:txBody>
      </p:sp>
      <p:pic>
        <p:nvPicPr>
          <p:cNvPr id="5" name="Content Placeholder 4">
            <a:extLst>
              <a:ext uri="{FF2B5EF4-FFF2-40B4-BE49-F238E27FC236}">
                <a16:creationId xmlns:a16="http://schemas.microsoft.com/office/drawing/2014/main" id="{C5944E3F-FA2D-9677-0B71-65E7960788CA}"/>
              </a:ext>
            </a:extLst>
          </p:cNvPr>
          <p:cNvPicPr>
            <a:picLocks noGrp="1" noChangeAspect="1"/>
          </p:cNvPicPr>
          <p:nvPr>
            <p:ph idx="1"/>
          </p:nvPr>
        </p:nvPicPr>
        <p:blipFill>
          <a:blip r:embed="rId2"/>
          <a:stretch>
            <a:fillRect/>
          </a:stretch>
        </p:blipFill>
        <p:spPr>
          <a:xfrm>
            <a:off x="994611" y="1691323"/>
            <a:ext cx="9692640" cy="5014278"/>
          </a:xfrm>
          <a:prstGeom prst="rect">
            <a:avLst/>
          </a:prstGeom>
        </p:spPr>
      </p:pic>
    </p:spTree>
    <p:extLst>
      <p:ext uri="{BB962C8B-B14F-4D97-AF65-F5344CB8AC3E}">
        <p14:creationId xmlns:p14="http://schemas.microsoft.com/office/powerpoint/2010/main" val="1766897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7E60-5320-19C2-B6A5-EFF50297BE8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Quality and Integrity</a:t>
            </a:r>
          </a:p>
        </p:txBody>
      </p:sp>
      <p:sp>
        <p:nvSpPr>
          <p:cNvPr id="3" name="Content Placeholder 2">
            <a:extLst>
              <a:ext uri="{FF2B5EF4-FFF2-40B4-BE49-F238E27FC236}">
                <a16:creationId xmlns:a16="http://schemas.microsoft.com/office/drawing/2014/main" id="{AD5CDB39-8B1B-6D53-2690-C7719434A53D}"/>
              </a:ext>
            </a:extLst>
          </p:cNvPr>
          <p:cNvSpPr>
            <a:spLocks noGrp="1"/>
          </p:cNvSpPr>
          <p:nvPr>
            <p:ph idx="1"/>
          </p:nvPr>
        </p:nvSpPr>
        <p:spPr>
          <a:xfrm>
            <a:off x="1261872" y="1828800"/>
            <a:ext cx="9983644" cy="5029200"/>
          </a:xfrm>
        </p:spPr>
        <p:txBody>
          <a:bodyPr>
            <a:normAutofit/>
          </a:bodyPr>
          <a:lstStyle/>
          <a:p>
            <a:pPr algn="just" fontAlgn="base"/>
            <a:r>
              <a:rPr lang="en-US" b="1" dirty="0">
                <a:solidFill>
                  <a:schemeClr val="tx1"/>
                </a:solidFill>
                <a:latin typeface="Times New Roman" panose="02020603050405020304" pitchFamily="18" charset="0"/>
                <a:cs typeface="Times New Roman" panose="02020603050405020304" pitchFamily="18" charset="0"/>
              </a:rPr>
              <a:t>Establish a Data Governance Committee:</a:t>
            </a:r>
            <a:r>
              <a:rPr lang="en-US" dirty="0">
                <a:solidFill>
                  <a:schemeClr val="tx1"/>
                </a:solidFill>
                <a:latin typeface="Times New Roman" panose="02020603050405020304" pitchFamily="18" charset="0"/>
                <a:cs typeface="Times New Roman" panose="02020603050405020304" pitchFamily="18" charset="0"/>
              </a:rPr>
              <a:t> Form a dedicated team responsible for setting data standards, policies, and procedures to ensure data integrity across the organization.</a:t>
            </a:r>
          </a:p>
          <a:p>
            <a:pPr algn="just" fontAlgn="base"/>
            <a:r>
              <a:rPr lang="en-US" b="1" dirty="0">
                <a:solidFill>
                  <a:schemeClr val="tx1"/>
                </a:solidFill>
                <a:latin typeface="Times New Roman" panose="02020603050405020304" pitchFamily="18" charset="0"/>
                <a:cs typeface="Times New Roman" panose="02020603050405020304" pitchFamily="18" charset="0"/>
              </a:rPr>
              <a:t>Develop Data Quality Metrics:</a:t>
            </a:r>
            <a:r>
              <a:rPr lang="en-US" dirty="0">
                <a:solidFill>
                  <a:schemeClr val="tx1"/>
                </a:solidFill>
                <a:latin typeface="Times New Roman" panose="02020603050405020304" pitchFamily="18" charset="0"/>
                <a:cs typeface="Times New Roman" panose="02020603050405020304" pitchFamily="18" charset="0"/>
              </a:rPr>
              <a:t> Define specific, measurable indicators of data quality, such as accuracy, completeness, consistency, and timeliness, to monitor .</a:t>
            </a:r>
          </a:p>
          <a:p>
            <a:pPr algn="just" fontAlgn="base"/>
            <a:r>
              <a:rPr lang="en-US" b="1" dirty="0">
                <a:solidFill>
                  <a:schemeClr val="tx1"/>
                </a:solidFill>
                <a:latin typeface="Times New Roman" panose="02020603050405020304" pitchFamily="18" charset="0"/>
                <a:cs typeface="Times New Roman" panose="02020603050405020304" pitchFamily="18" charset="0"/>
              </a:rPr>
              <a:t>Implement Automated Data Monitoring Tools:</a:t>
            </a:r>
            <a:r>
              <a:rPr lang="en-US" dirty="0">
                <a:solidFill>
                  <a:schemeClr val="tx1"/>
                </a:solidFill>
                <a:latin typeface="Times New Roman" panose="02020603050405020304" pitchFamily="18" charset="0"/>
                <a:cs typeface="Times New Roman" panose="02020603050405020304" pitchFamily="18" charset="0"/>
              </a:rPr>
              <a:t> Utilize software solutions that automatically monitor data for errors, anomalies, or inconsistencies, alerting teams to issues in real time.</a:t>
            </a:r>
          </a:p>
          <a:p>
            <a:pPr algn="just" fontAlgn="base"/>
            <a:r>
              <a:rPr lang="en-US" b="1" dirty="0">
                <a:solidFill>
                  <a:schemeClr val="tx1"/>
                </a:solidFill>
                <a:latin typeface="Times New Roman" panose="02020603050405020304" pitchFamily="18" charset="0"/>
                <a:cs typeface="Times New Roman" panose="02020603050405020304" pitchFamily="18" charset="0"/>
              </a:rPr>
              <a:t>Regular Data Cleansing:</a:t>
            </a:r>
            <a:r>
              <a:rPr lang="en-US" dirty="0">
                <a:solidFill>
                  <a:schemeClr val="tx1"/>
                </a:solidFill>
                <a:latin typeface="Times New Roman" panose="02020603050405020304" pitchFamily="18" charset="0"/>
                <a:cs typeface="Times New Roman" panose="02020603050405020304" pitchFamily="18" charset="0"/>
              </a:rPr>
              <a:t> Schedule periodic cleaning of data to remove or correct inaccuracies, duplicates, and irrelevant information, keeping the data sets current and useful.</a:t>
            </a:r>
          </a:p>
          <a:p>
            <a:endParaRPr lang="en-IN" dirty="0"/>
          </a:p>
        </p:txBody>
      </p:sp>
    </p:spTree>
    <p:extLst>
      <p:ext uri="{BB962C8B-B14F-4D97-AF65-F5344CB8AC3E}">
        <p14:creationId xmlns:p14="http://schemas.microsoft.com/office/powerpoint/2010/main" val="15723589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C9C05-8F2B-AF96-4B8C-8848944C11F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Technology's Role in Data-Driven Decisions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3FD553-5448-6BFE-E4D5-8A74AD9BBC77}"/>
              </a:ext>
            </a:extLst>
          </p:cNvPr>
          <p:cNvSpPr>
            <a:spLocks noGrp="1"/>
          </p:cNvSpPr>
          <p:nvPr>
            <p:ph idx="1"/>
          </p:nvPr>
        </p:nvSpPr>
        <p:spPr>
          <a:xfrm>
            <a:off x="1261872" y="2129589"/>
            <a:ext cx="8595360" cy="2598821"/>
          </a:xfrm>
        </p:spPr>
        <p:txBody>
          <a:bodyPr/>
          <a:lstStyle/>
          <a:p>
            <a:pPr fontAlgn="base"/>
            <a:r>
              <a:rPr lang="en-US" b="1" dirty="0">
                <a:solidFill>
                  <a:schemeClr val="tx1"/>
                </a:solidFill>
                <a:latin typeface="Times New Roman" panose="02020603050405020304" pitchFamily="18" charset="0"/>
                <a:cs typeface="Times New Roman" panose="02020603050405020304" pitchFamily="18" charset="0"/>
              </a:rPr>
              <a:t>The Impact of AI and Machine Learning</a:t>
            </a:r>
          </a:p>
          <a:p>
            <a:pPr marL="0" indent="0" fontAlgn="base">
              <a:buNone/>
            </a:pPr>
            <a:r>
              <a:rPr lang="en-US" dirty="0">
                <a:solidFill>
                  <a:schemeClr val="tx1"/>
                </a:solidFill>
                <a:latin typeface="Times New Roman" panose="02020603050405020304" pitchFamily="18" charset="0"/>
                <a:cs typeface="Times New Roman" panose="02020603050405020304" pitchFamily="18" charset="0"/>
              </a:rPr>
              <a:t>Imagine the power to sift through extensive data sets effortlessly, uncovering intricate patterns, trends, and correlations previously hidden. This capability is now a tangible reality thanks to the advancements in artificial intelligence (AI) and machine learning (ML).</a:t>
            </a:r>
          </a:p>
          <a:p>
            <a:endParaRPr lang="en-IN" dirty="0"/>
          </a:p>
        </p:txBody>
      </p:sp>
    </p:spTree>
    <p:extLst>
      <p:ext uri="{BB962C8B-B14F-4D97-AF65-F5344CB8AC3E}">
        <p14:creationId xmlns:p14="http://schemas.microsoft.com/office/powerpoint/2010/main" val="33395144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98CD7-45A4-6338-EC6C-DA3CCB12C27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Why make data-driven decisions</a:t>
            </a:r>
          </a:p>
        </p:txBody>
      </p:sp>
      <p:sp>
        <p:nvSpPr>
          <p:cNvPr id="3" name="Content Placeholder 2">
            <a:extLst>
              <a:ext uri="{FF2B5EF4-FFF2-40B4-BE49-F238E27FC236}">
                <a16:creationId xmlns:a16="http://schemas.microsoft.com/office/drawing/2014/main" id="{83EE4655-90B2-2534-E93D-E4F4E5488A63}"/>
              </a:ext>
            </a:extLst>
          </p:cNvPr>
          <p:cNvSpPr>
            <a:spLocks noGrp="1"/>
          </p:cNvSpPr>
          <p:nvPr>
            <p:ph idx="1"/>
          </p:nvPr>
        </p:nvSpPr>
        <p:spPr/>
        <p:txBody>
          <a:bodyPr/>
          <a:lstStyle/>
          <a:p>
            <a:pPr>
              <a:lnSpc>
                <a:spcPct val="150000"/>
              </a:lnSpc>
            </a:pPr>
            <a:r>
              <a:rPr lang="en-US" dirty="0">
                <a:solidFill>
                  <a:schemeClr val="tx1"/>
                </a:solidFill>
                <a:latin typeface="Times New Roman" panose="02020603050405020304" pitchFamily="18" charset="0"/>
                <a:cs typeface="Times New Roman" panose="02020603050405020304" pitchFamily="18" charset="0"/>
              </a:rPr>
              <a:t>Data-driven decision making is superior to other forms of decision making because it ensures that decisions are based on logic and reasoning as well as supported by numerical evidence. Without the use of data to inform decisions, decision makers run the risk of being subconsciously influenced by factors such as bias, external stimuli such as the opinions/demands of others, or acting on assumptions, gut-feeling or theory.</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6030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D65A-FB4A-4B87-47E9-95A713BE3359}"/>
              </a:ext>
            </a:extLst>
          </p:cNvPr>
          <p:cNvSpPr>
            <a:spLocks noGrp="1"/>
          </p:cNvSpPr>
          <p:nvPr>
            <p:ph type="title"/>
          </p:nvPr>
        </p:nvSpPr>
        <p:spPr>
          <a:xfrm>
            <a:off x="1261872" y="677863"/>
            <a:ext cx="9692640" cy="1397124"/>
          </a:xfrm>
        </p:spPr>
        <p:txBody>
          <a:bodyPr>
            <a:normAutofit fontScale="90000"/>
          </a:bodyPr>
          <a:lstStyle/>
          <a:p>
            <a:r>
              <a:rPr lang="en-US" sz="4900" dirty="0">
                <a:latin typeface="Times New Roman" panose="02020603050405020304" pitchFamily="18" charset="0"/>
                <a:cs typeface="Times New Roman" panose="02020603050405020304" pitchFamily="18" charset="0"/>
              </a:rPr>
              <a:t>Five Steps for Implementing Data-Driven Decision Making</a:t>
            </a:r>
            <a:br>
              <a:rPr lang="en-US" dirty="0"/>
            </a:br>
            <a:endParaRPr lang="en-IN" dirty="0"/>
          </a:p>
        </p:txBody>
      </p:sp>
      <p:sp>
        <p:nvSpPr>
          <p:cNvPr id="3" name="Content Placeholder 2">
            <a:extLst>
              <a:ext uri="{FF2B5EF4-FFF2-40B4-BE49-F238E27FC236}">
                <a16:creationId xmlns:a16="http://schemas.microsoft.com/office/drawing/2014/main" id="{F9E8297B-8E24-8C10-E220-450E42A3F27A}"/>
              </a:ext>
            </a:extLst>
          </p:cNvPr>
          <p:cNvSpPr>
            <a:spLocks noGrp="1"/>
          </p:cNvSpPr>
          <p:nvPr>
            <p:ph idx="1"/>
          </p:nvPr>
        </p:nvSpPr>
        <p:spPr>
          <a:xfrm>
            <a:off x="1261871" y="1828800"/>
            <a:ext cx="9502381" cy="4539916"/>
          </a:xfrm>
        </p:spPr>
        <p:txBody>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Determine Business Questions or Issues</a:t>
            </a:r>
          </a:p>
          <a:p>
            <a:r>
              <a:rPr lang="en-US" dirty="0">
                <a:solidFill>
                  <a:schemeClr val="tx1"/>
                </a:solidFill>
                <a:latin typeface="Times New Roman" panose="02020603050405020304" pitchFamily="18" charset="0"/>
                <a:cs typeface="Times New Roman" panose="02020603050405020304" pitchFamily="18" charset="0"/>
              </a:rPr>
              <a:t>The first step in effective DDDM is to determine the appropriate questions you want to answer or issues you want to solve with data. Begin by discussing the following with your team:</a:t>
            </a:r>
          </a:p>
          <a:p>
            <a:r>
              <a:rPr lang="en-US" dirty="0">
                <a:solidFill>
                  <a:schemeClr val="tx1"/>
                </a:solidFill>
                <a:latin typeface="Times New Roman" panose="02020603050405020304" pitchFamily="18" charset="0"/>
                <a:cs typeface="Times New Roman" panose="02020603050405020304" pitchFamily="18" charset="0"/>
              </a:rPr>
              <a:t>What does the company want to accomplish?</a:t>
            </a:r>
          </a:p>
          <a:p>
            <a:r>
              <a:rPr lang="en-US" dirty="0">
                <a:solidFill>
                  <a:schemeClr val="tx1"/>
                </a:solidFill>
                <a:latin typeface="Times New Roman" panose="02020603050405020304" pitchFamily="18" charset="0"/>
                <a:cs typeface="Times New Roman" panose="02020603050405020304" pitchFamily="18" charset="0"/>
              </a:rPr>
              <a:t>Is the company trying to assess an opportunity or diagnose a problem?</a:t>
            </a:r>
          </a:p>
          <a:p>
            <a:r>
              <a:rPr lang="en-US" dirty="0">
                <a:solidFill>
                  <a:schemeClr val="tx1"/>
                </a:solidFill>
                <a:latin typeface="Times New Roman" panose="02020603050405020304" pitchFamily="18" charset="0"/>
                <a:cs typeface="Times New Roman" panose="02020603050405020304" pitchFamily="18" charset="0"/>
              </a:rPr>
              <a:t>Which areas are most important to achieving the company's overall strategy?</a:t>
            </a:r>
          </a:p>
          <a:p>
            <a:endParaRPr lang="en-US" dirty="0"/>
          </a:p>
        </p:txBody>
      </p:sp>
    </p:spTree>
    <p:extLst>
      <p:ext uri="{BB962C8B-B14F-4D97-AF65-F5344CB8AC3E}">
        <p14:creationId xmlns:p14="http://schemas.microsoft.com/office/powerpoint/2010/main" val="32477642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47C2AC-0AA8-5E43-06D0-24FF812C4DE9}"/>
              </a:ext>
            </a:extLst>
          </p:cNvPr>
          <p:cNvSpPr>
            <a:spLocks noGrp="1"/>
          </p:cNvSpPr>
          <p:nvPr>
            <p:ph idx="1"/>
          </p:nvPr>
        </p:nvSpPr>
        <p:spPr>
          <a:xfrm>
            <a:off x="802105" y="256674"/>
            <a:ext cx="9055127" cy="5923463"/>
          </a:xfrm>
        </p:spPr>
        <p:txBody>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Strategize and Identify Goals</a:t>
            </a:r>
          </a:p>
          <a:p>
            <a:r>
              <a:rPr lang="en-US" dirty="0">
                <a:solidFill>
                  <a:schemeClr val="tx1"/>
                </a:solidFill>
                <a:latin typeface="Times New Roman" panose="02020603050405020304" pitchFamily="18" charset="0"/>
                <a:cs typeface="Times New Roman" panose="02020603050405020304" pitchFamily="18" charset="0"/>
              </a:rPr>
              <a:t>Based on the questions or issues you've identified, establish a clear analytical objective for your DDDM process. Consider the following:</a:t>
            </a:r>
          </a:p>
          <a:p>
            <a:r>
              <a:rPr lang="en-US" dirty="0">
                <a:solidFill>
                  <a:schemeClr val="tx1"/>
                </a:solidFill>
                <a:latin typeface="Times New Roman" panose="02020603050405020304" pitchFamily="18" charset="0"/>
                <a:cs typeface="Times New Roman" panose="02020603050405020304" pitchFamily="18" charset="0"/>
              </a:rPr>
              <a:t>What can you realistically accomplish with data?</a:t>
            </a:r>
          </a:p>
          <a:p>
            <a:r>
              <a:rPr lang="en-US" dirty="0">
                <a:solidFill>
                  <a:schemeClr val="tx1"/>
                </a:solidFill>
                <a:latin typeface="Times New Roman" panose="02020603050405020304" pitchFamily="18" charset="0"/>
                <a:cs typeface="Times New Roman" panose="02020603050405020304" pitchFamily="18" charset="0"/>
              </a:rPr>
              <a:t>Who will oversee the collection and data analysis?</a:t>
            </a:r>
          </a:p>
          <a:p>
            <a:r>
              <a:rPr lang="en-US" dirty="0">
                <a:solidFill>
                  <a:schemeClr val="tx1"/>
                </a:solidFill>
                <a:latin typeface="Times New Roman" panose="02020603050405020304" pitchFamily="18" charset="0"/>
                <a:cs typeface="Times New Roman" panose="02020603050405020304" pitchFamily="18" charset="0"/>
              </a:rPr>
              <a:t>What personnel will you need for the project?</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Target Data</a:t>
            </a:r>
          </a:p>
          <a:p>
            <a:r>
              <a:rPr lang="en-US" dirty="0">
                <a:solidFill>
                  <a:schemeClr val="tx1"/>
                </a:solidFill>
                <a:latin typeface="Times New Roman" panose="02020603050405020304" pitchFamily="18" charset="0"/>
                <a:cs typeface="Times New Roman" panose="02020603050405020304" pitchFamily="18" charset="0"/>
              </a:rPr>
              <a:t>Once you identify the strategic goals of your project, it's time to identify the data that will be most useful for you in this DDDM process. Consider the following questions in deciding which data to collect and how to do so:</a:t>
            </a:r>
          </a:p>
          <a:p>
            <a:r>
              <a:rPr lang="en-US" dirty="0">
                <a:solidFill>
                  <a:schemeClr val="tx1"/>
                </a:solidFill>
                <a:latin typeface="Times New Roman" panose="02020603050405020304" pitchFamily="18" charset="0"/>
                <a:cs typeface="Times New Roman" panose="02020603050405020304" pitchFamily="18" charset="0"/>
              </a:rPr>
              <a:t>Will qualitative or quantitative data be most useful to this project?</a:t>
            </a:r>
          </a:p>
          <a:p>
            <a:r>
              <a:rPr lang="en-US" dirty="0">
                <a:solidFill>
                  <a:schemeClr val="tx1"/>
                </a:solidFill>
                <a:latin typeface="Times New Roman" panose="02020603050405020304" pitchFamily="18" charset="0"/>
                <a:cs typeface="Times New Roman" panose="02020603050405020304" pitchFamily="18" charset="0"/>
              </a:rPr>
              <a:t>Is it feasible to convene focus groups to collect data?</a:t>
            </a:r>
          </a:p>
          <a:p>
            <a:endParaRPr lang="en-IN" dirty="0"/>
          </a:p>
        </p:txBody>
      </p:sp>
    </p:spTree>
    <p:extLst>
      <p:ext uri="{BB962C8B-B14F-4D97-AF65-F5344CB8AC3E}">
        <p14:creationId xmlns:p14="http://schemas.microsoft.com/office/powerpoint/2010/main" val="20238330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E2289-50F7-A24D-E339-FCCF3C8834B5}"/>
              </a:ext>
            </a:extLst>
          </p:cNvPr>
          <p:cNvSpPr>
            <a:spLocks noGrp="1"/>
          </p:cNvSpPr>
          <p:nvPr>
            <p:ph idx="1"/>
          </p:nvPr>
        </p:nvSpPr>
        <p:spPr>
          <a:xfrm>
            <a:off x="1122947" y="625642"/>
            <a:ext cx="8734285" cy="5554495"/>
          </a:xfrm>
        </p:spPr>
        <p:txBody>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Collect and Analyze Data</a:t>
            </a:r>
          </a:p>
          <a:p>
            <a:r>
              <a:rPr lang="en-US" dirty="0">
                <a:solidFill>
                  <a:schemeClr val="tx1"/>
                </a:solidFill>
                <a:latin typeface="Times New Roman" panose="02020603050405020304" pitchFamily="18" charset="0"/>
                <a:cs typeface="Times New Roman" panose="02020603050405020304" pitchFamily="18" charset="0"/>
              </a:rPr>
              <a:t>Now that you know the type of data you will target in this DDDM process, you need to identify the correct processes and personnel to gather and manage the data. Consider the following:</a:t>
            </a:r>
          </a:p>
          <a:p>
            <a:r>
              <a:rPr lang="en-US" dirty="0">
                <a:solidFill>
                  <a:schemeClr val="tx1"/>
                </a:solidFill>
                <a:latin typeface="Times New Roman" panose="02020603050405020304" pitchFamily="18" charset="0"/>
                <a:cs typeface="Times New Roman" panose="02020603050405020304" pitchFamily="18" charset="0"/>
              </a:rPr>
              <a:t>Does your company already have some of the data it needs in-house?</a:t>
            </a:r>
          </a:p>
          <a:p>
            <a:r>
              <a:rPr lang="en-US" dirty="0">
                <a:solidFill>
                  <a:schemeClr val="tx1"/>
                </a:solidFill>
                <a:latin typeface="Times New Roman" panose="02020603050405020304" pitchFamily="18" charset="0"/>
                <a:cs typeface="Times New Roman" panose="02020603050405020304" pitchFamily="18" charset="0"/>
              </a:rPr>
              <a:t>Will you need to purchase access to an existing data set?</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Make Decisions Regarding Findings</a:t>
            </a:r>
          </a:p>
          <a:p>
            <a:r>
              <a:rPr lang="en-US" dirty="0">
                <a:solidFill>
                  <a:schemeClr val="tx1"/>
                </a:solidFill>
                <a:latin typeface="Times New Roman" panose="02020603050405020304" pitchFamily="18" charset="0"/>
                <a:cs typeface="Times New Roman" panose="02020603050405020304" pitchFamily="18" charset="0"/>
              </a:rPr>
              <a:t>The last step in the DDDM process is, of course, to make the data-driven decision. Leaders and other key decision makers can use the analytical insights gained from the process to take actionable steps needed for the success of a project.</a:t>
            </a:r>
          </a:p>
          <a:p>
            <a:endParaRPr lang="en-IN" dirty="0"/>
          </a:p>
        </p:txBody>
      </p:sp>
    </p:spTree>
    <p:extLst>
      <p:ext uri="{BB962C8B-B14F-4D97-AF65-F5344CB8AC3E}">
        <p14:creationId xmlns:p14="http://schemas.microsoft.com/office/powerpoint/2010/main" val="574347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E0B30-B254-4FED-3F31-5C756F154F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Positions Utilize Data-Driven Decision Making?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0781F3-15FC-9B86-93D7-BE3FC06E9AFA}"/>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Data Analyst:</a:t>
            </a:r>
            <a:r>
              <a:rPr lang="en-US" dirty="0">
                <a:solidFill>
                  <a:schemeClr val="tx1"/>
                </a:solidFill>
                <a:latin typeface="Times New Roman" panose="02020603050405020304" pitchFamily="18" charset="0"/>
                <a:cs typeface="Times New Roman" panose="02020603050405020304" pitchFamily="18" charset="0"/>
              </a:rPr>
              <a:t> As their title suggests, data analysts process large amounts of data to glean important findings that can guide impactful decisions. Data analysts also maintain databases, use visualization to communicate their findings and forecast trends based on their collected data.</a:t>
            </a:r>
            <a:r>
              <a:rPr lang="en-US" u="sng" baseline="30000" dirty="0">
                <a:solidFill>
                  <a:schemeClr val="tx1"/>
                </a:solidFill>
                <a:latin typeface="Times New Roman" panose="02020603050405020304" pitchFamily="18" charset="0"/>
                <a:cs typeface="Times New Roman" panose="02020603050405020304" pitchFamily="18" charset="0"/>
              </a:rPr>
              <a:t> </a:t>
            </a:r>
          </a:p>
          <a:p>
            <a:r>
              <a:rPr lang="en-US" b="1" dirty="0">
                <a:solidFill>
                  <a:schemeClr val="tx1"/>
                </a:solidFill>
                <a:latin typeface="Times New Roman" panose="02020603050405020304" pitchFamily="18" charset="0"/>
                <a:cs typeface="Times New Roman" panose="02020603050405020304" pitchFamily="18" charset="0"/>
              </a:rPr>
              <a:t>Data Engineer:</a:t>
            </a:r>
            <a:r>
              <a:rPr lang="en-US" dirty="0">
                <a:solidFill>
                  <a:schemeClr val="tx1"/>
                </a:solidFill>
                <a:latin typeface="Times New Roman" panose="02020603050405020304" pitchFamily="18" charset="0"/>
                <a:cs typeface="Times New Roman" panose="02020603050405020304" pitchFamily="18" charset="0"/>
              </a:rPr>
              <a:t> Data engineers work with businesses to build stable, optimized systems that aid in the collection and analysis of data. Professionals in this role also conduct research and look for patterns in data to help forecast trends.</a:t>
            </a:r>
            <a:endParaRPr lang="en-US" u="sng" baseline="30000"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Database Administrator: </a:t>
            </a:r>
            <a:r>
              <a:rPr lang="en-US" dirty="0">
                <a:solidFill>
                  <a:schemeClr val="tx1"/>
                </a:solidFill>
                <a:latin typeface="Times New Roman" panose="02020603050405020304" pitchFamily="18" charset="0"/>
                <a:cs typeface="Times New Roman" panose="02020603050405020304" pitchFamily="18" charset="0"/>
              </a:rPr>
              <a:t>Database administrators are responsible for keeping data safe and correctly stored. People who work as database administrators manage data, implement security measures and often design the databases themselves</a:t>
            </a:r>
            <a:r>
              <a:rPr lang="en-US" dirty="0">
                <a:solidFill>
                  <a:schemeClr val="tx1"/>
                </a:solidFill>
              </a:rPr>
              <a:t>.</a:t>
            </a:r>
          </a:p>
          <a:p>
            <a:endParaRPr lang="en-IN" dirty="0"/>
          </a:p>
        </p:txBody>
      </p:sp>
    </p:spTree>
    <p:extLst>
      <p:ext uri="{BB962C8B-B14F-4D97-AF65-F5344CB8AC3E}">
        <p14:creationId xmlns:p14="http://schemas.microsoft.com/office/powerpoint/2010/main" val="5552416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094D-4766-A09F-E350-B6A152F7E8E3}"/>
              </a:ext>
            </a:extLst>
          </p:cNvPr>
          <p:cNvSpPr>
            <a:spLocks noGrp="1"/>
          </p:cNvSpPr>
          <p:nvPr>
            <p:ph type="title"/>
          </p:nvPr>
        </p:nvSpPr>
        <p:spPr>
          <a:xfrm>
            <a:off x="1261872" y="677863"/>
            <a:ext cx="9692640" cy="1397124"/>
          </a:xfrm>
        </p:spPr>
        <p:txBody>
          <a:bodyPr/>
          <a:lstStyle/>
          <a:p>
            <a:r>
              <a:rPr lang="en-IN" dirty="0">
                <a:latin typeface="Times New Roman" panose="02020603050405020304" pitchFamily="18" charset="0"/>
                <a:cs typeface="Times New Roman" panose="02020603050405020304" pitchFamily="18" charset="0"/>
              </a:rPr>
              <a:t>Benefits</a:t>
            </a:r>
            <a:br>
              <a:rPr lang="en-IN" dirty="0"/>
            </a:br>
            <a:endParaRPr lang="en-IN" dirty="0"/>
          </a:p>
        </p:txBody>
      </p:sp>
      <p:sp>
        <p:nvSpPr>
          <p:cNvPr id="3" name="Content Placeholder 2">
            <a:extLst>
              <a:ext uri="{FF2B5EF4-FFF2-40B4-BE49-F238E27FC236}">
                <a16:creationId xmlns:a16="http://schemas.microsoft.com/office/drawing/2014/main" id="{3C53E755-56D0-F696-16D7-E0C55FAE8A5A}"/>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Faster decision-making </a:t>
            </a:r>
          </a:p>
          <a:p>
            <a:r>
              <a:rPr lang="en-US" dirty="0">
                <a:solidFill>
                  <a:schemeClr val="tx1"/>
                </a:solidFill>
                <a:latin typeface="Times New Roman" panose="02020603050405020304" pitchFamily="18" charset="0"/>
                <a:cs typeface="Times New Roman" panose="02020603050405020304" pitchFamily="18" charset="0"/>
              </a:rPr>
              <a:t>Better customer understanding </a:t>
            </a:r>
          </a:p>
          <a:p>
            <a:r>
              <a:rPr lang="en-US" dirty="0">
                <a:solidFill>
                  <a:schemeClr val="tx1"/>
                </a:solidFill>
                <a:latin typeface="Times New Roman" panose="02020603050405020304" pitchFamily="18" charset="0"/>
                <a:cs typeface="Times New Roman" panose="02020603050405020304" pitchFamily="18" charset="0"/>
              </a:rPr>
              <a:t>Improved productivity </a:t>
            </a:r>
          </a:p>
          <a:p>
            <a:r>
              <a:rPr lang="en-US" dirty="0">
                <a:solidFill>
                  <a:schemeClr val="tx1"/>
                </a:solidFill>
                <a:latin typeface="Times New Roman" panose="02020603050405020304" pitchFamily="18" charset="0"/>
                <a:cs typeface="Times New Roman" panose="02020603050405020304" pitchFamily="18" charset="0"/>
              </a:rPr>
              <a:t>Better resource management </a:t>
            </a:r>
          </a:p>
          <a:p>
            <a:r>
              <a:rPr lang="en-US" dirty="0">
                <a:solidFill>
                  <a:schemeClr val="tx1"/>
                </a:solidFill>
                <a:latin typeface="Times New Roman" panose="02020603050405020304" pitchFamily="18" charset="0"/>
                <a:cs typeface="Times New Roman" panose="02020603050405020304" pitchFamily="18" charset="0"/>
              </a:rPr>
              <a:t>Competitive advantage </a:t>
            </a:r>
          </a:p>
          <a:p>
            <a:r>
              <a:rPr lang="en-US" dirty="0">
                <a:solidFill>
                  <a:schemeClr val="tx1"/>
                </a:solidFill>
                <a:latin typeface="Times New Roman" panose="02020603050405020304" pitchFamily="18" charset="0"/>
                <a:cs typeface="Times New Roman" panose="02020603050405020304" pitchFamily="18" charset="0"/>
              </a:rPr>
              <a:t>Increased profitability </a:t>
            </a:r>
          </a:p>
          <a:p>
            <a:endParaRPr lang="en-IN" dirty="0"/>
          </a:p>
        </p:txBody>
      </p:sp>
    </p:spTree>
    <p:extLst>
      <p:ext uri="{BB962C8B-B14F-4D97-AF65-F5344CB8AC3E}">
        <p14:creationId xmlns:p14="http://schemas.microsoft.com/office/powerpoint/2010/main" val="41004216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79520-77D1-E05A-8E3C-629DEBFFCC0E}"/>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Challenges</a:t>
            </a:r>
            <a:br>
              <a:rPr lang="en-US" dirty="0"/>
            </a:br>
            <a:endParaRPr lang="en-IN" dirty="0"/>
          </a:p>
        </p:txBody>
      </p:sp>
      <p:sp>
        <p:nvSpPr>
          <p:cNvPr id="3" name="Content Placeholder 2">
            <a:extLst>
              <a:ext uri="{FF2B5EF4-FFF2-40B4-BE49-F238E27FC236}">
                <a16:creationId xmlns:a16="http://schemas.microsoft.com/office/drawing/2014/main" id="{284732BA-D0F7-74DB-8834-B90B0E1EA914}"/>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Poor data quality </a:t>
            </a:r>
          </a:p>
          <a:p>
            <a:r>
              <a:rPr lang="en-US" dirty="0">
                <a:solidFill>
                  <a:schemeClr val="tx1"/>
                </a:solidFill>
                <a:latin typeface="Times New Roman" panose="02020603050405020304" pitchFamily="18" charset="0"/>
                <a:cs typeface="Times New Roman" panose="02020603050405020304" pitchFamily="18" charset="0"/>
              </a:rPr>
              <a:t>Data security and privacy risks </a:t>
            </a:r>
          </a:p>
          <a:p>
            <a:r>
              <a:rPr lang="en-US" dirty="0">
                <a:solidFill>
                  <a:schemeClr val="tx1"/>
                </a:solidFill>
                <a:latin typeface="Times New Roman" panose="02020603050405020304" pitchFamily="18" charset="0"/>
                <a:cs typeface="Times New Roman" panose="02020603050405020304" pitchFamily="18" charset="0"/>
              </a:rPr>
              <a:t>Large amount of data </a:t>
            </a:r>
          </a:p>
          <a:p>
            <a:r>
              <a:rPr lang="en-US" dirty="0">
                <a:solidFill>
                  <a:schemeClr val="tx1"/>
                </a:solidFill>
                <a:latin typeface="Times New Roman" panose="02020603050405020304" pitchFamily="18" charset="0"/>
                <a:cs typeface="Times New Roman" panose="02020603050405020304" pitchFamily="18" charset="0"/>
              </a:rPr>
              <a:t>Lack of technical skills </a:t>
            </a:r>
          </a:p>
          <a:p>
            <a:r>
              <a:rPr lang="en-US" dirty="0">
                <a:solidFill>
                  <a:schemeClr val="tx1"/>
                </a:solidFill>
                <a:latin typeface="Times New Roman" panose="02020603050405020304" pitchFamily="18" charset="0"/>
                <a:cs typeface="Times New Roman" panose="02020603050405020304" pitchFamily="18" charset="0"/>
              </a:rPr>
              <a:t>Difficulty integrating different data sources</a:t>
            </a:r>
          </a:p>
          <a:p>
            <a:endParaRPr lang="en-IN" dirty="0"/>
          </a:p>
        </p:txBody>
      </p:sp>
    </p:spTree>
    <p:extLst>
      <p:ext uri="{BB962C8B-B14F-4D97-AF65-F5344CB8AC3E}">
        <p14:creationId xmlns:p14="http://schemas.microsoft.com/office/powerpoint/2010/main" val="12775446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39C6-B8EC-56A3-75BE-021BD48C522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8 Pitfalls In The Data-Driven Decision-Making (DDDM) Process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B4319F-5D1D-90C8-52F5-0D06EFB60A66}"/>
              </a:ext>
            </a:extLst>
          </p:cNvPr>
          <p:cNvSpPr>
            <a:spLocks noGrp="1"/>
          </p:cNvSpPr>
          <p:nvPr>
            <p:ph idx="1"/>
          </p:nvPr>
        </p:nvSpPr>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Poor Data Quality</a:t>
            </a:r>
          </a:p>
          <a:p>
            <a:r>
              <a:rPr lang="en-US" dirty="0">
                <a:solidFill>
                  <a:schemeClr val="tx1"/>
                </a:solidFill>
                <a:latin typeface="Times New Roman" panose="02020603050405020304" pitchFamily="18" charset="0"/>
                <a:cs typeface="Times New Roman" panose="02020603050405020304" pitchFamily="18" charset="0"/>
              </a:rPr>
              <a:t>Incorrect or incomplete data can lead to wrong decisions. Duplicate, outdated, or inaccurate data reduces reliability. Organizations must clean and validate data regularly.</a:t>
            </a:r>
          </a:p>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Too Much Data</a:t>
            </a:r>
            <a:endParaRPr lang="en-US" b="1"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Large amounts of data can create confusion. Important insights may be difficult to identify. Businesses should focus only on relevant and useful data.</a:t>
            </a:r>
          </a:p>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Ignoring Business Goals</a:t>
            </a:r>
          </a:p>
          <a:p>
            <a:r>
              <a:rPr lang="en-US" dirty="0">
                <a:solidFill>
                  <a:schemeClr val="tx1"/>
                </a:solidFill>
                <a:latin typeface="Times New Roman" panose="02020603050405020304" pitchFamily="18" charset="0"/>
                <a:cs typeface="Times New Roman" panose="02020603050405020304" pitchFamily="18" charset="0"/>
              </a:rPr>
              <a:t>Collecting data without clear goals wastes time and resources. Data analysis should support business objectives and strategies. Organizations need clear questions before analyzing data</a:t>
            </a:r>
            <a:r>
              <a:rPr lang="en-US" dirty="0">
                <a:solidFill>
                  <a:schemeClr val="tx1"/>
                </a:solidFill>
              </a:rPr>
              <a:t>.</a:t>
            </a:r>
          </a:p>
          <a:p>
            <a:endParaRPr lang="en-IN" dirty="0"/>
          </a:p>
        </p:txBody>
      </p:sp>
    </p:spTree>
    <p:extLst>
      <p:ext uri="{BB962C8B-B14F-4D97-AF65-F5344CB8AC3E}">
        <p14:creationId xmlns:p14="http://schemas.microsoft.com/office/powerpoint/2010/main" val="33625898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CCCCED-B4A8-43B4-078D-2E20FF337264}"/>
              </a:ext>
            </a:extLst>
          </p:cNvPr>
          <p:cNvSpPr>
            <a:spLocks noGrp="1"/>
          </p:cNvSpPr>
          <p:nvPr>
            <p:ph idx="1"/>
          </p:nvPr>
        </p:nvSpPr>
        <p:spPr>
          <a:xfrm>
            <a:off x="882316" y="256674"/>
            <a:ext cx="10459452" cy="6448926"/>
          </a:xfrm>
        </p:spPr>
        <p:txBody>
          <a:bodyPr>
            <a:normAutofit lnSpcReduction="10000"/>
          </a:bodyPr>
          <a:lstStyle/>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Bias in Data</a:t>
            </a:r>
          </a:p>
          <a:p>
            <a:r>
              <a:rPr lang="en-US" dirty="0">
                <a:solidFill>
                  <a:schemeClr val="tx1"/>
                </a:solidFill>
                <a:latin typeface="Times New Roman" panose="02020603050405020304" pitchFamily="18" charset="0"/>
                <a:cs typeface="Times New Roman" panose="02020603050405020304" pitchFamily="18" charset="0"/>
              </a:rPr>
              <a:t>Biased data can produce unfair or inaccurate results. Personal opinions or incomplete datasets may affect analysis. Organizations should ensure balanced and unbiased data collection.</a:t>
            </a:r>
          </a:p>
          <a:p>
            <a:r>
              <a:rPr lang="en-IN" b="1" dirty="0">
                <a:solidFill>
                  <a:schemeClr val="tx1"/>
                </a:solidFill>
                <a:latin typeface="Times New Roman" panose="02020603050405020304" pitchFamily="18" charset="0"/>
                <a:cs typeface="Times New Roman" panose="02020603050405020304" pitchFamily="18" charset="0"/>
              </a:rPr>
              <a:t>Misinterpreting Data</a:t>
            </a:r>
          </a:p>
          <a:p>
            <a:r>
              <a:rPr lang="en-US" dirty="0">
                <a:solidFill>
                  <a:schemeClr val="tx1"/>
                </a:solidFill>
                <a:latin typeface="Times New Roman" panose="02020603050405020304" pitchFamily="18" charset="0"/>
                <a:cs typeface="Times New Roman" panose="02020603050405020304" pitchFamily="18" charset="0"/>
              </a:rPr>
              <a:t>Incorrect analysis can lead to poor business decisions. Data should be understood in the correct context.</a:t>
            </a:r>
          </a:p>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Lack of Data Skills</a:t>
            </a:r>
          </a:p>
          <a:p>
            <a:r>
              <a:rPr lang="en-US" dirty="0">
                <a:solidFill>
                  <a:schemeClr val="tx1"/>
                </a:solidFill>
                <a:latin typeface="Times New Roman" panose="02020603050405020304" pitchFamily="18" charset="0"/>
                <a:cs typeface="Times New Roman" panose="02020603050405020304" pitchFamily="18" charset="0"/>
              </a:rPr>
              <a:t>Employees may not have enough knowledge to analyze data properly. Organizations should provide training and develop data literacy. Skilled professionals improve data-driven decision-making.</a:t>
            </a:r>
          </a:p>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Ignoring Human Judgment</a:t>
            </a:r>
          </a:p>
          <a:p>
            <a:r>
              <a:rPr lang="en-US" dirty="0">
                <a:solidFill>
                  <a:schemeClr val="tx1"/>
                </a:solidFill>
                <a:latin typeface="Times New Roman" panose="02020603050405020304" pitchFamily="18" charset="0"/>
                <a:cs typeface="Times New Roman" panose="02020603050405020304" pitchFamily="18" charset="0"/>
              </a:rPr>
              <a:t>Data is important, but human experience and intuition also matter. Businesses should combine analytics with expert judgment. Balanced decision-making improves outcomes.</a:t>
            </a:r>
          </a:p>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Slow Decision-Making</a:t>
            </a:r>
          </a:p>
          <a:p>
            <a:r>
              <a:rPr lang="en-US" dirty="0">
                <a:solidFill>
                  <a:schemeClr val="tx1"/>
                </a:solidFill>
                <a:latin typeface="Times New Roman" panose="02020603050405020304" pitchFamily="18" charset="0"/>
                <a:cs typeface="Times New Roman" panose="02020603050405020304" pitchFamily="18" charset="0"/>
              </a:rPr>
              <a:t>Spending too much time analyzing data can delay actions. Businesses need timely insights for faster responses. Quick and effective decisions improve competitiveness.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7034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FB328-ABF4-8577-BC0E-0F3CF08BEB4C}"/>
              </a:ext>
            </a:extLst>
          </p:cNvPr>
          <p:cNvSpPr>
            <a:spLocks noGrp="1"/>
          </p:cNvSpPr>
          <p:nvPr>
            <p:ph type="ctrTitle"/>
          </p:nvPr>
        </p:nvSpPr>
        <p:spPr/>
        <p:txBody>
          <a:bodyPr>
            <a:normAutofit/>
          </a:bodyPr>
          <a:lstStyle/>
          <a:p>
            <a:r>
              <a:rPr lang="en-IN" dirty="0">
                <a:latin typeface="Times New Roman" panose="02020603050405020304" pitchFamily="18" charset="0"/>
                <a:cs typeface="Times New Roman" panose="02020603050405020304" pitchFamily="18" charset="0"/>
              </a:rPr>
              <a:t>6.Case Discussions / Real-Life Examples</a:t>
            </a:r>
            <a:br>
              <a:rPr lang="en-IN" dirty="0"/>
            </a:br>
            <a:endParaRPr lang="en-IN" dirty="0"/>
          </a:p>
        </p:txBody>
      </p:sp>
    </p:spTree>
    <p:extLst>
      <p:ext uri="{BB962C8B-B14F-4D97-AF65-F5344CB8AC3E}">
        <p14:creationId xmlns:p14="http://schemas.microsoft.com/office/powerpoint/2010/main" val="27437619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07FE-D2A7-0D4A-493D-74E60ADA0634}"/>
              </a:ext>
            </a:extLst>
          </p:cNvPr>
          <p:cNvSpPr>
            <a:spLocks noGrp="1"/>
          </p:cNvSpPr>
          <p:nvPr>
            <p:ph type="title"/>
          </p:nvPr>
        </p:nvSpPr>
        <p:spPr>
          <a:xfrm>
            <a:off x="1261872" y="431676"/>
            <a:ext cx="9692640" cy="1397124"/>
          </a:xfrm>
        </p:spPr>
        <p:txBody>
          <a:bodyPr/>
          <a:lstStyle/>
          <a:p>
            <a:r>
              <a:rPr lang="en-US" dirty="0">
                <a:latin typeface="Times New Roman" panose="02020603050405020304" pitchFamily="18" charset="0"/>
                <a:cs typeface="Times New Roman" panose="02020603050405020304" pitchFamily="18" charset="0"/>
              </a:rPr>
              <a:t>What Is Scenario Analysis?</a:t>
            </a:r>
            <a:br>
              <a:rPr lang="en-US" dirty="0"/>
            </a:br>
            <a:endParaRPr lang="en-IN" dirty="0"/>
          </a:p>
        </p:txBody>
      </p:sp>
      <p:sp>
        <p:nvSpPr>
          <p:cNvPr id="3" name="Content Placeholder 2">
            <a:extLst>
              <a:ext uri="{FF2B5EF4-FFF2-40B4-BE49-F238E27FC236}">
                <a16:creationId xmlns:a16="http://schemas.microsoft.com/office/drawing/2014/main" id="{4DB7A2B4-B01D-3408-77C0-9101F2557B3E}"/>
              </a:ext>
            </a:extLst>
          </p:cNvPr>
          <p:cNvSpPr>
            <a:spLocks noGrp="1"/>
          </p:cNvSpPr>
          <p:nvPr>
            <p:ph idx="1"/>
          </p:nvPr>
        </p:nvSpPr>
        <p:spPr/>
        <p:txBody>
          <a:bodyPr/>
          <a:lstStyle/>
          <a:p>
            <a:pPr>
              <a:lnSpc>
                <a:spcPct val="150000"/>
              </a:lnSpc>
            </a:pPr>
            <a:r>
              <a:rPr lang="en-US" dirty="0">
                <a:solidFill>
                  <a:schemeClr val="tx1"/>
                </a:solidFill>
                <a:latin typeface="Times New Roman" panose="02020603050405020304" pitchFamily="18" charset="0"/>
                <a:cs typeface="Times New Roman" panose="02020603050405020304" pitchFamily="18" charset="0"/>
              </a:rPr>
              <a:t>Scenario analysis forecasts the future value of a portfolio by simulating changes in key factors like interest rates. Investors use it to understand how portfolios respond to different events, including worst-case scenarios. This technique applies mathematical and statistical principles to prepare for both likely and unlikely financial outcomes.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2672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90D0E-BA12-D047-61AB-1B06D53BF61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Steps to Conduct Effective Scenario Analysis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6911F8-100C-37C4-C802-B877804A030E}"/>
              </a:ext>
            </a:extLst>
          </p:cNvPr>
          <p:cNvSpPr>
            <a:spLocks noGrp="1"/>
          </p:cNvSpPr>
          <p:nvPr>
            <p:ph idx="1"/>
          </p:nvPr>
        </p:nvSpPr>
        <p:spPr>
          <a:xfrm>
            <a:off x="1261872" y="2053389"/>
            <a:ext cx="8595360" cy="4351337"/>
          </a:xfrm>
        </p:spPr>
        <p:txBody>
          <a:bodyPr/>
          <a:lstStyle/>
          <a:p>
            <a:r>
              <a:rPr lang="en-US" dirty="0">
                <a:solidFill>
                  <a:schemeClr val="tx1"/>
                </a:solidFill>
                <a:latin typeface="Times New Roman" panose="02020603050405020304" pitchFamily="18" charset="0"/>
                <a:cs typeface="Times New Roman" panose="02020603050405020304" pitchFamily="18" charset="0"/>
              </a:rPr>
              <a:t>Calculate different reinvestment rates for expected returns within the investment horizon.</a:t>
            </a:r>
          </a:p>
          <a:p>
            <a:r>
              <a:rPr lang="en-US" dirty="0">
                <a:solidFill>
                  <a:schemeClr val="tx1"/>
                </a:solidFill>
                <a:latin typeface="Times New Roman" panose="02020603050405020304" pitchFamily="18" charset="0"/>
                <a:cs typeface="Times New Roman" panose="02020603050405020304" pitchFamily="18" charset="0"/>
              </a:rPr>
              <a:t>Apply mathematical and statistical principles to estimate shifts in portfolio value.</a:t>
            </a:r>
          </a:p>
          <a:p>
            <a:r>
              <a:rPr lang="en-US" dirty="0">
                <a:solidFill>
                  <a:schemeClr val="tx1"/>
                </a:solidFill>
                <a:latin typeface="Times New Roman" panose="02020603050405020304" pitchFamily="18" charset="0"/>
                <a:cs typeface="Times New Roman" panose="02020603050405020304" pitchFamily="18" charset="0"/>
              </a:rPr>
              <a:t>Assess the risk level based on different scenarios and determine if it aligns with your comfort zone.</a:t>
            </a:r>
          </a:p>
          <a:p>
            <a:endParaRPr lang="en-IN" dirty="0"/>
          </a:p>
        </p:txBody>
      </p:sp>
    </p:spTree>
    <p:extLst>
      <p:ext uri="{BB962C8B-B14F-4D97-AF65-F5344CB8AC3E}">
        <p14:creationId xmlns:p14="http://schemas.microsoft.com/office/powerpoint/2010/main" val="38733482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B2E68-7EC8-01D6-5779-2217F5F47C12}"/>
              </a:ext>
            </a:extLst>
          </p:cNvPr>
          <p:cNvSpPr>
            <a:spLocks noGrp="1"/>
          </p:cNvSpPr>
          <p:nvPr>
            <p:ph type="title"/>
          </p:nvPr>
        </p:nvSpPr>
        <p:spPr>
          <a:xfrm>
            <a:off x="1261872" y="357020"/>
            <a:ext cx="9692640" cy="1728454"/>
          </a:xfrm>
        </p:spPr>
        <p:txBody>
          <a:bodyPr>
            <a:normAutofit fontScale="90000"/>
          </a:bodyPr>
          <a:lstStyle/>
          <a:p>
            <a:r>
              <a:rPr lang="en-US" sz="4900" dirty="0">
                <a:latin typeface="Times New Roman" panose="02020603050405020304" pitchFamily="18" charset="0"/>
                <a:cs typeface="Times New Roman" panose="02020603050405020304" pitchFamily="18" charset="0"/>
              </a:rPr>
              <a:t>Difference Between Scenario Analysis and Sensitivity Analysis</a:t>
            </a:r>
            <a:br>
              <a:rPr lang="en-US" b="0" dirty="0"/>
            </a:br>
            <a:endParaRPr lang="en-IN" dirty="0"/>
          </a:p>
        </p:txBody>
      </p:sp>
      <p:sp>
        <p:nvSpPr>
          <p:cNvPr id="3" name="Content Placeholder 2">
            <a:extLst>
              <a:ext uri="{FF2B5EF4-FFF2-40B4-BE49-F238E27FC236}">
                <a16:creationId xmlns:a16="http://schemas.microsoft.com/office/drawing/2014/main" id="{D7FD7EC8-F162-22A5-2AEC-5E4CBDC889B5}"/>
              </a:ext>
            </a:extLst>
          </p:cNvPr>
          <p:cNvSpPr>
            <a:spLocks noGrp="1"/>
          </p:cNvSpPr>
          <p:nvPr>
            <p:ph idx="1"/>
          </p:nvPr>
        </p:nvSpPr>
        <p:spPr>
          <a:xfrm>
            <a:off x="1261872" y="1828800"/>
            <a:ext cx="8595360" cy="5029200"/>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Scenario Analysis</a:t>
            </a:r>
          </a:p>
          <a:p>
            <a:r>
              <a:rPr lang="en-US" dirty="0">
                <a:solidFill>
                  <a:schemeClr val="tx1"/>
                </a:solidFill>
                <a:latin typeface="Times New Roman" panose="02020603050405020304" pitchFamily="18" charset="0"/>
                <a:cs typeface="Times New Roman" panose="02020603050405020304" pitchFamily="18" charset="0"/>
              </a:rPr>
              <a:t>Scenario analysis examines the effect of changing multiple variables at the same time to create different possible situations or scenarios.</a:t>
            </a:r>
          </a:p>
          <a:p>
            <a:r>
              <a:rPr lang="en-US" dirty="0">
                <a:solidFill>
                  <a:schemeClr val="tx1"/>
                </a:solidFill>
                <a:latin typeface="Times New Roman" panose="02020603050405020304" pitchFamily="18" charset="0"/>
                <a:cs typeface="Times New Roman" panose="02020603050405020304" pitchFamily="18" charset="0"/>
              </a:rPr>
              <a:t>Used to study best-case, worst-case, and most likely situations </a:t>
            </a:r>
          </a:p>
          <a:p>
            <a:r>
              <a:rPr lang="en-US" dirty="0">
                <a:solidFill>
                  <a:schemeClr val="tx1"/>
                </a:solidFill>
                <a:latin typeface="Times New Roman" panose="02020603050405020304" pitchFamily="18" charset="0"/>
                <a:cs typeface="Times New Roman" panose="02020603050405020304" pitchFamily="18" charset="0"/>
              </a:rPr>
              <a:t>Helps in strategic planning and decision-making</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Sensitivity Analysis</a:t>
            </a:r>
          </a:p>
          <a:p>
            <a:r>
              <a:rPr lang="en-US" dirty="0">
                <a:solidFill>
                  <a:schemeClr val="tx1"/>
                </a:solidFill>
                <a:latin typeface="Times New Roman" panose="02020603050405020304" pitchFamily="18" charset="0"/>
                <a:cs typeface="Times New Roman" panose="02020603050405020304" pitchFamily="18" charset="0"/>
              </a:rPr>
              <a:t>Sensitivity analysis studies how changing one variable at a time affects the final result while keeping other variables constant.</a:t>
            </a:r>
          </a:p>
          <a:p>
            <a:r>
              <a:rPr lang="en-US" dirty="0">
                <a:solidFill>
                  <a:schemeClr val="tx1"/>
                </a:solidFill>
                <a:latin typeface="Times New Roman" panose="02020603050405020304" pitchFamily="18" charset="0"/>
                <a:cs typeface="Times New Roman" panose="02020603050405020304" pitchFamily="18" charset="0"/>
              </a:rPr>
              <a:t>Used to identify which variable has the biggest impact </a:t>
            </a:r>
          </a:p>
          <a:p>
            <a:r>
              <a:rPr lang="en-US" dirty="0">
                <a:solidFill>
                  <a:schemeClr val="tx1"/>
                </a:solidFill>
                <a:latin typeface="Times New Roman" panose="02020603050405020304" pitchFamily="18" charset="0"/>
                <a:cs typeface="Times New Roman" panose="02020603050405020304" pitchFamily="18" charset="0"/>
              </a:rPr>
              <a:t>Helps understand uncertainty and key risk factors</a:t>
            </a:r>
          </a:p>
          <a:p>
            <a:endParaRPr lang="en-IN" dirty="0"/>
          </a:p>
        </p:txBody>
      </p:sp>
    </p:spTree>
    <p:extLst>
      <p:ext uri="{BB962C8B-B14F-4D97-AF65-F5344CB8AC3E}">
        <p14:creationId xmlns:p14="http://schemas.microsoft.com/office/powerpoint/2010/main" val="41616175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E5CE6-B5C7-2C05-9863-2893240852CD}"/>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Advantages</a:t>
            </a:r>
            <a:br>
              <a:rPr lang="en-US" dirty="0"/>
            </a:br>
            <a:endParaRPr lang="en-IN" dirty="0"/>
          </a:p>
        </p:txBody>
      </p:sp>
      <p:sp>
        <p:nvSpPr>
          <p:cNvPr id="3" name="Content Placeholder 2">
            <a:extLst>
              <a:ext uri="{FF2B5EF4-FFF2-40B4-BE49-F238E27FC236}">
                <a16:creationId xmlns:a16="http://schemas.microsoft.com/office/drawing/2014/main" id="{CB7F3835-03D9-C3A7-9060-1144378EAE4B}"/>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Better preparation for future events </a:t>
            </a:r>
          </a:p>
          <a:p>
            <a:r>
              <a:rPr lang="en-US" dirty="0">
                <a:solidFill>
                  <a:schemeClr val="tx1"/>
                </a:solidFill>
                <a:latin typeface="Times New Roman" panose="02020603050405020304" pitchFamily="18" charset="0"/>
                <a:cs typeface="Times New Roman" panose="02020603050405020304" pitchFamily="18" charset="0"/>
              </a:rPr>
              <a:t>Improved decision-making </a:t>
            </a:r>
          </a:p>
          <a:p>
            <a:r>
              <a:rPr lang="en-US" dirty="0">
                <a:solidFill>
                  <a:schemeClr val="tx1"/>
                </a:solidFill>
                <a:latin typeface="Times New Roman" panose="02020603050405020304" pitchFamily="18" charset="0"/>
                <a:cs typeface="Times New Roman" panose="02020603050405020304" pitchFamily="18" charset="0"/>
              </a:rPr>
              <a:t>Helps identify opportunities and threats </a:t>
            </a:r>
          </a:p>
          <a:p>
            <a:r>
              <a:rPr lang="en-US" dirty="0">
                <a:solidFill>
                  <a:schemeClr val="tx1"/>
                </a:solidFill>
                <a:latin typeface="Times New Roman" panose="02020603050405020304" pitchFamily="18" charset="0"/>
                <a:cs typeface="Times New Roman" panose="02020603050405020304" pitchFamily="18" charset="0"/>
              </a:rPr>
              <a:t>Encourages flexible planning </a:t>
            </a:r>
          </a:p>
          <a:p>
            <a:r>
              <a:rPr lang="en-US" dirty="0">
                <a:solidFill>
                  <a:schemeClr val="tx1"/>
                </a:solidFill>
                <a:latin typeface="Times New Roman" panose="02020603050405020304" pitchFamily="18" charset="0"/>
                <a:cs typeface="Times New Roman" panose="02020603050405020304" pitchFamily="18" charset="0"/>
              </a:rPr>
              <a:t>Supports long-term business growth</a:t>
            </a:r>
          </a:p>
          <a:p>
            <a:endParaRPr lang="en-IN" dirty="0"/>
          </a:p>
        </p:txBody>
      </p:sp>
    </p:spTree>
    <p:extLst>
      <p:ext uri="{BB962C8B-B14F-4D97-AF65-F5344CB8AC3E}">
        <p14:creationId xmlns:p14="http://schemas.microsoft.com/office/powerpoint/2010/main" val="28315852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6467-36A0-7D4A-3388-667BE68789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Limitations</a:t>
            </a:r>
            <a:br>
              <a:rPr lang="en-US" dirty="0"/>
            </a:br>
            <a:endParaRPr lang="en-IN" dirty="0"/>
          </a:p>
        </p:txBody>
      </p:sp>
      <p:sp>
        <p:nvSpPr>
          <p:cNvPr id="3" name="Content Placeholder 2">
            <a:extLst>
              <a:ext uri="{FF2B5EF4-FFF2-40B4-BE49-F238E27FC236}">
                <a16:creationId xmlns:a16="http://schemas.microsoft.com/office/drawing/2014/main" id="{C31326C2-107E-EEBA-FE89-44AD0C9FBED1}"/>
              </a:ext>
            </a:extLst>
          </p:cNvPr>
          <p:cNvSpPr>
            <a:spLocks noGrp="1"/>
          </p:cNvSpPr>
          <p:nvPr>
            <p:ph idx="1"/>
          </p:nvPr>
        </p:nvSpPr>
        <p:spPr>
          <a:xfrm>
            <a:off x="1261872" y="1379621"/>
            <a:ext cx="8595360" cy="4351337"/>
          </a:xfrm>
        </p:spPr>
        <p:txBody>
          <a:bodyPr/>
          <a:lstStyle/>
          <a:p>
            <a:r>
              <a:rPr lang="en-US" dirty="0">
                <a:solidFill>
                  <a:schemeClr val="tx1"/>
                </a:solidFill>
                <a:latin typeface="Times New Roman" panose="02020603050405020304" pitchFamily="18" charset="0"/>
                <a:cs typeface="Times New Roman" panose="02020603050405020304" pitchFamily="18" charset="0"/>
              </a:rPr>
              <a:t>Time-consuming process </a:t>
            </a:r>
          </a:p>
          <a:p>
            <a:r>
              <a:rPr lang="en-US" dirty="0">
                <a:solidFill>
                  <a:schemeClr val="tx1"/>
                </a:solidFill>
                <a:latin typeface="Times New Roman" panose="02020603050405020304" pitchFamily="18" charset="0"/>
                <a:cs typeface="Times New Roman" panose="02020603050405020304" pitchFamily="18" charset="0"/>
              </a:rPr>
              <a:t>Depends on assumptions and estimates </a:t>
            </a:r>
          </a:p>
          <a:p>
            <a:r>
              <a:rPr lang="en-US" dirty="0">
                <a:solidFill>
                  <a:schemeClr val="tx1"/>
                </a:solidFill>
                <a:latin typeface="Times New Roman" panose="02020603050405020304" pitchFamily="18" charset="0"/>
                <a:cs typeface="Times New Roman" panose="02020603050405020304" pitchFamily="18" charset="0"/>
              </a:rPr>
              <a:t>Difficult to predict all future events </a:t>
            </a:r>
          </a:p>
          <a:p>
            <a:r>
              <a:rPr lang="en-US" dirty="0">
                <a:solidFill>
                  <a:schemeClr val="tx1"/>
                </a:solidFill>
                <a:latin typeface="Times New Roman" panose="02020603050405020304" pitchFamily="18" charset="0"/>
                <a:cs typeface="Times New Roman" panose="02020603050405020304" pitchFamily="18" charset="0"/>
              </a:rPr>
              <a:t>Requires accurate data and analysis </a:t>
            </a:r>
          </a:p>
          <a:p>
            <a:r>
              <a:rPr lang="en-US" dirty="0">
                <a:solidFill>
                  <a:schemeClr val="tx1"/>
                </a:solidFill>
                <a:latin typeface="Times New Roman" panose="02020603050405020304" pitchFamily="18" charset="0"/>
                <a:cs typeface="Times New Roman" panose="02020603050405020304" pitchFamily="18" charset="0"/>
              </a:rPr>
              <a:t>May become complex for large organizations</a:t>
            </a:r>
          </a:p>
          <a:p>
            <a:endParaRPr lang="en-IN" dirty="0"/>
          </a:p>
        </p:txBody>
      </p:sp>
    </p:spTree>
    <p:extLst>
      <p:ext uri="{BB962C8B-B14F-4D97-AF65-F5344CB8AC3E}">
        <p14:creationId xmlns:p14="http://schemas.microsoft.com/office/powerpoint/2010/main" val="34192751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404A1-B545-1DDD-F657-AB46B2082ECD}"/>
              </a:ext>
            </a:extLst>
          </p:cNvPr>
          <p:cNvSpPr>
            <a:spLocks noGrp="1"/>
          </p:cNvSpPr>
          <p:nvPr>
            <p:ph type="ctrTitle"/>
          </p:nvPr>
        </p:nvSpPr>
        <p:spPr/>
        <p:txBody>
          <a:bodyPr>
            <a:normAutofit/>
          </a:bodyPr>
          <a:lstStyle/>
          <a:p>
            <a:r>
              <a:rPr lang="en-US" dirty="0">
                <a:latin typeface="Times New Roman" panose="02020603050405020304" pitchFamily="18" charset="0"/>
                <a:cs typeface="Times New Roman" panose="02020603050405020304" pitchFamily="18" charset="0"/>
              </a:rPr>
              <a:t>7.Introduction to Data Governance &amp; Data Ethics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58297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CCB8C-5642-7B40-18A9-A5F58B5C6275}"/>
              </a:ext>
            </a:extLst>
          </p:cNvPr>
          <p:cNvSpPr>
            <a:spLocks noGrp="1"/>
          </p:cNvSpPr>
          <p:nvPr>
            <p:ph type="title"/>
          </p:nvPr>
        </p:nvSpPr>
        <p:spPr>
          <a:xfrm>
            <a:off x="1566672" y="871714"/>
            <a:ext cx="9692640" cy="1397124"/>
          </a:xfrm>
        </p:spPr>
        <p:txBody>
          <a:bodyPr/>
          <a:lstStyle/>
          <a:p>
            <a:r>
              <a:rPr lang="en-US" dirty="0">
                <a:latin typeface="Times New Roman" panose="02020603050405020304" pitchFamily="18" charset="0"/>
                <a:cs typeface="Times New Roman" panose="02020603050405020304" pitchFamily="18" charset="0"/>
              </a:rPr>
              <a:t>Introduction</a:t>
            </a:r>
            <a:br>
              <a:rPr lang="en-US" dirty="0"/>
            </a:br>
            <a:endParaRPr lang="en-IN" dirty="0"/>
          </a:p>
        </p:txBody>
      </p:sp>
      <p:sp>
        <p:nvSpPr>
          <p:cNvPr id="3" name="Content Placeholder 2">
            <a:extLst>
              <a:ext uri="{FF2B5EF4-FFF2-40B4-BE49-F238E27FC236}">
                <a16:creationId xmlns:a16="http://schemas.microsoft.com/office/drawing/2014/main" id="{BAEB8193-2E33-EB90-5EC1-E1C339B2EDEC}"/>
              </a:ext>
            </a:extLst>
          </p:cNvPr>
          <p:cNvSpPr>
            <a:spLocks noGrp="1"/>
          </p:cNvSpPr>
          <p:nvPr>
            <p:ph idx="1"/>
          </p:nvPr>
        </p:nvSpPr>
        <p:spPr>
          <a:xfrm>
            <a:off x="1566672" y="1812758"/>
            <a:ext cx="8595360" cy="4351337"/>
          </a:xfrm>
        </p:spPr>
        <p:txBody>
          <a:bodyPr/>
          <a:lstStyle/>
          <a:p>
            <a:r>
              <a:rPr lang="en-US" dirty="0">
                <a:solidFill>
                  <a:schemeClr val="tx1"/>
                </a:solidFill>
                <a:latin typeface="Times New Roman" panose="02020603050405020304" pitchFamily="18" charset="0"/>
                <a:cs typeface="Times New Roman" panose="02020603050405020304" pitchFamily="18" charset="0"/>
              </a:rPr>
              <a:t>Organizations generate large amounts of data every day. </a:t>
            </a:r>
          </a:p>
          <a:p>
            <a:r>
              <a:rPr lang="en-US" dirty="0">
                <a:solidFill>
                  <a:schemeClr val="tx1"/>
                </a:solidFill>
                <a:latin typeface="Times New Roman" panose="02020603050405020304" pitchFamily="18" charset="0"/>
                <a:cs typeface="Times New Roman" panose="02020603050405020304" pitchFamily="18" charset="0"/>
              </a:rPr>
              <a:t>Proper management of data is important for security, accuracy, and business decisions. </a:t>
            </a:r>
          </a:p>
          <a:p>
            <a:r>
              <a:rPr lang="en-US" dirty="0">
                <a:solidFill>
                  <a:schemeClr val="tx1"/>
                </a:solidFill>
                <a:latin typeface="Times New Roman" panose="02020603050405020304" pitchFamily="18" charset="0"/>
                <a:cs typeface="Times New Roman" panose="02020603050405020304" pitchFamily="18" charset="0"/>
              </a:rPr>
              <a:t>Data governance helps organizations control and manage their data effectively. </a:t>
            </a:r>
          </a:p>
          <a:p>
            <a:r>
              <a:rPr lang="en-US" dirty="0">
                <a:solidFill>
                  <a:schemeClr val="tx1"/>
                </a:solidFill>
                <a:latin typeface="Times New Roman" panose="02020603050405020304" pitchFamily="18" charset="0"/>
                <a:cs typeface="Times New Roman" panose="02020603050405020304" pitchFamily="18" charset="0"/>
              </a:rPr>
              <a:t>It ensures data is reliable, secure, and properly used.</a:t>
            </a:r>
          </a:p>
          <a:p>
            <a:endParaRPr lang="en-IN" dirty="0"/>
          </a:p>
        </p:txBody>
      </p:sp>
    </p:spTree>
    <p:extLst>
      <p:ext uri="{BB962C8B-B14F-4D97-AF65-F5344CB8AC3E}">
        <p14:creationId xmlns:p14="http://schemas.microsoft.com/office/powerpoint/2010/main" val="41512879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7F5E1-AE02-085E-8675-060B631D794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Why modern data governance is critical for AI</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04CA73-5B61-7E5E-EE48-9DF9981353A6}"/>
              </a:ext>
            </a:extLst>
          </p:cNvPr>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shift toward AI data analytics has made unified governance a business imperative. Content that bridges the gap between traditional analytics and generative AI. Without robust governance, AI initiatives face several risks:</a:t>
            </a:r>
          </a:p>
          <a:p>
            <a:r>
              <a:rPr lang="en-US" b="1" dirty="0">
                <a:solidFill>
                  <a:schemeClr val="tx1"/>
                </a:solidFill>
                <a:latin typeface="Times New Roman" panose="02020603050405020304" pitchFamily="18" charset="0"/>
                <a:cs typeface="Times New Roman" panose="02020603050405020304" pitchFamily="18" charset="0"/>
              </a:rPr>
              <a:t>Data silos</a:t>
            </a:r>
            <a:r>
              <a:rPr lang="en-US" dirty="0">
                <a:solidFill>
                  <a:schemeClr val="tx1"/>
                </a:solidFill>
                <a:latin typeface="Times New Roman" panose="02020603050405020304" pitchFamily="18" charset="0"/>
                <a:cs typeface="Times New Roman" panose="02020603050405020304" pitchFamily="18" charset="0"/>
              </a:rPr>
              <a:t>: Information trapped in isolated systems prevents the creation of a unified data lake house</a:t>
            </a:r>
          </a:p>
          <a:p>
            <a:r>
              <a:rPr lang="en-US" b="1" dirty="0">
                <a:solidFill>
                  <a:schemeClr val="tx1"/>
                </a:solidFill>
                <a:latin typeface="Times New Roman" panose="02020603050405020304" pitchFamily="18" charset="0"/>
                <a:cs typeface="Times New Roman" panose="02020603050405020304" pitchFamily="18" charset="0"/>
              </a:rPr>
              <a:t>Poor data quality:</a:t>
            </a:r>
            <a:r>
              <a:rPr lang="en-US" dirty="0">
                <a:solidFill>
                  <a:schemeClr val="tx1"/>
                </a:solidFill>
                <a:latin typeface="Times New Roman" panose="02020603050405020304" pitchFamily="18" charset="0"/>
                <a:cs typeface="Times New Roman" panose="02020603050405020304" pitchFamily="18" charset="0"/>
              </a:rPr>
              <a:t> Inaccurate data leads to "hallucinations" in AI agents and unreliable business insights</a:t>
            </a:r>
          </a:p>
          <a:p>
            <a:r>
              <a:rPr lang="en-US" b="1" dirty="0">
                <a:solidFill>
                  <a:schemeClr val="tx1"/>
                </a:solidFill>
                <a:latin typeface="Times New Roman" panose="02020603050405020304" pitchFamily="18" charset="0"/>
                <a:cs typeface="Times New Roman" panose="02020603050405020304" pitchFamily="18" charset="0"/>
              </a:rPr>
              <a:t>Data permissions: </a:t>
            </a:r>
            <a:r>
              <a:rPr lang="en-US" dirty="0">
                <a:solidFill>
                  <a:schemeClr val="tx1"/>
                </a:solidFill>
                <a:latin typeface="Times New Roman" panose="02020603050405020304" pitchFamily="18" charset="0"/>
                <a:cs typeface="Times New Roman" panose="02020603050405020304" pitchFamily="18" charset="0"/>
              </a:rPr>
              <a:t>Agents can access sensitive data that can show up as outputs to personas without proper credentials</a:t>
            </a:r>
          </a:p>
          <a:p>
            <a:r>
              <a:rPr lang="en-US" b="1" dirty="0">
                <a:solidFill>
                  <a:schemeClr val="tx1"/>
                </a:solidFill>
                <a:latin typeface="Times New Roman" panose="02020603050405020304" pitchFamily="18" charset="0"/>
                <a:cs typeface="Times New Roman" panose="02020603050405020304" pitchFamily="18" charset="0"/>
              </a:rPr>
              <a:t>Compliance gaps: </a:t>
            </a:r>
            <a:r>
              <a:rPr lang="en-US" dirty="0">
                <a:solidFill>
                  <a:schemeClr val="tx1"/>
                </a:solidFill>
                <a:latin typeface="Times New Roman" panose="02020603050405020304" pitchFamily="18" charset="0"/>
                <a:cs typeface="Times New Roman" panose="02020603050405020304" pitchFamily="18" charset="0"/>
              </a:rPr>
              <a:t>Failure to handle data according to regulations like GDPR or CCPA can stall AI deployments</a:t>
            </a:r>
          </a:p>
          <a:p>
            <a:endParaRPr lang="en-IN" dirty="0"/>
          </a:p>
        </p:txBody>
      </p:sp>
    </p:spTree>
    <p:extLst>
      <p:ext uri="{BB962C8B-B14F-4D97-AF65-F5344CB8AC3E}">
        <p14:creationId xmlns:p14="http://schemas.microsoft.com/office/powerpoint/2010/main" val="1678618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E0B5-5C0E-2DCC-DD19-FF715F896184}"/>
              </a:ext>
            </a:extLst>
          </p:cNvPr>
          <p:cNvSpPr>
            <a:spLocks noGrp="1"/>
          </p:cNvSpPr>
          <p:nvPr>
            <p:ph type="title"/>
          </p:nvPr>
        </p:nvSpPr>
        <p:spPr>
          <a:xfrm>
            <a:off x="1261872" y="294198"/>
            <a:ext cx="9692640" cy="1229802"/>
          </a:xfrm>
        </p:spPr>
        <p:txBody>
          <a:bodyPr/>
          <a:lstStyle/>
          <a:p>
            <a:r>
              <a:rPr lang="en-US" dirty="0">
                <a:latin typeface="Times New Roman" panose="02020603050405020304" pitchFamily="18" charset="0"/>
                <a:cs typeface="Times New Roman" panose="02020603050405020304" pitchFamily="18" charset="0"/>
              </a:rPr>
              <a:t>What is data governance used for?</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225438-E43D-558C-88FA-31F18FE01CBF}"/>
              </a:ext>
            </a:extLst>
          </p:cNvPr>
          <p:cNvSpPr>
            <a:spLocks noGrp="1"/>
          </p:cNvSpPr>
          <p:nvPr>
            <p:ph idx="1"/>
          </p:nvPr>
        </p:nvSpPr>
        <p:spPr>
          <a:xfrm>
            <a:off x="1261872" y="1828800"/>
            <a:ext cx="8595360" cy="4735002"/>
          </a:xfrm>
        </p:spPr>
        <p:txBody>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stewardship</a:t>
            </a:r>
          </a:p>
          <a:p>
            <a:r>
              <a:rPr lang="en-US" dirty="0">
                <a:solidFill>
                  <a:schemeClr val="tx1"/>
                </a:solidFill>
                <a:latin typeface="Times New Roman" panose="02020603050405020304" pitchFamily="18" charset="0"/>
                <a:cs typeface="Times New Roman" panose="02020603050405020304" pitchFamily="18" charset="0"/>
              </a:rPr>
              <a:t>Data governance often means giving accountability and responsibility for both the data itself and the processes that ensure its proper use to “data stewards.”</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quality</a:t>
            </a:r>
          </a:p>
          <a:p>
            <a:r>
              <a:rPr lang="en-US" dirty="0">
                <a:solidFill>
                  <a:schemeClr val="tx1"/>
                </a:solidFill>
                <a:latin typeface="Times New Roman" panose="02020603050405020304" pitchFamily="18" charset="0"/>
                <a:cs typeface="Times New Roman" panose="02020603050405020304" pitchFamily="18" charset="0"/>
              </a:rPr>
              <a:t>Data governance is also used to ensure data quality, which refers to any activities or techniques designed to make sure data is suitable to be used. </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management</a:t>
            </a:r>
          </a:p>
          <a:p>
            <a:r>
              <a:rPr lang="en-US" dirty="0">
                <a:solidFill>
                  <a:schemeClr val="tx1"/>
                </a:solidFill>
                <a:latin typeface="Times New Roman" panose="02020603050405020304" pitchFamily="18" charset="0"/>
                <a:cs typeface="Times New Roman" panose="02020603050405020304" pitchFamily="18" charset="0"/>
              </a:rPr>
              <a:t>This is a broad concept encompassing all aspects of managing data as an enterprise asset, from collection and storage</a:t>
            </a:r>
          </a:p>
          <a:p>
            <a:endParaRPr lang="en-IN" dirty="0"/>
          </a:p>
        </p:txBody>
      </p:sp>
    </p:spTree>
    <p:extLst>
      <p:ext uri="{BB962C8B-B14F-4D97-AF65-F5344CB8AC3E}">
        <p14:creationId xmlns:p14="http://schemas.microsoft.com/office/powerpoint/2010/main" val="30136030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35EB-494F-E521-D46A-4725D74DBDC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Benefits of Data Governance</a:t>
            </a:r>
          </a:p>
        </p:txBody>
      </p:sp>
      <p:sp>
        <p:nvSpPr>
          <p:cNvPr id="3" name="Content Placeholder 2">
            <a:extLst>
              <a:ext uri="{FF2B5EF4-FFF2-40B4-BE49-F238E27FC236}">
                <a16:creationId xmlns:a16="http://schemas.microsoft.com/office/drawing/2014/main" id="{D7E8D047-8338-D4BE-AFC0-7011C506F052}"/>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Better decision-making </a:t>
            </a:r>
          </a:p>
          <a:p>
            <a:r>
              <a:rPr lang="en-US" dirty="0">
                <a:solidFill>
                  <a:schemeClr val="tx1"/>
                </a:solidFill>
                <a:latin typeface="Times New Roman" panose="02020603050405020304" pitchFamily="18" charset="0"/>
                <a:cs typeface="Times New Roman" panose="02020603050405020304" pitchFamily="18" charset="0"/>
              </a:rPr>
              <a:t>Improved data accuracy </a:t>
            </a:r>
          </a:p>
          <a:p>
            <a:r>
              <a:rPr lang="en-US" dirty="0">
                <a:solidFill>
                  <a:schemeClr val="tx1"/>
                </a:solidFill>
                <a:latin typeface="Times New Roman" panose="02020603050405020304" pitchFamily="18" charset="0"/>
                <a:cs typeface="Times New Roman" panose="02020603050405020304" pitchFamily="18" charset="0"/>
              </a:rPr>
              <a:t>Increased operational efficiency </a:t>
            </a:r>
          </a:p>
          <a:p>
            <a:r>
              <a:rPr lang="en-US" dirty="0">
                <a:solidFill>
                  <a:schemeClr val="tx1"/>
                </a:solidFill>
                <a:latin typeface="Times New Roman" panose="02020603050405020304" pitchFamily="18" charset="0"/>
                <a:cs typeface="Times New Roman" panose="02020603050405020304" pitchFamily="18" charset="0"/>
              </a:rPr>
              <a:t>Better compliance with regulations </a:t>
            </a:r>
          </a:p>
          <a:p>
            <a:r>
              <a:rPr lang="en-US" dirty="0">
                <a:solidFill>
                  <a:schemeClr val="tx1"/>
                </a:solidFill>
                <a:latin typeface="Times New Roman" panose="02020603050405020304" pitchFamily="18" charset="0"/>
                <a:cs typeface="Times New Roman" panose="02020603050405020304" pitchFamily="18" charset="0"/>
              </a:rPr>
              <a:t>Reduced risks and security issues </a:t>
            </a:r>
          </a:p>
          <a:p>
            <a:r>
              <a:rPr lang="en-US" dirty="0">
                <a:solidFill>
                  <a:schemeClr val="tx1"/>
                </a:solidFill>
                <a:latin typeface="Times New Roman" panose="02020603050405020304" pitchFamily="18" charset="0"/>
                <a:cs typeface="Times New Roman" panose="02020603050405020304" pitchFamily="18" charset="0"/>
              </a:rPr>
              <a:t>Improved customer trust </a:t>
            </a:r>
          </a:p>
          <a:p>
            <a:endParaRPr lang="en-IN" dirty="0"/>
          </a:p>
        </p:txBody>
      </p:sp>
    </p:spTree>
    <p:extLst>
      <p:ext uri="{BB962C8B-B14F-4D97-AF65-F5344CB8AC3E}">
        <p14:creationId xmlns:p14="http://schemas.microsoft.com/office/powerpoint/2010/main" val="41091974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8C75-749B-15EC-18D1-F6B5A98F45C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Challenges in Data Governance</a:t>
            </a:r>
          </a:p>
        </p:txBody>
      </p:sp>
      <p:sp>
        <p:nvSpPr>
          <p:cNvPr id="3" name="Content Placeholder 2">
            <a:extLst>
              <a:ext uri="{FF2B5EF4-FFF2-40B4-BE49-F238E27FC236}">
                <a16:creationId xmlns:a16="http://schemas.microsoft.com/office/drawing/2014/main" id="{642C39DE-7983-0383-0A6E-46D5ECE78868}"/>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Managing large volumes of data</a:t>
            </a:r>
          </a:p>
          <a:p>
            <a:r>
              <a:rPr lang="en-US" dirty="0">
                <a:solidFill>
                  <a:schemeClr val="tx1"/>
                </a:solidFill>
                <a:latin typeface="Times New Roman" panose="02020603050405020304" pitchFamily="18" charset="0"/>
                <a:cs typeface="Times New Roman" panose="02020603050405020304" pitchFamily="18" charset="0"/>
              </a:rPr>
              <a:t> Poor data quality </a:t>
            </a:r>
          </a:p>
          <a:p>
            <a:r>
              <a:rPr lang="en-US" dirty="0">
                <a:solidFill>
                  <a:schemeClr val="tx1"/>
                </a:solidFill>
                <a:latin typeface="Times New Roman" panose="02020603050405020304" pitchFamily="18" charset="0"/>
                <a:cs typeface="Times New Roman" panose="02020603050405020304" pitchFamily="18" charset="0"/>
              </a:rPr>
              <a:t>Lack of clear policies </a:t>
            </a:r>
          </a:p>
          <a:p>
            <a:r>
              <a:rPr lang="en-US" dirty="0">
                <a:solidFill>
                  <a:schemeClr val="tx1"/>
                </a:solidFill>
                <a:latin typeface="Times New Roman" panose="02020603050405020304" pitchFamily="18" charset="0"/>
                <a:cs typeface="Times New Roman" panose="02020603050405020304" pitchFamily="18" charset="0"/>
              </a:rPr>
              <a:t>Data privacy concerns</a:t>
            </a:r>
          </a:p>
          <a:p>
            <a:r>
              <a:rPr lang="en-US" dirty="0">
                <a:solidFill>
                  <a:schemeClr val="tx1"/>
                </a:solidFill>
                <a:latin typeface="Times New Roman" panose="02020603050405020304" pitchFamily="18" charset="0"/>
                <a:cs typeface="Times New Roman" panose="02020603050405020304" pitchFamily="18" charset="0"/>
              </a:rPr>
              <a:t> Integration of data from different systems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99309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8013-1EF9-D4AD-BC2F-DE03478A3601}"/>
              </a:ext>
            </a:extLst>
          </p:cNvPr>
          <p:cNvSpPr>
            <a:spLocks noGrp="1"/>
          </p:cNvSpPr>
          <p:nvPr>
            <p:ph type="title"/>
          </p:nvPr>
        </p:nvSpPr>
        <p:spPr>
          <a:xfrm>
            <a:off x="1237488" y="431676"/>
            <a:ext cx="9692640" cy="1397124"/>
          </a:xfrm>
        </p:spPr>
        <p:txBody>
          <a:bodyPr>
            <a:normAutofit/>
          </a:bodyPr>
          <a:lstStyle/>
          <a:p>
            <a:r>
              <a:rPr lang="en-US" dirty="0">
                <a:latin typeface="Times New Roman" panose="02020603050405020304" pitchFamily="18" charset="0"/>
                <a:cs typeface="Times New Roman" panose="02020603050405020304" pitchFamily="18" charset="0"/>
              </a:rPr>
              <a:t>4 Critical Roles In Data Governance</a:t>
            </a:r>
            <a:br>
              <a:rPr lang="en-US" dirty="0"/>
            </a:br>
            <a:endParaRPr lang="en-IN" dirty="0"/>
          </a:p>
        </p:txBody>
      </p:sp>
      <p:sp>
        <p:nvSpPr>
          <p:cNvPr id="3" name="Content Placeholder 2">
            <a:extLst>
              <a:ext uri="{FF2B5EF4-FFF2-40B4-BE49-F238E27FC236}">
                <a16:creationId xmlns:a16="http://schemas.microsoft.com/office/drawing/2014/main" id="{AAC9B1B9-7766-CE5B-1C03-E43373E1E11B}"/>
              </a:ext>
            </a:extLst>
          </p:cNvPr>
          <p:cNvSpPr>
            <a:spLocks noGrp="1"/>
          </p:cNvSpPr>
          <p:nvPr>
            <p:ph idx="1"/>
          </p:nvPr>
        </p:nvSpPr>
        <p:spPr>
          <a:xfrm>
            <a:off x="1261872" y="1828800"/>
            <a:ext cx="8595360" cy="4828674"/>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Data administrator:</a:t>
            </a:r>
            <a:r>
              <a:rPr lang="en-US" dirty="0">
                <a:solidFill>
                  <a:schemeClr val="tx1"/>
                </a:solidFill>
                <a:latin typeface="Times New Roman" panose="02020603050405020304" pitchFamily="18" charset="0"/>
                <a:cs typeface="Times New Roman" panose="02020603050405020304" pitchFamily="18" charset="0"/>
              </a:rPr>
              <a:t> The data admin is the individual that oversees the implementation of an entire data governance program. If there is any data-related conflict, the data administrator is the escalation point to resolve the conflict.</a:t>
            </a:r>
          </a:p>
          <a:p>
            <a:r>
              <a:rPr lang="en-US" b="1" dirty="0">
                <a:solidFill>
                  <a:schemeClr val="tx1"/>
                </a:solidFill>
                <a:latin typeface="Times New Roman" panose="02020603050405020304" pitchFamily="18" charset="0"/>
                <a:cs typeface="Times New Roman" panose="02020603050405020304" pitchFamily="18" charset="0"/>
              </a:rPr>
              <a:t>Data steward:</a:t>
            </a:r>
            <a:r>
              <a:rPr lang="en-US" dirty="0">
                <a:solidFill>
                  <a:schemeClr val="tx1"/>
                </a:solidFill>
                <a:latin typeface="Times New Roman" panose="02020603050405020304" pitchFamily="18" charset="0"/>
                <a:cs typeface="Times New Roman" panose="02020603050405020304" pitchFamily="18" charset="0"/>
              </a:rPr>
              <a:t> The data steward enables access to quality data for users across an organization. They bring together business and IT as a core function to enable critical data at accessible access points.</a:t>
            </a:r>
          </a:p>
          <a:p>
            <a:r>
              <a:rPr lang="en-US" b="1" dirty="0">
                <a:solidFill>
                  <a:schemeClr val="tx1"/>
                </a:solidFill>
                <a:latin typeface="Times New Roman" panose="02020603050405020304" pitchFamily="18" charset="0"/>
                <a:cs typeface="Times New Roman" panose="02020603050405020304" pitchFamily="18" charset="0"/>
              </a:rPr>
              <a:t>Data custodian:</a:t>
            </a:r>
            <a:r>
              <a:rPr lang="en-US" dirty="0">
                <a:solidFill>
                  <a:schemeClr val="tx1"/>
                </a:solidFill>
                <a:latin typeface="Times New Roman" panose="02020603050405020304" pitchFamily="18" charset="0"/>
                <a:cs typeface="Times New Roman" panose="02020603050405020304" pitchFamily="18" charset="0"/>
              </a:rPr>
              <a:t> The data custodian focuses on data in transit, as well as at storage points. Their job includes looking at the movement of data, storage of it, as well as security and use across the organization.</a:t>
            </a:r>
          </a:p>
          <a:p>
            <a:r>
              <a:rPr lang="en-US" b="1" dirty="0">
                <a:solidFill>
                  <a:schemeClr val="tx1"/>
                </a:solidFill>
                <a:latin typeface="Times New Roman" panose="02020603050405020304" pitchFamily="18" charset="0"/>
                <a:cs typeface="Times New Roman" panose="02020603050405020304" pitchFamily="18" charset="0"/>
              </a:rPr>
              <a:t>Data user:</a:t>
            </a:r>
            <a:r>
              <a:rPr lang="en-US" dirty="0">
                <a:solidFill>
                  <a:schemeClr val="tx1"/>
                </a:solidFill>
                <a:latin typeface="Times New Roman" panose="02020603050405020304" pitchFamily="18" charset="0"/>
                <a:cs typeface="Times New Roman" panose="02020603050405020304" pitchFamily="18" charset="0"/>
              </a:rPr>
              <a:t> The data user is any individual within an organization that makes use of accessible data to bring value forward.</a:t>
            </a:r>
          </a:p>
          <a:p>
            <a:endParaRPr lang="en-IN" dirty="0"/>
          </a:p>
        </p:txBody>
      </p:sp>
    </p:spTree>
    <p:extLst>
      <p:ext uri="{BB962C8B-B14F-4D97-AF65-F5344CB8AC3E}">
        <p14:creationId xmlns:p14="http://schemas.microsoft.com/office/powerpoint/2010/main" val="34689928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D08DB-1F3B-F7AB-490C-C2A93EEEFEB9}"/>
              </a:ext>
            </a:extLst>
          </p:cNvPr>
          <p:cNvSpPr>
            <a:spLocks noGrp="1"/>
          </p:cNvSpPr>
          <p:nvPr>
            <p:ph type="title"/>
          </p:nvPr>
        </p:nvSpPr>
        <p:spPr>
          <a:xfrm>
            <a:off x="1261872" y="294198"/>
            <a:ext cx="9692640" cy="1053339"/>
          </a:xfrm>
        </p:spPr>
        <p:txBody>
          <a:bodyPr/>
          <a:lstStyle/>
          <a:p>
            <a:r>
              <a:rPr lang="en-US" dirty="0">
                <a:latin typeface="Times New Roman" panose="02020603050405020304" pitchFamily="18" charset="0"/>
                <a:cs typeface="Times New Roman" panose="02020603050405020304" pitchFamily="18" charset="0"/>
              </a:rPr>
              <a:t>How does data governance work?</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68D76C-DEEB-B8A7-4CA4-FC7B2694C07B}"/>
              </a:ext>
            </a:extLst>
          </p:cNvPr>
          <p:cNvSpPr>
            <a:spLocks noGrp="1"/>
          </p:cNvSpPr>
          <p:nvPr>
            <p:ph idx="1"/>
          </p:nvPr>
        </p:nvSpPr>
        <p:spPr>
          <a:xfrm>
            <a:off x="1261872" y="1540042"/>
            <a:ext cx="9470296" cy="4876800"/>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Organize and maintain high‑quality data at scale</a:t>
            </a:r>
          </a:p>
          <a:p>
            <a:r>
              <a:rPr lang="en-US" dirty="0">
                <a:solidFill>
                  <a:schemeClr val="tx1"/>
                </a:solidFill>
                <a:latin typeface="Times New Roman" panose="02020603050405020304" pitchFamily="18" charset="0"/>
                <a:cs typeface="Times New Roman" panose="02020603050405020304" pitchFamily="18" charset="0"/>
              </a:rPr>
              <a:t>As data grows, it’s crucial to locate, organize, and govern it across databases, data warehouses, and data lakes. </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Discover and understand data in context</a:t>
            </a:r>
          </a:p>
          <a:p>
            <a:r>
              <a:rPr lang="en-US" dirty="0">
                <a:solidFill>
                  <a:schemeClr val="tx1"/>
                </a:solidFill>
                <a:latin typeface="Times New Roman" panose="02020603050405020304" pitchFamily="18" charset="0"/>
                <a:cs typeface="Times New Roman" panose="02020603050405020304" pitchFamily="18" charset="0"/>
              </a:rPr>
              <a:t>Security and IT teams should understand not just where data is stored, but its context and meaning. </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Balance privacy, access, and protection</a:t>
            </a:r>
          </a:p>
          <a:p>
            <a:r>
              <a:rPr lang="en-US" dirty="0">
                <a:solidFill>
                  <a:schemeClr val="tx1"/>
                </a:solidFill>
                <a:latin typeface="Times New Roman" panose="02020603050405020304" pitchFamily="18" charset="0"/>
                <a:cs typeface="Times New Roman" panose="02020603050405020304" pitchFamily="18" charset="0"/>
              </a:rPr>
              <a:t>Protecting data is to balance privacy, access, and security.</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Control risk and meet compliance requirements</a:t>
            </a:r>
          </a:p>
          <a:p>
            <a:r>
              <a:rPr lang="en-US" dirty="0">
                <a:solidFill>
                  <a:schemeClr val="tx1"/>
                </a:solidFill>
                <a:latin typeface="Times New Roman" panose="02020603050405020304" pitchFamily="18" charset="0"/>
                <a:cs typeface="Times New Roman" panose="02020603050405020304" pitchFamily="18" charset="0"/>
              </a:rPr>
              <a:t>Strong data governance includes knowing who has access to data and how it’s used, allowing businesses to reduce risk and maintain compliance. </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38681181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21827-E5B7-25FE-688E-9005DAB0010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Governance Checklist</a:t>
            </a:r>
            <a:br>
              <a:rPr lang="en-IN" dirty="0"/>
            </a:br>
            <a:endParaRPr lang="en-IN" dirty="0"/>
          </a:p>
        </p:txBody>
      </p:sp>
      <p:sp>
        <p:nvSpPr>
          <p:cNvPr id="3" name="Content Placeholder 2">
            <a:extLst>
              <a:ext uri="{FF2B5EF4-FFF2-40B4-BE49-F238E27FC236}">
                <a16:creationId xmlns:a16="http://schemas.microsoft.com/office/drawing/2014/main" id="{1304A42E-6294-E060-467D-07F1D495E6DC}"/>
              </a:ext>
            </a:extLst>
          </p:cNvPr>
          <p:cNvSpPr>
            <a:spLocks noGrp="1"/>
          </p:cNvSpPr>
          <p:nvPr>
            <p:ph idx="1"/>
          </p:nvPr>
        </p:nvSpPr>
        <p:spPr>
          <a:xfrm>
            <a:off x="1237488" y="1395663"/>
            <a:ext cx="8619744" cy="5462337"/>
          </a:xfrm>
        </p:spPr>
        <p:txBody>
          <a:bodyPr/>
          <a:lstStyle/>
          <a:p>
            <a:r>
              <a:rPr lang="en-US" b="1" dirty="0">
                <a:solidFill>
                  <a:schemeClr val="tx1"/>
                </a:solidFill>
                <a:latin typeface="Times New Roman" panose="02020603050405020304" pitchFamily="18" charset="0"/>
                <a:cs typeface="Times New Roman" panose="02020603050405020304" pitchFamily="18" charset="0"/>
              </a:rPr>
              <a:t>Define roles and responsibilities:</a:t>
            </a:r>
            <a:r>
              <a:rPr lang="en-US" dirty="0">
                <a:solidFill>
                  <a:schemeClr val="tx1"/>
                </a:solidFill>
                <a:latin typeface="Times New Roman" panose="02020603050405020304" pitchFamily="18" charset="0"/>
                <a:cs typeface="Times New Roman" panose="02020603050405020304" pitchFamily="18" charset="0"/>
              </a:rPr>
              <a:t> Set up data governance roles, involve stakeholders, and ensure accountability.</a:t>
            </a:r>
          </a:p>
          <a:p>
            <a:r>
              <a:rPr lang="en-US" b="1" dirty="0">
                <a:solidFill>
                  <a:schemeClr val="tx1"/>
                </a:solidFill>
                <a:latin typeface="Times New Roman" panose="02020603050405020304" pitchFamily="18" charset="0"/>
                <a:cs typeface="Times New Roman" panose="02020603050405020304" pitchFamily="18" charset="0"/>
              </a:rPr>
              <a:t> Establish policies and standards: </a:t>
            </a:r>
            <a:r>
              <a:rPr lang="en-US" dirty="0">
                <a:solidFill>
                  <a:schemeClr val="tx1"/>
                </a:solidFill>
                <a:latin typeface="Times New Roman" panose="02020603050405020304" pitchFamily="18" charset="0"/>
                <a:cs typeface="Times New Roman" panose="02020603050405020304" pitchFamily="18" charset="0"/>
              </a:rPr>
              <a:t>Define and document data governance policies, tagging, validation, and compliance guardrails.</a:t>
            </a:r>
          </a:p>
          <a:p>
            <a:r>
              <a:rPr lang="en-US" b="1" dirty="0">
                <a:solidFill>
                  <a:schemeClr val="tx1"/>
                </a:solidFill>
                <a:latin typeface="Times New Roman" panose="02020603050405020304" pitchFamily="18" charset="0"/>
                <a:cs typeface="Times New Roman" panose="02020603050405020304" pitchFamily="18" charset="0"/>
              </a:rPr>
              <a:t> Identify metrics and KPIs: </a:t>
            </a:r>
            <a:r>
              <a:rPr lang="en-US" dirty="0">
                <a:solidFill>
                  <a:schemeClr val="tx1"/>
                </a:solidFill>
                <a:latin typeface="Times New Roman" panose="02020603050405020304" pitchFamily="18" charset="0"/>
                <a:cs typeface="Times New Roman" panose="02020603050405020304" pitchFamily="18" charset="0"/>
              </a:rPr>
              <a:t>Select KPIs linked to business outcomes and track performance continuously.</a:t>
            </a:r>
          </a:p>
          <a:p>
            <a:r>
              <a:rPr lang="en-US" b="1" dirty="0">
                <a:solidFill>
                  <a:schemeClr val="tx1"/>
                </a:solidFill>
                <a:latin typeface="Times New Roman" panose="02020603050405020304" pitchFamily="18" charset="0"/>
                <a:cs typeface="Times New Roman" panose="02020603050405020304" pitchFamily="18" charset="0"/>
              </a:rPr>
              <a:t> Build a single source of truth:</a:t>
            </a:r>
            <a:r>
              <a:rPr lang="en-US" dirty="0">
                <a:solidFill>
                  <a:schemeClr val="tx1"/>
                </a:solidFill>
                <a:latin typeface="Times New Roman" panose="02020603050405020304" pitchFamily="18" charset="0"/>
                <a:cs typeface="Times New Roman" panose="02020603050405020304" pitchFamily="18" charset="0"/>
              </a:rPr>
              <a:t> Connect all data assets in a unified catalog with bidirectional metadata flow.</a:t>
            </a:r>
          </a:p>
          <a:p>
            <a:r>
              <a:rPr lang="en-US" b="1" dirty="0">
                <a:solidFill>
                  <a:schemeClr val="tx1"/>
                </a:solidFill>
                <a:latin typeface="Times New Roman" panose="02020603050405020304" pitchFamily="18" charset="0"/>
                <a:cs typeface="Times New Roman" panose="02020603050405020304" pitchFamily="18" charset="0"/>
              </a:rPr>
              <a:t>Outline access controls and user roles: </a:t>
            </a:r>
            <a:r>
              <a:rPr lang="en-US" dirty="0">
                <a:solidFill>
                  <a:schemeClr val="tx1"/>
                </a:solidFill>
                <a:latin typeface="Times New Roman" panose="02020603050405020304" pitchFamily="18" charset="0"/>
                <a:cs typeface="Times New Roman" panose="02020603050405020304" pitchFamily="18" charset="0"/>
              </a:rPr>
              <a:t>Govern access using personas, user roles, and data domains through the catalog.</a:t>
            </a:r>
          </a:p>
          <a:p>
            <a:endParaRPr lang="en-IN" dirty="0"/>
          </a:p>
        </p:txBody>
      </p:sp>
    </p:spTree>
    <p:extLst>
      <p:ext uri="{BB962C8B-B14F-4D97-AF65-F5344CB8AC3E}">
        <p14:creationId xmlns:p14="http://schemas.microsoft.com/office/powerpoint/2010/main" val="30660752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5694B-E9DA-6A82-7683-C2680966B1D9}"/>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Provide accurate and clear notice regarding data governance policies</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92AB628-519B-18C7-5E92-ADC35DC4935F}"/>
              </a:ext>
            </a:extLst>
          </p:cNvPr>
          <p:cNvPicPr>
            <a:picLocks noGrp="1" noChangeAspect="1"/>
          </p:cNvPicPr>
          <p:nvPr>
            <p:ph idx="1"/>
          </p:nvPr>
        </p:nvPicPr>
        <p:blipFill>
          <a:blip r:embed="rId2"/>
          <a:stretch>
            <a:fillRect/>
          </a:stretch>
        </p:blipFill>
        <p:spPr>
          <a:xfrm>
            <a:off x="1074821" y="1828800"/>
            <a:ext cx="9692640" cy="4876800"/>
          </a:xfrm>
          <a:prstGeom prst="rect">
            <a:avLst/>
          </a:prstGeom>
        </p:spPr>
      </p:pic>
    </p:spTree>
    <p:extLst>
      <p:ext uri="{BB962C8B-B14F-4D97-AF65-F5344CB8AC3E}">
        <p14:creationId xmlns:p14="http://schemas.microsoft.com/office/powerpoint/2010/main" val="7390201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C6502-D7E7-D99C-0437-7FCFA2B105AB}"/>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Benefits</a:t>
            </a:r>
            <a:br>
              <a:rPr lang="en-US" dirty="0"/>
            </a:br>
            <a:endParaRPr lang="en-IN" dirty="0"/>
          </a:p>
        </p:txBody>
      </p:sp>
      <p:sp>
        <p:nvSpPr>
          <p:cNvPr id="3" name="Content Placeholder 2">
            <a:extLst>
              <a:ext uri="{FF2B5EF4-FFF2-40B4-BE49-F238E27FC236}">
                <a16:creationId xmlns:a16="http://schemas.microsoft.com/office/drawing/2014/main" id="{3684FB7C-F582-A86F-F6B3-032D291AEDE5}"/>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Better decision-making </a:t>
            </a:r>
          </a:p>
          <a:p>
            <a:r>
              <a:rPr lang="en-US" dirty="0">
                <a:solidFill>
                  <a:schemeClr val="tx1"/>
                </a:solidFill>
                <a:latin typeface="Times New Roman" panose="02020603050405020304" pitchFamily="18" charset="0"/>
                <a:cs typeface="Times New Roman" panose="02020603050405020304" pitchFamily="18" charset="0"/>
              </a:rPr>
              <a:t>Improved operational efficiency </a:t>
            </a:r>
          </a:p>
          <a:p>
            <a:r>
              <a:rPr lang="en-US" dirty="0">
                <a:solidFill>
                  <a:schemeClr val="tx1"/>
                </a:solidFill>
                <a:latin typeface="Times New Roman" panose="02020603050405020304" pitchFamily="18" charset="0"/>
                <a:cs typeface="Times New Roman" panose="02020603050405020304" pitchFamily="18" charset="0"/>
              </a:rPr>
              <a:t>Increased data security </a:t>
            </a:r>
          </a:p>
          <a:p>
            <a:r>
              <a:rPr lang="en-US" dirty="0">
                <a:solidFill>
                  <a:schemeClr val="tx1"/>
                </a:solidFill>
                <a:latin typeface="Times New Roman" panose="02020603050405020304" pitchFamily="18" charset="0"/>
                <a:cs typeface="Times New Roman" panose="02020603050405020304" pitchFamily="18" charset="0"/>
              </a:rPr>
              <a:t>Better compliance management </a:t>
            </a:r>
          </a:p>
          <a:p>
            <a:r>
              <a:rPr lang="en-US" dirty="0">
                <a:solidFill>
                  <a:schemeClr val="tx1"/>
                </a:solidFill>
                <a:latin typeface="Times New Roman" panose="02020603050405020304" pitchFamily="18" charset="0"/>
                <a:cs typeface="Times New Roman" panose="02020603050405020304" pitchFamily="18" charset="0"/>
              </a:rPr>
              <a:t>Reduced business risks </a:t>
            </a:r>
          </a:p>
          <a:p>
            <a:r>
              <a:rPr lang="en-US" dirty="0">
                <a:solidFill>
                  <a:schemeClr val="tx1"/>
                </a:solidFill>
                <a:latin typeface="Times New Roman" panose="02020603050405020304" pitchFamily="18" charset="0"/>
                <a:cs typeface="Times New Roman" panose="02020603050405020304" pitchFamily="18" charset="0"/>
              </a:rPr>
              <a:t>Improved customer confidence</a:t>
            </a:r>
          </a:p>
          <a:p>
            <a:endParaRPr lang="en-IN" dirty="0"/>
          </a:p>
        </p:txBody>
      </p:sp>
    </p:spTree>
    <p:extLst>
      <p:ext uri="{BB962C8B-B14F-4D97-AF65-F5344CB8AC3E}">
        <p14:creationId xmlns:p14="http://schemas.microsoft.com/office/powerpoint/2010/main" val="14147855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D53AF-9787-4818-253A-523AEAE107CD}"/>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Challenges</a:t>
            </a:r>
            <a:br>
              <a:rPr lang="en-US" dirty="0"/>
            </a:br>
            <a:endParaRPr lang="en-IN" dirty="0"/>
          </a:p>
        </p:txBody>
      </p:sp>
      <p:sp>
        <p:nvSpPr>
          <p:cNvPr id="3" name="Content Placeholder 2">
            <a:extLst>
              <a:ext uri="{FF2B5EF4-FFF2-40B4-BE49-F238E27FC236}">
                <a16:creationId xmlns:a16="http://schemas.microsoft.com/office/drawing/2014/main" id="{0F265F8C-AD81-ABDB-43AA-81BE942C3503}"/>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Managing large volumes of data </a:t>
            </a:r>
          </a:p>
          <a:p>
            <a:r>
              <a:rPr lang="en-US" dirty="0">
                <a:solidFill>
                  <a:schemeClr val="tx1"/>
                </a:solidFill>
                <a:latin typeface="Times New Roman" panose="02020603050405020304" pitchFamily="18" charset="0"/>
                <a:cs typeface="Times New Roman" panose="02020603050405020304" pitchFamily="18" charset="0"/>
              </a:rPr>
              <a:t>Poor data quality </a:t>
            </a:r>
          </a:p>
          <a:p>
            <a:r>
              <a:rPr lang="en-US" dirty="0">
                <a:solidFill>
                  <a:schemeClr val="tx1"/>
                </a:solidFill>
                <a:latin typeface="Times New Roman" panose="02020603050405020304" pitchFamily="18" charset="0"/>
                <a:cs typeface="Times New Roman" panose="02020603050405020304" pitchFamily="18" charset="0"/>
              </a:rPr>
              <a:t>Lack of clear policies and standards </a:t>
            </a:r>
          </a:p>
          <a:p>
            <a:r>
              <a:rPr lang="en-US" dirty="0">
                <a:solidFill>
                  <a:schemeClr val="tx1"/>
                </a:solidFill>
                <a:latin typeface="Times New Roman" panose="02020603050405020304" pitchFamily="18" charset="0"/>
                <a:cs typeface="Times New Roman" panose="02020603050405020304" pitchFamily="18" charset="0"/>
              </a:rPr>
              <a:t>Data privacy and security risks </a:t>
            </a:r>
          </a:p>
          <a:p>
            <a:r>
              <a:rPr lang="en-US" dirty="0">
                <a:solidFill>
                  <a:schemeClr val="tx1"/>
                </a:solidFill>
                <a:latin typeface="Times New Roman" panose="02020603050405020304" pitchFamily="18" charset="0"/>
                <a:cs typeface="Times New Roman" panose="02020603050405020304" pitchFamily="18" charset="0"/>
              </a:rPr>
              <a:t>Integration of multiple data sources</a:t>
            </a:r>
          </a:p>
          <a:p>
            <a:endParaRPr lang="en-IN" dirty="0"/>
          </a:p>
        </p:txBody>
      </p:sp>
    </p:spTree>
    <p:extLst>
      <p:ext uri="{BB962C8B-B14F-4D97-AF65-F5344CB8AC3E}">
        <p14:creationId xmlns:p14="http://schemas.microsoft.com/office/powerpoint/2010/main" val="13445673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568E0-61A5-6331-0029-AE9301FBE527}"/>
              </a:ext>
            </a:extLst>
          </p:cNvPr>
          <p:cNvSpPr>
            <a:spLocks noGrp="1"/>
          </p:cNvSpPr>
          <p:nvPr>
            <p:ph type="title"/>
          </p:nvPr>
        </p:nvSpPr>
        <p:spPr>
          <a:xfrm>
            <a:off x="1261872" y="294198"/>
            <a:ext cx="9692640" cy="2144202"/>
          </a:xfrm>
        </p:spPr>
        <p:txBody>
          <a:bodyPr>
            <a:normAutofit/>
          </a:bodyPr>
          <a:lstStyle/>
          <a:p>
            <a:r>
              <a:rPr lang="en-US" dirty="0">
                <a:latin typeface="Times New Roman" panose="02020603050405020304" pitchFamily="18" charset="0"/>
                <a:cs typeface="Times New Roman" panose="02020603050405020304" pitchFamily="18" charset="0"/>
              </a:rPr>
              <a:t>Creating and Implementing a Comprehensive Data Governance Policy</a:t>
            </a:r>
            <a:br>
              <a:rPr lang="en-US" dirty="0"/>
            </a:br>
            <a:endParaRPr lang="en-IN" dirty="0"/>
          </a:p>
        </p:txBody>
      </p:sp>
      <p:sp>
        <p:nvSpPr>
          <p:cNvPr id="3" name="Content Placeholder 2">
            <a:extLst>
              <a:ext uri="{FF2B5EF4-FFF2-40B4-BE49-F238E27FC236}">
                <a16:creationId xmlns:a16="http://schemas.microsoft.com/office/drawing/2014/main" id="{7978B80A-241D-1A05-FBF5-7F0084690BDF}"/>
              </a:ext>
            </a:extLst>
          </p:cNvPr>
          <p:cNvSpPr>
            <a:spLocks noGrp="1"/>
          </p:cNvSpPr>
          <p:nvPr>
            <p:ph idx="1"/>
          </p:nvPr>
        </p:nvSpPr>
        <p:spPr>
          <a:xfrm>
            <a:off x="1237488" y="2294021"/>
            <a:ext cx="9438212" cy="4892842"/>
          </a:xfrm>
        </p:spPr>
        <p:txBody>
          <a:bodyPr>
            <a:normAutofit/>
          </a:bodyPr>
          <a:lstStyle/>
          <a:p>
            <a:pPr fontAlgn="base"/>
            <a:r>
              <a:rPr lang="en-US" b="1" dirty="0">
                <a:solidFill>
                  <a:schemeClr val="tx1"/>
                </a:solidFill>
                <a:latin typeface="Times New Roman" panose="02020603050405020304" pitchFamily="18" charset="0"/>
                <a:cs typeface="Times New Roman" panose="02020603050405020304" pitchFamily="18" charset="0"/>
              </a:rPr>
              <a:t>Define the Purpose and Scope of the Policy</a:t>
            </a:r>
            <a:r>
              <a:rPr lang="en-US" dirty="0">
                <a:solidFill>
                  <a:schemeClr val="tx1"/>
                </a:solidFill>
                <a:latin typeface="Times New Roman" panose="02020603050405020304" pitchFamily="18" charset="0"/>
                <a:cs typeface="Times New Roman" panose="02020603050405020304" pitchFamily="18" charset="0"/>
              </a:rPr>
              <a:t>: Clearly articulate the objectives and boundaries of the data governance policy to ensure alignment with organizational goals.</a:t>
            </a:r>
          </a:p>
          <a:p>
            <a:pPr fontAlgn="base"/>
            <a:r>
              <a:rPr lang="en-US" b="1" dirty="0">
                <a:solidFill>
                  <a:schemeClr val="tx1"/>
                </a:solidFill>
                <a:latin typeface="Times New Roman" panose="02020603050405020304" pitchFamily="18" charset="0"/>
                <a:cs typeface="Times New Roman" panose="02020603050405020304" pitchFamily="18" charset="0"/>
              </a:rPr>
              <a:t>Establish a Data Governance Framework and Structure</a:t>
            </a:r>
            <a:r>
              <a:rPr lang="en-US" dirty="0">
                <a:solidFill>
                  <a:schemeClr val="tx1"/>
                </a:solidFill>
                <a:latin typeface="Times New Roman" panose="02020603050405020304" pitchFamily="18" charset="0"/>
                <a:cs typeface="Times New Roman" panose="02020603050405020304" pitchFamily="18" charset="0"/>
              </a:rPr>
              <a:t>: Develop a framework that outlines the governance structure, including the roles and responsibilities of the data governance team and other key stakeholders.</a:t>
            </a:r>
          </a:p>
          <a:p>
            <a:pPr fontAlgn="base"/>
            <a:r>
              <a:rPr lang="en-US" b="1" dirty="0">
                <a:solidFill>
                  <a:schemeClr val="tx1"/>
                </a:solidFill>
                <a:latin typeface="Times New Roman" panose="02020603050405020304" pitchFamily="18" charset="0"/>
                <a:cs typeface="Times New Roman" panose="02020603050405020304" pitchFamily="18" charset="0"/>
              </a:rPr>
              <a:t>Define Data Governance Principles and Standards</a:t>
            </a:r>
            <a:r>
              <a:rPr lang="en-US" dirty="0">
                <a:solidFill>
                  <a:schemeClr val="tx1"/>
                </a:solidFill>
                <a:latin typeface="Times New Roman" panose="02020603050405020304" pitchFamily="18" charset="0"/>
                <a:cs typeface="Times New Roman" panose="02020603050405020304" pitchFamily="18" charset="0"/>
              </a:rPr>
              <a:t>: Establish guiding principles and standards for data management to ensure consistency and compliance across the organization.</a:t>
            </a:r>
          </a:p>
          <a:p>
            <a:pPr fontAlgn="base"/>
            <a:r>
              <a:rPr lang="en-US" b="1" dirty="0">
                <a:solidFill>
                  <a:schemeClr val="tx1"/>
                </a:solidFill>
                <a:latin typeface="Times New Roman" panose="02020603050405020304" pitchFamily="18" charset="0"/>
                <a:cs typeface="Times New Roman" panose="02020603050405020304" pitchFamily="18" charset="0"/>
              </a:rPr>
              <a:t>Identify Roles and Responsibilities for Data Stewards and Other Stakeholders</a:t>
            </a:r>
            <a:r>
              <a:rPr lang="en-US" dirty="0">
                <a:solidFill>
                  <a:schemeClr val="tx1"/>
                </a:solidFill>
                <a:latin typeface="Times New Roman" panose="02020603050405020304" pitchFamily="18" charset="0"/>
                <a:cs typeface="Times New Roman" panose="02020603050405020304" pitchFamily="18" charset="0"/>
              </a:rPr>
              <a:t>: Assign specific roles and responsibilities to data stewards and other stakeholders to ensure accountability and effective implementation of the policy.</a:t>
            </a:r>
          </a:p>
          <a:p>
            <a:endParaRPr lang="en-IN" dirty="0"/>
          </a:p>
        </p:txBody>
      </p:sp>
    </p:spTree>
    <p:extLst>
      <p:ext uri="{BB962C8B-B14F-4D97-AF65-F5344CB8AC3E}">
        <p14:creationId xmlns:p14="http://schemas.microsoft.com/office/powerpoint/2010/main" val="26000004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6BBA3-44C8-4215-1AE6-4F990BBC6D83}"/>
              </a:ext>
            </a:extLst>
          </p:cNvPr>
          <p:cNvSpPr>
            <a:spLocks noGrp="1"/>
          </p:cNvSpPr>
          <p:nvPr>
            <p:ph type="title"/>
          </p:nvPr>
        </p:nvSpPr>
        <p:spPr>
          <a:xfrm>
            <a:off x="1261872" y="677863"/>
            <a:ext cx="9692640" cy="1397124"/>
          </a:xfrm>
        </p:spPr>
        <p:txBody>
          <a:bodyPr/>
          <a:lstStyle/>
          <a:p>
            <a:r>
              <a:rPr lang="en-US" dirty="0">
                <a:latin typeface="Times New Roman" panose="02020603050405020304" pitchFamily="18" charset="0"/>
                <a:cs typeface="Times New Roman" panose="02020603050405020304" pitchFamily="18" charset="0"/>
              </a:rPr>
              <a:t>Why Policies Are Important</a:t>
            </a:r>
            <a:br>
              <a:rPr lang="en-US" dirty="0"/>
            </a:br>
            <a:endParaRPr lang="en-IN" dirty="0"/>
          </a:p>
        </p:txBody>
      </p:sp>
      <p:sp>
        <p:nvSpPr>
          <p:cNvPr id="3" name="Content Placeholder 2">
            <a:extLst>
              <a:ext uri="{FF2B5EF4-FFF2-40B4-BE49-F238E27FC236}">
                <a16:creationId xmlns:a16="http://schemas.microsoft.com/office/drawing/2014/main" id="{08C79D31-D4CB-13F9-0657-56A1E51E4A30}"/>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Improve data quality and accuracy </a:t>
            </a:r>
          </a:p>
          <a:p>
            <a:r>
              <a:rPr lang="en-US" dirty="0">
                <a:solidFill>
                  <a:schemeClr val="tx1"/>
                </a:solidFill>
                <a:latin typeface="Times New Roman" panose="02020603050405020304" pitchFamily="18" charset="0"/>
                <a:cs typeface="Times New Roman" panose="02020603050405020304" pitchFamily="18" charset="0"/>
              </a:rPr>
              <a:t>Protect sensitive information </a:t>
            </a:r>
          </a:p>
          <a:p>
            <a:r>
              <a:rPr lang="en-US" dirty="0">
                <a:solidFill>
                  <a:schemeClr val="tx1"/>
                </a:solidFill>
                <a:latin typeface="Times New Roman" panose="02020603050405020304" pitchFamily="18" charset="0"/>
                <a:cs typeface="Times New Roman" panose="02020603050405020304" pitchFamily="18" charset="0"/>
              </a:rPr>
              <a:t>Ensure compliance with regulations </a:t>
            </a:r>
          </a:p>
          <a:p>
            <a:r>
              <a:rPr lang="en-US" dirty="0">
                <a:solidFill>
                  <a:schemeClr val="tx1"/>
                </a:solidFill>
                <a:latin typeface="Times New Roman" panose="02020603050405020304" pitchFamily="18" charset="0"/>
                <a:cs typeface="Times New Roman" panose="02020603050405020304" pitchFamily="18" charset="0"/>
              </a:rPr>
              <a:t>Support better decision-making </a:t>
            </a:r>
          </a:p>
          <a:p>
            <a:r>
              <a:rPr lang="en-US" dirty="0">
                <a:solidFill>
                  <a:schemeClr val="tx1"/>
                </a:solidFill>
                <a:latin typeface="Times New Roman" panose="02020603050405020304" pitchFamily="18" charset="0"/>
                <a:cs typeface="Times New Roman" panose="02020603050405020304" pitchFamily="18" charset="0"/>
              </a:rPr>
              <a:t>Reduce risks related to data misuse</a:t>
            </a:r>
          </a:p>
          <a:p>
            <a:endParaRPr lang="en-IN" dirty="0"/>
          </a:p>
        </p:txBody>
      </p:sp>
    </p:spTree>
    <p:extLst>
      <p:ext uri="{BB962C8B-B14F-4D97-AF65-F5344CB8AC3E}">
        <p14:creationId xmlns:p14="http://schemas.microsoft.com/office/powerpoint/2010/main" val="8115711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CFC3C-2D3F-DC69-A9D5-EC85DFCDEE4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Ensuring Compliance with Data Governance Policies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1C07CD-CD57-F984-BEF1-FBFE42395098}"/>
              </a:ext>
            </a:extLst>
          </p:cNvPr>
          <p:cNvSpPr>
            <a:spLocks noGrp="1"/>
          </p:cNvSpPr>
          <p:nvPr>
            <p:ph idx="1"/>
          </p:nvPr>
        </p:nvSpPr>
        <p:spPr>
          <a:xfrm>
            <a:off x="1261871" y="1828800"/>
            <a:ext cx="9692639" cy="4876800"/>
          </a:xfrm>
        </p:spPr>
        <p:txBody>
          <a:bodyPr>
            <a:normAutofit/>
          </a:bodyPr>
          <a:lstStyle/>
          <a:p>
            <a:pPr fontAlgn="base"/>
            <a:r>
              <a:rPr lang="en-US" b="1" dirty="0">
                <a:solidFill>
                  <a:schemeClr val="tx1"/>
                </a:solidFill>
                <a:latin typeface="Times New Roman" panose="02020603050405020304" pitchFamily="18" charset="0"/>
                <a:cs typeface="Times New Roman" panose="02020603050405020304" pitchFamily="18" charset="0"/>
              </a:rPr>
              <a:t>Collaborative Effort:</a:t>
            </a:r>
            <a:r>
              <a:rPr lang="en-US" dirty="0">
                <a:solidFill>
                  <a:schemeClr val="tx1"/>
                </a:solidFill>
                <a:latin typeface="Times New Roman" panose="02020603050405020304" pitchFamily="18" charset="0"/>
                <a:cs typeface="Times New Roman" panose="02020603050405020304" pitchFamily="18" charset="0"/>
              </a:rPr>
              <a:t> Compliance is not the sole responsibility of a single team. Engaging multiple departments—including legal, IT, and operations—enables a more comprehensive approach to developing and enforcing data governance policies.</a:t>
            </a:r>
          </a:p>
          <a:p>
            <a:pPr fontAlgn="base"/>
            <a:r>
              <a:rPr lang="en-US" b="1" dirty="0">
                <a:solidFill>
                  <a:schemeClr val="tx1"/>
                </a:solidFill>
                <a:latin typeface="Times New Roman" panose="02020603050405020304" pitchFamily="18" charset="0"/>
                <a:cs typeface="Times New Roman" panose="02020603050405020304" pitchFamily="18" charset="0"/>
              </a:rPr>
              <a:t>Training and Awareness: </a:t>
            </a:r>
            <a:r>
              <a:rPr lang="en-US" dirty="0">
                <a:solidFill>
                  <a:schemeClr val="tx1"/>
                </a:solidFill>
                <a:latin typeface="Times New Roman" panose="02020603050405020304" pitchFamily="18" charset="0"/>
                <a:cs typeface="Times New Roman" panose="02020603050405020304" pitchFamily="18" charset="0"/>
              </a:rPr>
              <a:t>Educating employees on data governance policies, including roles and responsibilities, is essential for consistent compliance across the organization.</a:t>
            </a:r>
          </a:p>
          <a:p>
            <a:pPr fontAlgn="base"/>
            <a:r>
              <a:rPr lang="en-US" b="1" dirty="0">
                <a:solidFill>
                  <a:schemeClr val="tx1"/>
                </a:solidFill>
                <a:latin typeface="Times New Roman" panose="02020603050405020304" pitchFamily="18" charset="0"/>
                <a:cs typeface="Times New Roman" panose="02020603050405020304" pitchFamily="18" charset="0"/>
              </a:rPr>
              <a:t>Regular Audits and Assessments: </a:t>
            </a:r>
            <a:r>
              <a:rPr lang="en-US" dirty="0">
                <a:solidFill>
                  <a:schemeClr val="tx1"/>
                </a:solidFill>
                <a:latin typeface="Times New Roman" panose="02020603050405020304" pitchFamily="18" charset="0"/>
                <a:cs typeface="Times New Roman" panose="02020603050405020304" pitchFamily="18" charset="0"/>
              </a:rPr>
              <a:t>Implementing periodic audits to verify adherence to data governance policies and ensure data integrity reduces risks of non-compliance and data breaches.</a:t>
            </a:r>
          </a:p>
          <a:p>
            <a:pPr fontAlgn="base"/>
            <a:r>
              <a:rPr lang="en-US" b="1" dirty="0">
                <a:solidFill>
                  <a:schemeClr val="tx1"/>
                </a:solidFill>
                <a:latin typeface="Times New Roman" panose="02020603050405020304" pitchFamily="18" charset="0"/>
                <a:cs typeface="Times New Roman" panose="02020603050405020304" pitchFamily="18" charset="0"/>
              </a:rPr>
              <a:t>Data Quality and Accuracy: </a:t>
            </a:r>
            <a:r>
              <a:rPr lang="en-US" dirty="0">
                <a:solidFill>
                  <a:schemeClr val="tx1"/>
                </a:solidFill>
                <a:latin typeface="Times New Roman" panose="02020603050405020304" pitchFamily="18" charset="0"/>
                <a:cs typeface="Times New Roman" panose="02020603050405020304" pitchFamily="18" charset="0"/>
              </a:rPr>
              <a:t>Policies that prioritize data accuracy and quality help organizations maintain compliance while improving decision-making processes.</a:t>
            </a:r>
          </a:p>
          <a:p>
            <a:endParaRPr lang="en-IN" dirty="0"/>
          </a:p>
        </p:txBody>
      </p:sp>
    </p:spTree>
    <p:extLst>
      <p:ext uri="{BB962C8B-B14F-4D97-AF65-F5344CB8AC3E}">
        <p14:creationId xmlns:p14="http://schemas.microsoft.com/office/powerpoint/2010/main" val="863408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10B7D-A591-8C40-2BAB-61F40279D949}"/>
              </a:ext>
            </a:extLst>
          </p:cNvPr>
          <p:cNvSpPr>
            <a:spLocks noGrp="1"/>
          </p:cNvSpPr>
          <p:nvPr>
            <p:ph type="title"/>
          </p:nvPr>
        </p:nvSpPr>
        <p:spPr>
          <a:xfrm>
            <a:off x="1470420" y="677863"/>
            <a:ext cx="9692640" cy="1397124"/>
          </a:xfrm>
        </p:spPr>
        <p:txBody>
          <a:bodyPr/>
          <a:lstStyle/>
          <a:p>
            <a:r>
              <a:rPr lang="en-US" dirty="0">
                <a:latin typeface="Times New Roman" panose="02020603050405020304" pitchFamily="18" charset="0"/>
                <a:cs typeface="Times New Roman" panose="02020603050405020304" pitchFamily="18" charset="0"/>
              </a:rPr>
              <a:t>Benefits</a:t>
            </a:r>
            <a:br>
              <a:rPr lang="en-US" dirty="0"/>
            </a:br>
            <a:endParaRPr lang="en-IN" dirty="0"/>
          </a:p>
        </p:txBody>
      </p:sp>
      <p:sp>
        <p:nvSpPr>
          <p:cNvPr id="3" name="Content Placeholder 2">
            <a:extLst>
              <a:ext uri="{FF2B5EF4-FFF2-40B4-BE49-F238E27FC236}">
                <a16:creationId xmlns:a16="http://schemas.microsoft.com/office/drawing/2014/main" id="{59423464-4998-D225-6E9C-8C3FA067DCAA}"/>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Better data management </a:t>
            </a:r>
          </a:p>
          <a:p>
            <a:r>
              <a:rPr lang="en-US" dirty="0">
                <a:solidFill>
                  <a:schemeClr val="tx1"/>
                </a:solidFill>
                <a:latin typeface="Times New Roman" panose="02020603050405020304" pitchFamily="18" charset="0"/>
                <a:cs typeface="Times New Roman" panose="02020603050405020304" pitchFamily="18" charset="0"/>
              </a:rPr>
              <a:t>Improved business efficiency </a:t>
            </a:r>
          </a:p>
          <a:p>
            <a:r>
              <a:rPr lang="en-US" dirty="0">
                <a:solidFill>
                  <a:schemeClr val="tx1"/>
                </a:solidFill>
                <a:latin typeface="Times New Roman" panose="02020603050405020304" pitchFamily="18" charset="0"/>
                <a:cs typeface="Times New Roman" panose="02020603050405020304" pitchFamily="18" charset="0"/>
              </a:rPr>
              <a:t>Increased data security </a:t>
            </a:r>
          </a:p>
          <a:p>
            <a:r>
              <a:rPr lang="en-US" dirty="0">
                <a:solidFill>
                  <a:schemeClr val="tx1"/>
                </a:solidFill>
                <a:latin typeface="Times New Roman" panose="02020603050405020304" pitchFamily="18" charset="0"/>
                <a:cs typeface="Times New Roman" panose="02020603050405020304" pitchFamily="18" charset="0"/>
              </a:rPr>
              <a:t>Better compliance with regulations </a:t>
            </a:r>
          </a:p>
          <a:p>
            <a:r>
              <a:rPr lang="en-US" dirty="0">
                <a:solidFill>
                  <a:schemeClr val="tx1"/>
                </a:solidFill>
                <a:latin typeface="Times New Roman" panose="02020603050405020304" pitchFamily="18" charset="0"/>
                <a:cs typeface="Times New Roman" panose="02020603050405020304" pitchFamily="18" charset="0"/>
              </a:rPr>
              <a:t>Reduced operational risks </a:t>
            </a:r>
          </a:p>
          <a:p>
            <a:r>
              <a:rPr lang="en-US" dirty="0">
                <a:solidFill>
                  <a:schemeClr val="tx1"/>
                </a:solidFill>
                <a:latin typeface="Times New Roman" panose="02020603050405020304" pitchFamily="18" charset="0"/>
                <a:cs typeface="Times New Roman" panose="02020603050405020304" pitchFamily="18" charset="0"/>
              </a:rPr>
              <a:t>Improved decision-making </a:t>
            </a:r>
          </a:p>
          <a:p>
            <a:endParaRPr lang="en-IN" dirty="0"/>
          </a:p>
        </p:txBody>
      </p:sp>
    </p:spTree>
    <p:extLst>
      <p:ext uri="{BB962C8B-B14F-4D97-AF65-F5344CB8AC3E}">
        <p14:creationId xmlns:p14="http://schemas.microsoft.com/office/powerpoint/2010/main" val="12842083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686D5-6088-ED9D-3F57-923CD5DE962A}"/>
              </a:ext>
            </a:extLst>
          </p:cNvPr>
          <p:cNvSpPr>
            <a:spLocks noGrp="1"/>
          </p:cNvSpPr>
          <p:nvPr>
            <p:ph type="title"/>
          </p:nvPr>
        </p:nvSpPr>
        <p:spPr>
          <a:xfrm>
            <a:off x="1390209" y="677863"/>
            <a:ext cx="9692640" cy="1397124"/>
          </a:xfrm>
        </p:spPr>
        <p:txBody>
          <a:bodyPr/>
          <a:lstStyle/>
          <a:p>
            <a:r>
              <a:rPr lang="en-US" dirty="0">
                <a:latin typeface="Times New Roman" panose="02020603050405020304" pitchFamily="18" charset="0"/>
                <a:cs typeface="Times New Roman" panose="02020603050405020304" pitchFamily="18" charset="0"/>
              </a:rPr>
              <a:t>What is Data Ethics?</a:t>
            </a:r>
            <a:br>
              <a:rPr lang="en-US" dirty="0"/>
            </a:br>
            <a:endParaRPr lang="en-IN" dirty="0"/>
          </a:p>
        </p:txBody>
      </p:sp>
      <p:sp>
        <p:nvSpPr>
          <p:cNvPr id="3" name="Content Placeholder 2">
            <a:extLst>
              <a:ext uri="{FF2B5EF4-FFF2-40B4-BE49-F238E27FC236}">
                <a16:creationId xmlns:a16="http://schemas.microsoft.com/office/drawing/2014/main" id="{2361B9D5-5D91-ECCA-A4B5-BD41A85B14A2}"/>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Data is collected and used by organizations every day. </a:t>
            </a:r>
          </a:p>
          <a:p>
            <a:r>
              <a:rPr lang="en-US" dirty="0">
                <a:solidFill>
                  <a:schemeClr val="tx1"/>
                </a:solidFill>
                <a:latin typeface="Times New Roman" panose="02020603050405020304" pitchFamily="18" charset="0"/>
                <a:cs typeface="Times New Roman" panose="02020603050405020304" pitchFamily="18" charset="0"/>
              </a:rPr>
              <a:t>Ethical use of data is important for protecting people and organizations. </a:t>
            </a:r>
          </a:p>
          <a:p>
            <a:r>
              <a:rPr lang="en-US" dirty="0">
                <a:solidFill>
                  <a:schemeClr val="tx1"/>
                </a:solidFill>
                <a:latin typeface="Times New Roman" panose="02020603050405020304" pitchFamily="18" charset="0"/>
                <a:cs typeface="Times New Roman" panose="02020603050405020304" pitchFamily="18" charset="0"/>
              </a:rPr>
              <a:t>Data ethics focuses on responsible collection, storage, and use of data. </a:t>
            </a:r>
          </a:p>
          <a:p>
            <a:r>
              <a:rPr lang="en-US" dirty="0">
                <a:solidFill>
                  <a:schemeClr val="tx1"/>
                </a:solidFill>
                <a:latin typeface="Times New Roman" panose="02020603050405020304" pitchFamily="18" charset="0"/>
                <a:cs typeface="Times New Roman" panose="02020603050405020304" pitchFamily="18" charset="0"/>
              </a:rPr>
              <a:t>It helps build trust, fairness, and transparency. </a:t>
            </a:r>
          </a:p>
          <a:p>
            <a:endParaRPr lang="en-IN" dirty="0"/>
          </a:p>
        </p:txBody>
      </p:sp>
    </p:spTree>
    <p:extLst>
      <p:ext uri="{BB962C8B-B14F-4D97-AF65-F5344CB8AC3E}">
        <p14:creationId xmlns:p14="http://schemas.microsoft.com/office/powerpoint/2010/main" val="13381053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259A-D13C-76B9-2ADE-4EF71FD282F3}"/>
              </a:ext>
            </a:extLst>
          </p:cNvPr>
          <p:cNvSpPr>
            <a:spLocks noGrp="1"/>
          </p:cNvSpPr>
          <p:nvPr>
            <p:ph type="title"/>
          </p:nvPr>
        </p:nvSpPr>
        <p:spPr>
          <a:xfrm>
            <a:off x="1249680" y="431676"/>
            <a:ext cx="9692640" cy="1397124"/>
          </a:xfrm>
        </p:spPr>
        <p:txBody>
          <a:bodyPr/>
          <a:lstStyle/>
          <a:p>
            <a:r>
              <a:rPr lang="en-US" dirty="0">
                <a:latin typeface="Times New Roman" panose="02020603050405020304" pitchFamily="18" charset="0"/>
                <a:cs typeface="Times New Roman" panose="02020603050405020304" pitchFamily="18" charset="0"/>
              </a:rPr>
              <a:t>Why Data Ethics is Important</a:t>
            </a:r>
            <a:br>
              <a:rPr lang="en-US" dirty="0"/>
            </a:br>
            <a:endParaRPr lang="en-IN" dirty="0"/>
          </a:p>
        </p:txBody>
      </p:sp>
      <p:sp>
        <p:nvSpPr>
          <p:cNvPr id="3" name="Content Placeholder 2">
            <a:extLst>
              <a:ext uri="{FF2B5EF4-FFF2-40B4-BE49-F238E27FC236}">
                <a16:creationId xmlns:a16="http://schemas.microsoft.com/office/drawing/2014/main" id="{5E1A0643-0792-A976-3237-86A861365A9F}"/>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Protects personal privacy </a:t>
            </a:r>
          </a:p>
          <a:p>
            <a:r>
              <a:rPr lang="en-US" dirty="0">
                <a:solidFill>
                  <a:schemeClr val="tx1"/>
                </a:solidFill>
                <a:latin typeface="Times New Roman" panose="02020603050405020304" pitchFamily="18" charset="0"/>
                <a:cs typeface="Times New Roman" panose="02020603050405020304" pitchFamily="18" charset="0"/>
              </a:rPr>
              <a:t>Prevents misuse of data </a:t>
            </a:r>
          </a:p>
          <a:p>
            <a:r>
              <a:rPr lang="en-US" dirty="0">
                <a:solidFill>
                  <a:schemeClr val="tx1"/>
                </a:solidFill>
                <a:latin typeface="Times New Roman" panose="02020603050405020304" pitchFamily="18" charset="0"/>
                <a:cs typeface="Times New Roman" panose="02020603050405020304" pitchFamily="18" charset="0"/>
              </a:rPr>
              <a:t>Builds customer trust </a:t>
            </a:r>
          </a:p>
          <a:p>
            <a:r>
              <a:rPr lang="en-US" dirty="0">
                <a:solidFill>
                  <a:schemeClr val="tx1"/>
                </a:solidFill>
                <a:latin typeface="Times New Roman" panose="02020603050405020304" pitchFamily="18" charset="0"/>
                <a:cs typeface="Times New Roman" panose="02020603050405020304" pitchFamily="18" charset="0"/>
              </a:rPr>
              <a:t>Ensures fairness and transparency </a:t>
            </a:r>
          </a:p>
          <a:p>
            <a:r>
              <a:rPr lang="en-US" dirty="0">
                <a:solidFill>
                  <a:schemeClr val="tx1"/>
                </a:solidFill>
                <a:latin typeface="Times New Roman" panose="02020603050405020304" pitchFamily="18" charset="0"/>
                <a:cs typeface="Times New Roman" panose="02020603050405020304" pitchFamily="18" charset="0"/>
              </a:rPr>
              <a:t>Supports responsible decision-making </a:t>
            </a:r>
          </a:p>
          <a:p>
            <a:r>
              <a:rPr lang="en-US" dirty="0">
                <a:solidFill>
                  <a:schemeClr val="tx1"/>
                </a:solidFill>
                <a:latin typeface="Times New Roman" panose="02020603050405020304" pitchFamily="18" charset="0"/>
                <a:cs typeface="Times New Roman" panose="02020603050405020304" pitchFamily="18" charset="0"/>
              </a:rPr>
              <a:t>Helps organizations follow regulations</a:t>
            </a:r>
          </a:p>
          <a:p>
            <a:endParaRPr lang="en-IN" dirty="0"/>
          </a:p>
        </p:txBody>
      </p:sp>
    </p:spTree>
    <p:extLst>
      <p:ext uri="{BB962C8B-B14F-4D97-AF65-F5344CB8AC3E}">
        <p14:creationId xmlns:p14="http://schemas.microsoft.com/office/powerpoint/2010/main" val="2729565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02747-B635-B189-CF5E-59389A5ED912}"/>
              </a:ext>
            </a:extLst>
          </p:cNvPr>
          <p:cNvSpPr>
            <a:spLocks noGrp="1"/>
          </p:cNvSpPr>
          <p:nvPr>
            <p:ph type="title"/>
          </p:nvPr>
        </p:nvSpPr>
        <p:spPr>
          <a:xfrm>
            <a:off x="1261871" y="431676"/>
            <a:ext cx="9692640" cy="1397124"/>
          </a:xfrm>
        </p:spPr>
        <p:txBody>
          <a:bodyPr/>
          <a:lstStyle/>
          <a:p>
            <a:r>
              <a:rPr lang="en-US" dirty="0">
                <a:latin typeface="Times New Roman" panose="02020603050405020304" pitchFamily="18" charset="0"/>
                <a:cs typeface="Times New Roman" panose="02020603050405020304" pitchFamily="18" charset="0"/>
              </a:rPr>
              <a:t>Principles of Big Data Ethics</a:t>
            </a:r>
            <a:br>
              <a:rPr lang="en-US" dirty="0"/>
            </a:br>
            <a:endParaRPr lang="en-IN" dirty="0"/>
          </a:p>
        </p:txBody>
      </p:sp>
      <p:sp>
        <p:nvSpPr>
          <p:cNvPr id="3" name="Content Placeholder 2">
            <a:extLst>
              <a:ext uri="{FF2B5EF4-FFF2-40B4-BE49-F238E27FC236}">
                <a16:creationId xmlns:a16="http://schemas.microsoft.com/office/drawing/2014/main" id="{7AFA7E7A-6343-B320-51CA-F1798B564925}"/>
              </a:ext>
            </a:extLst>
          </p:cNvPr>
          <p:cNvSpPr>
            <a:spLocks noGrp="1"/>
          </p:cNvSpPr>
          <p:nvPr>
            <p:ph idx="1"/>
          </p:nvPr>
        </p:nvSpPr>
        <p:spPr>
          <a:xfrm>
            <a:off x="1261871" y="1828800"/>
            <a:ext cx="9197581" cy="4351337"/>
          </a:xfrm>
        </p:spPr>
        <p:txBody>
          <a:bodyPr/>
          <a:lstStyle/>
          <a:p>
            <a:pPr>
              <a:lnSpc>
                <a:spcPct val="150000"/>
              </a:lnSpc>
            </a:pPr>
            <a:r>
              <a:rPr lang="en-US" b="1" dirty="0">
                <a:solidFill>
                  <a:schemeClr val="tx1"/>
                </a:solidFill>
                <a:latin typeface="Times New Roman" panose="02020603050405020304" pitchFamily="18" charset="0"/>
                <a:cs typeface="Times New Roman" panose="02020603050405020304" pitchFamily="18" charset="0"/>
              </a:rPr>
              <a:t>Transparency:</a:t>
            </a:r>
            <a:r>
              <a:rPr lang="en-US" dirty="0">
                <a:solidFill>
                  <a:schemeClr val="tx1"/>
                </a:solidFill>
                <a:latin typeface="Times New Roman" panose="02020603050405020304" pitchFamily="18" charset="0"/>
                <a:cs typeface="Times New Roman" panose="02020603050405020304" pitchFamily="18" charset="0"/>
              </a:rPr>
              <a:t> Clear communication about data collection, storage, and sharing practices is vital. Users should understand how their information is being used, without needing legal expertise to navigate terms and conditions.</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Accountability:</a:t>
            </a:r>
            <a:r>
              <a:rPr lang="en-US" dirty="0">
                <a:solidFill>
                  <a:schemeClr val="tx1"/>
                </a:solidFill>
                <a:latin typeface="Times New Roman" panose="02020603050405020304" pitchFamily="18" charset="0"/>
                <a:cs typeface="Times New Roman" panose="02020603050405020304" pitchFamily="18" charset="0"/>
              </a:rPr>
              <a:t> Organizations must take responsibility for the data they collect, including protecting it from breaches and misuse. </a:t>
            </a:r>
          </a:p>
          <a:p>
            <a:pPr>
              <a:lnSpc>
                <a:spcPct val="150000"/>
              </a:lnSpc>
            </a:pPr>
            <a:r>
              <a:rPr lang="en-US" b="1" dirty="0">
                <a:solidFill>
                  <a:schemeClr val="tx1"/>
                </a:solidFill>
                <a:latin typeface="Times New Roman" panose="02020603050405020304" pitchFamily="18" charset="0"/>
                <a:cs typeface="Times New Roman" panose="02020603050405020304" pitchFamily="18" charset="0"/>
              </a:rPr>
              <a:t>Individual Agency:</a:t>
            </a:r>
            <a:r>
              <a:rPr lang="en-US" dirty="0">
                <a:solidFill>
                  <a:schemeClr val="tx1"/>
                </a:solidFill>
                <a:latin typeface="Times New Roman" panose="02020603050405020304" pitchFamily="18" charset="0"/>
                <a:cs typeface="Times New Roman" panose="02020603050405020304" pitchFamily="18" charset="0"/>
              </a:rPr>
              <a:t> Individuals should have control over their personal data, including the ability to access, correct, or delete their information. Ensuring this agency is a fundamental human right in the digital age</a:t>
            </a:r>
            <a:r>
              <a:rPr lang="en-US" dirty="0">
                <a:solidFill>
                  <a:schemeClr val="tx1"/>
                </a:solidFill>
              </a:rPr>
              <a:t>.</a:t>
            </a:r>
          </a:p>
          <a:p>
            <a:endParaRPr lang="en-IN" dirty="0"/>
          </a:p>
        </p:txBody>
      </p:sp>
    </p:spTree>
    <p:extLst>
      <p:ext uri="{BB962C8B-B14F-4D97-AF65-F5344CB8AC3E}">
        <p14:creationId xmlns:p14="http://schemas.microsoft.com/office/powerpoint/2010/main" val="57429349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04298-F950-8F4F-7A74-9065B5B5D7A0}"/>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Understanding the Current &amp; Potential Future Data Ethics Landscape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3E840F-0AD5-60D0-9EDE-74E11F881412}"/>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Privacy Protection</a:t>
            </a:r>
            <a:r>
              <a:rPr lang="en-US" dirty="0">
                <a:solidFill>
                  <a:schemeClr val="tx1"/>
                </a:solidFill>
                <a:latin typeface="Times New Roman" panose="02020603050405020304" pitchFamily="18" charset="0"/>
                <a:cs typeface="Times New Roman" panose="02020603050405020304" pitchFamily="18" charset="0"/>
              </a:rPr>
              <a:t> – Organizations must protect personal information from misuse and unauthorized access.</a:t>
            </a:r>
          </a:p>
          <a:p>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Transparency</a:t>
            </a:r>
            <a:r>
              <a:rPr lang="en-US" dirty="0">
                <a:solidFill>
                  <a:schemeClr val="tx1"/>
                </a:solidFill>
                <a:latin typeface="Times New Roman" panose="02020603050405020304" pitchFamily="18" charset="0"/>
                <a:cs typeface="Times New Roman" panose="02020603050405020304" pitchFamily="18" charset="0"/>
              </a:rPr>
              <a:t> – Users should know what data is collected and how it is used. </a:t>
            </a:r>
          </a:p>
          <a:p>
            <a:r>
              <a:rPr lang="en-US" b="1" dirty="0">
                <a:solidFill>
                  <a:schemeClr val="tx1"/>
                </a:solidFill>
                <a:latin typeface="Times New Roman" panose="02020603050405020304" pitchFamily="18" charset="0"/>
                <a:cs typeface="Times New Roman" panose="02020603050405020304" pitchFamily="18" charset="0"/>
              </a:rPr>
              <a:t>Fairness and Bias Reduction</a:t>
            </a:r>
            <a:r>
              <a:rPr lang="en-US" dirty="0">
                <a:solidFill>
                  <a:schemeClr val="tx1"/>
                </a:solidFill>
                <a:latin typeface="Times New Roman" panose="02020603050405020304" pitchFamily="18" charset="0"/>
                <a:cs typeface="Times New Roman" panose="02020603050405020304" pitchFamily="18" charset="0"/>
              </a:rPr>
              <a:t> – AI systems and algorithms should avoid discrimination and unfair decisions.</a:t>
            </a:r>
          </a:p>
          <a:p>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Accountability</a:t>
            </a:r>
            <a:r>
              <a:rPr lang="en-US" dirty="0">
                <a:solidFill>
                  <a:schemeClr val="tx1"/>
                </a:solidFill>
                <a:latin typeface="Times New Roman" panose="02020603050405020304" pitchFamily="18" charset="0"/>
                <a:cs typeface="Times New Roman" panose="02020603050405020304" pitchFamily="18" charset="0"/>
              </a:rPr>
              <a:t> – Companies and governments must take responsibility for data-related decisions. </a:t>
            </a:r>
          </a:p>
          <a:p>
            <a:r>
              <a:rPr lang="en-US" b="1" dirty="0">
                <a:solidFill>
                  <a:schemeClr val="tx1"/>
                </a:solidFill>
                <a:latin typeface="Times New Roman" panose="02020603050405020304" pitchFamily="18" charset="0"/>
                <a:cs typeface="Times New Roman" panose="02020603050405020304" pitchFamily="18" charset="0"/>
              </a:rPr>
              <a:t>Security</a:t>
            </a:r>
            <a:r>
              <a:rPr lang="en-US" dirty="0">
                <a:solidFill>
                  <a:schemeClr val="tx1"/>
                </a:solidFill>
                <a:latin typeface="Times New Roman" panose="02020603050405020304" pitchFamily="18" charset="0"/>
                <a:cs typeface="Times New Roman" panose="02020603050405020304" pitchFamily="18" charset="0"/>
              </a:rPr>
              <a:t> – Strong cybersecurity measures are needed to prevent data breaches.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11552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1A048-BDB4-1BA1-92EB-133D0ADCC23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Today’s Challenges</a:t>
            </a:r>
          </a:p>
        </p:txBody>
      </p:sp>
      <p:sp>
        <p:nvSpPr>
          <p:cNvPr id="3" name="Content Placeholder 2">
            <a:extLst>
              <a:ext uri="{FF2B5EF4-FFF2-40B4-BE49-F238E27FC236}">
                <a16:creationId xmlns:a16="http://schemas.microsoft.com/office/drawing/2014/main" id="{3303B7F3-E105-BE95-49E3-CDF5BDA676F5}"/>
              </a:ext>
            </a:extLst>
          </p:cNvPr>
          <p:cNvSpPr>
            <a:spLocks noGrp="1"/>
          </p:cNvSpPr>
          <p:nvPr>
            <p:ph idx="1"/>
          </p:nvPr>
        </p:nvSpPr>
        <p:spPr>
          <a:xfrm>
            <a:off x="1261872" y="1828800"/>
            <a:ext cx="9967602" cy="4735002"/>
          </a:xfrm>
        </p:spPr>
        <p:txBody>
          <a:bodyPr>
            <a:normAutofit/>
          </a:bodyPr>
          <a:lstStyle/>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Ethical Algorithms</a:t>
            </a:r>
          </a:p>
          <a:p>
            <a:r>
              <a:rPr lang="en-US" dirty="0">
                <a:solidFill>
                  <a:schemeClr val="tx1"/>
                </a:solidFill>
                <a:latin typeface="Times New Roman" panose="02020603050405020304" pitchFamily="18" charset="0"/>
                <a:cs typeface="Times New Roman" panose="02020603050405020304" pitchFamily="18" charset="0"/>
              </a:rPr>
              <a:t>Algorithms have the potential to amplify the impact of any action a million times over as they’re implemented. Even in the infancy of their capability, there are many examples of how a lack of ethical safeguards for algorithms affects us. </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Privacy </a:t>
            </a:r>
          </a:p>
          <a:p>
            <a:r>
              <a:rPr lang="en-US" dirty="0">
                <a:solidFill>
                  <a:schemeClr val="tx1"/>
                </a:solidFill>
                <a:latin typeface="Times New Roman" panose="02020603050405020304" pitchFamily="18" charset="0"/>
                <a:cs typeface="Times New Roman" panose="02020603050405020304" pitchFamily="18" charset="0"/>
              </a:rPr>
              <a:t>Learn more about data privacy and anonymization in Python with our interactive course.</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Data Security</a:t>
            </a:r>
          </a:p>
          <a:p>
            <a:r>
              <a:rPr lang="en-US" dirty="0">
                <a:solidFill>
                  <a:schemeClr val="tx1"/>
                </a:solidFill>
                <a:latin typeface="Times New Roman" panose="02020603050405020304" pitchFamily="18" charset="0"/>
                <a:cs typeface="Times New Roman" panose="02020603050405020304" pitchFamily="18" charset="0"/>
              </a:rPr>
              <a:t>From inherent security flaws to hacking vulnerabilities, data security can put more than your login info at risk. Apps and websites of all kinds can pinpoint your location, read your messages, see who you’ve blocked, and how you spend.</a:t>
            </a:r>
          </a:p>
          <a:p>
            <a:endParaRPr lang="en-US" dirty="0"/>
          </a:p>
          <a:p>
            <a:endParaRPr lang="en-IN" dirty="0"/>
          </a:p>
        </p:txBody>
      </p:sp>
    </p:spTree>
    <p:extLst>
      <p:ext uri="{BB962C8B-B14F-4D97-AF65-F5344CB8AC3E}">
        <p14:creationId xmlns:p14="http://schemas.microsoft.com/office/powerpoint/2010/main" val="5835350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C851E-AFAC-1FEB-1C69-B1A45675CCE8}"/>
              </a:ext>
            </a:extLst>
          </p:cNvPr>
          <p:cNvSpPr>
            <a:spLocks noGrp="1"/>
          </p:cNvSpPr>
          <p:nvPr>
            <p:ph type="title"/>
          </p:nvPr>
        </p:nvSpPr>
        <p:spPr>
          <a:xfrm>
            <a:off x="1261872" y="550872"/>
            <a:ext cx="9692640" cy="1397124"/>
          </a:xfrm>
        </p:spPr>
        <p:txBody>
          <a:bodyPr/>
          <a:lstStyle/>
          <a:p>
            <a:r>
              <a:rPr lang="en-US" dirty="0">
                <a:latin typeface="Times New Roman" panose="02020603050405020304" pitchFamily="18" charset="0"/>
                <a:cs typeface="Times New Roman" panose="02020603050405020304" pitchFamily="18" charset="0"/>
              </a:rPr>
              <a:t>Why Ethics Defines the Future of Web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CBB7EEA-5B45-CA20-B9A8-63D9FA0B6411}"/>
              </a:ext>
            </a:extLst>
          </p:cNvPr>
          <p:cNvSpPr>
            <a:spLocks noGrp="1"/>
          </p:cNvSpPr>
          <p:nvPr>
            <p:ph idx="1"/>
          </p:nvPr>
        </p:nvSpPr>
        <p:spPr>
          <a:xfrm>
            <a:off x="1261872" y="2107071"/>
            <a:ext cx="8595360" cy="4351337"/>
          </a:xfrm>
        </p:spPr>
        <p:txBody>
          <a:bodyPr/>
          <a:lstStyle/>
          <a:p>
            <a:pPr>
              <a:lnSpc>
                <a:spcPct val="150000"/>
              </a:lnSpc>
            </a:pPr>
            <a:r>
              <a:rPr lang="en-US" dirty="0">
                <a:solidFill>
                  <a:schemeClr val="tx1"/>
                </a:solidFill>
                <a:latin typeface="Times New Roman" panose="02020603050405020304" pitchFamily="18" charset="0"/>
                <a:cs typeface="Times New Roman" panose="02020603050405020304" pitchFamily="18" charset="0"/>
              </a:rPr>
              <a:t>Ethics plays a major role in shaping the future of web data because the internet collects, stores, and processes huge amounts of personal and business information every day. As technologies like artificial intelligence (AI), big data, and cloud computing grow rapidly, ethical data practices are becoming essential for maintaining trust, privacy, and fairness.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6954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34AF-839F-D168-EDAA-785DECB2054D}"/>
              </a:ext>
            </a:extLst>
          </p:cNvPr>
          <p:cNvSpPr>
            <a:spLocks noGrp="1"/>
          </p:cNvSpPr>
          <p:nvPr>
            <p:ph type="title"/>
          </p:nvPr>
        </p:nvSpPr>
        <p:spPr>
          <a:xfrm>
            <a:off x="1261872" y="855672"/>
            <a:ext cx="9692640" cy="1397124"/>
          </a:xfrm>
        </p:spPr>
        <p:txBody>
          <a:bodyPr>
            <a:normAutofit fontScale="90000"/>
          </a:bodyPr>
          <a:lstStyle/>
          <a:p>
            <a:r>
              <a:rPr lang="en-US" sz="4900" dirty="0">
                <a:latin typeface="Times New Roman" panose="02020603050405020304" pitchFamily="18" charset="0"/>
                <a:cs typeface="Times New Roman" panose="02020603050405020304" pitchFamily="18" charset="0"/>
              </a:rPr>
              <a:t>The Core Principles of Responsible Collection</a:t>
            </a:r>
            <a:br>
              <a:rPr lang="en-US" dirty="0"/>
            </a:br>
            <a:endParaRPr lang="en-IN" dirty="0"/>
          </a:p>
        </p:txBody>
      </p:sp>
      <p:sp>
        <p:nvSpPr>
          <p:cNvPr id="3" name="Content Placeholder 2">
            <a:extLst>
              <a:ext uri="{FF2B5EF4-FFF2-40B4-BE49-F238E27FC236}">
                <a16:creationId xmlns:a16="http://schemas.microsoft.com/office/drawing/2014/main" id="{BE798565-B2D7-0D5A-EDEE-3A255384CF00}"/>
              </a:ext>
            </a:extLst>
          </p:cNvPr>
          <p:cNvSpPr>
            <a:spLocks noGrp="1"/>
          </p:cNvSpPr>
          <p:nvPr>
            <p:ph idx="1"/>
          </p:nvPr>
        </p:nvSpPr>
        <p:spPr>
          <a:xfrm>
            <a:off x="1261872" y="1828800"/>
            <a:ext cx="8595360" cy="487680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Purpose clarity</a:t>
            </a:r>
            <a:r>
              <a:rPr lang="en-US" dirty="0">
                <a:solidFill>
                  <a:schemeClr val="tx1"/>
                </a:solidFill>
                <a:latin typeface="Times New Roman" panose="02020603050405020304" pitchFamily="18" charset="0"/>
                <a:cs typeface="Times New Roman" panose="02020603050405020304" pitchFamily="18" charset="0"/>
              </a:rPr>
              <a:t> means you define why you’re collecting data before you start. Every crawl must serve a documented business goal such as price tracking, sentiment analysis, or competitive benchmarking.</a:t>
            </a:r>
          </a:p>
          <a:p>
            <a:r>
              <a:rPr lang="en-US" b="1" dirty="0">
                <a:solidFill>
                  <a:schemeClr val="tx1"/>
                </a:solidFill>
                <a:latin typeface="Times New Roman" panose="02020603050405020304" pitchFamily="18" charset="0"/>
                <a:cs typeface="Times New Roman" panose="02020603050405020304" pitchFamily="18" charset="0"/>
              </a:rPr>
              <a:t>Consent and rights</a:t>
            </a:r>
            <a:r>
              <a:rPr lang="en-US" dirty="0">
                <a:solidFill>
                  <a:schemeClr val="tx1"/>
                </a:solidFill>
                <a:latin typeface="Times New Roman" panose="02020603050405020304" pitchFamily="18" charset="0"/>
                <a:cs typeface="Times New Roman" panose="02020603050405020304" pitchFamily="18" charset="0"/>
              </a:rPr>
              <a:t> come next. Many websites explicitly state how their content can be accessed. Checking the robots.txt file or Terms of Service is not optional; it’s a baseline courtesy.</a:t>
            </a:r>
          </a:p>
          <a:p>
            <a:r>
              <a:rPr lang="en-US" b="1" dirty="0">
                <a:solidFill>
                  <a:schemeClr val="tx1"/>
                </a:solidFill>
                <a:latin typeface="Times New Roman" panose="02020603050405020304" pitchFamily="18" charset="0"/>
                <a:cs typeface="Times New Roman" panose="02020603050405020304" pitchFamily="18" charset="0"/>
              </a:rPr>
              <a:t>Minimization</a:t>
            </a:r>
            <a:r>
              <a:rPr lang="en-US" dirty="0">
                <a:solidFill>
                  <a:schemeClr val="tx1"/>
                </a:solidFill>
                <a:latin typeface="Times New Roman" panose="02020603050405020304" pitchFamily="18" charset="0"/>
                <a:cs typeface="Times New Roman" panose="02020603050405020304" pitchFamily="18" charset="0"/>
              </a:rPr>
              <a:t> keeps the collection lean. You don’t need to store every element on a page to answer your business question.</a:t>
            </a:r>
          </a:p>
          <a:p>
            <a:r>
              <a:rPr lang="en-US" b="1" dirty="0">
                <a:solidFill>
                  <a:schemeClr val="tx1"/>
                </a:solidFill>
                <a:latin typeface="Times New Roman" panose="02020603050405020304" pitchFamily="18" charset="0"/>
                <a:cs typeface="Times New Roman" panose="02020603050405020304" pitchFamily="18" charset="0"/>
              </a:rPr>
              <a:t>Transparency</a:t>
            </a:r>
            <a:r>
              <a:rPr lang="en-US" dirty="0">
                <a:solidFill>
                  <a:schemeClr val="tx1"/>
                </a:solidFill>
                <a:latin typeface="Times New Roman" panose="02020603050405020304" pitchFamily="18" charset="0"/>
                <a:cs typeface="Times New Roman" panose="02020603050405020304" pitchFamily="18" charset="0"/>
              </a:rPr>
              <a:t> is about documentation. Record the source, schema, and update frequency. When your legal or compliance team asks for an audit trail, you’ll have one ready.</a:t>
            </a:r>
          </a:p>
          <a:p>
            <a:r>
              <a:rPr lang="en-US" b="1" dirty="0">
                <a:solidFill>
                  <a:schemeClr val="tx1"/>
                </a:solidFill>
                <a:latin typeface="Times New Roman" panose="02020603050405020304" pitchFamily="18" charset="0"/>
                <a:cs typeface="Times New Roman" panose="02020603050405020304" pitchFamily="18" charset="0"/>
              </a:rPr>
              <a:t>Protection</a:t>
            </a:r>
            <a:r>
              <a:rPr lang="en-US" dirty="0">
                <a:solidFill>
                  <a:schemeClr val="tx1"/>
                </a:solidFill>
                <a:latin typeface="Times New Roman" panose="02020603050405020304" pitchFamily="18" charset="0"/>
                <a:cs typeface="Times New Roman" panose="02020603050405020304" pitchFamily="18" charset="0"/>
              </a:rPr>
              <a:t> completes the loop. Store data securely, encrypt it at rest and in transit, restrict access, and delete it when it’s no longer useful. </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7724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2D3B-E9C5-ACF7-9A2E-0103954101B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does data ethics impact AI and machine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9B67E-F56D-5D3A-5AFE-9D01647E48E4}"/>
              </a:ext>
            </a:extLst>
          </p:cNvPr>
          <p:cNvSpPr>
            <a:spLocks noGrp="1"/>
          </p:cNvSpPr>
          <p:nvPr>
            <p:ph idx="1"/>
          </p:nvPr>
        </p:nvSpPr>
        <p:spPr/>
        <p:txBody>
          <a:bodyPr/>
          <a:lstStyle/>
          <a:p>
            <a:pPr>
              <a:lnSpc>
                <a:spcPct val="150000"/>
              </a:lnSpc>
            </a:pPr>
            <a:r>
              <a:rPr lang="en-US" dirty="0">
                <a:solidFill>
                  <a:schemeClr val="tx1"/>
                </a:solidFill>
                <a:latin typeface="Times New Roman" panose="02020603050405020304" pitchFamily="18" charset="0"/>
                <a:cs typeface="Times New Roman" panose="02020603050405020304" pitchFamily="18" charset="0"/>
              </a:rPr>
              <a:t>Data ethics significantly impacts AI and machine learning as these technologies rely heavily on data. Ethical considerations include ensuring fairness, avoiding biases, and protecting privacy. Organizations must carefully consider how data is used to train AI models and ensure that these models do not perpetuate discrimination or harm. Ethical AI development involves continuous monitoring, testing for biases, and involving diverse stakeholders in the design process.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5435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4334-36BD-4778-C974-42B6006A43CA}"/>
              </a:ext>
            </a:extLst>
          </p:cNvPr>
          <p:cNvSpPr>
            <a:spLocks noGrp="1"/>
          </p:cNvSpPr>
          <p:nvPr>
            <p:ph type="title"/>
          </p:nvPr>
        </p:nvSpPr>
        <p:spPr>
          <a:xfrm>
            <a:off x="1261872" y="294198"/>
            <a:ext cx="9692640" cy="860834"/>
          </a:xfrm>
        </p:spPr>
        <p:txBody>
          <a:bodyPr/>
          <a:lstStyle/>
          <a:p>
            <a:r>
              <a:rPr lang="en-US" dirty="0">
                <a:latin typeface="Times New Roman" panose="02020603050405020304" pitchFamily="18" charset="0"/>
                <a:cs typeface="Times New Roman" panose="02020603050405020304" pitchFamily="18" charset="0"/>
              </a:rPr>
              <a:t>Top 3 Ethics in Data Collection</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1D7A3E1-0B2C-99DE-0AAB-244F8F4B280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261872" y="1534602"/>
            <a:ext cx="9692640" cy="5029200"/>
          </a:xfrm>
          <a:prstGeom prst="rect">
            <a:avLst/>
          </a:prstGeom>
        </p:spPr>
      </p:pic>
    </p:spTree>
    <p:extLst>
      <p:ext uri="{BB962C8B-B14F-4D97-AF65-F5344CB8AC3E}">
        <p14:creationId xmlns:p14="http://schemas.microsoft.com/office/powerpoint/2010/main" val="280676707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E85D5-BCAC-2488-E1CE-6680269FEB77}"/>
              </a:ext>
            </a:extLst>
          </p:cNvPr>
          <p:cNvSpPr>
            <a:spLocks noGrp="1"/>
          </p:cNvSpPr>
          <p:nvPr>
            <p:ph type="title"/>
          </p:nvPr>
        </p:nvSpPr>
        <p:spPr>
          <a:xfrm>
            <a:off x="1261872" y="807546"/>
            <a:ext cx="9692640" cy="1397124"/>
          </a:xfrm>
        </p:spPr>
        <p:txBody>
          <a:bodyPr/>
          <a:lstStyle/>
          <a:p>
            <a:r>
              <a:rPr lang="en-US" dirty="0">
                <a:latin typeface="Times New Roman" panose="02020603050405020304" pitchFamily="18" charset="0"/>
                <a:cs typeface="Times New Roman" panose="02020603050405020304" pitchFamily="18" charset="0"/>
              </a:rPr>
              <a:t>Benefits</a:t>
            </a:r>
            <a:br>
              <a:rPr lang="en-US" dirty="0"/>
            </a:br>
            <a:endParaRPr lang="en-IN" dirty="0"/>
          </a:p>
        </p:txBody>
      </p:sp>
      <p:sp>
        <p:nvSpPr>
          <p:cNvPr id="3" name="Content Placeholder 2">
            <a:extLst>
              <a:ext uri="{FF2B5EF4-FFF2-40B4-BE49-F238E27FC236}">
                <a16:creationId xmlns:a16="http://schemas.microsoft.com/office/drawing/2014/main" id="{B5510DA5-3C6B-0CB2-C185-24CBC74F3564}"/>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Improves customer trust and loyalty </a:t>
            </a:r>
          </a:p>
          <a:p>
            <a:r>
              <a:rPr lang="en-US" dirty="0">
                <a:solidFill>
                  <a:schemeClr val="tx1"/>
                </a:solidFill>
                <a:latin typeface="Times New Roman" panose="02020603050405020304" pitchFamily="18" charset="0"/>
                <a:cs typeface="Times New Roman" panose="02020603050405020304" pitchFamily="18" charset="0"/>
              </a:rPr>
              <a:t>Enhances business reputation </a:t>
            </a:r>
          </a:p>
          <a:p>
            <a:r>
              <a:rPr lang="en-US" dirty="0">
                <a:solidFill>
                  <a:schemeClr val="tx1"/>
                </a:solidFill>
                <a:latin typeface="Times New Roman" panose="02020603050405020304" pitchFamily="18" charset="0"/>
                <a:cs typeface="Times New Roman" panose="02020603050405020304" pitchFamily="18" charset="0"/>
              </a:rPr>
              <a:t>Reduces legal and security risks </a:t>
            </a:r>
          </a:p>
          <a:p>
            <a:r>
              <a:rPr lang="en-US" dirty="0">
                <a:solidFill>
                  <a:schemeClr val="tx1"/>
                </a:solidFill>
                <a:latin typeface="Times New Roman" panose="02020603050405020304" pitchFamily="18" charset="0"/>
                <a:cs typeface="Times New Roman" panose="02020603050405020304" pitchFamily="18" charset="0"/>
              </a:rPr>
              <a:t>Supports accurate and reliable analysis </a:t>
            </a:r>
          </a:p>
          <a:p>
            <a:r>
              <a:rPr lang="en-US" dirty="0">
                <a:solidFill>
                  <a:schemeClr val="tx1"/>
                </a:solidFill>
                <a:latin typeface="Times New Roman" panose="02020603050405020304" pitchFamily="18" charset="0"/>
                <a:cs typeface="Times New Roman" panose="02020603050405020304" pitchFamily="18" charset="0"/>
              </a:rPr>
              <a:t>Encourages responsible innovation</a:t>
            </a:r>
          </a:p>
          <a:p>
            <a:endParaRPr lang="en-IN" dirty="0"/>
          </a:p>
        </p:txBody>
      </p:sp>
    </p:spTree>
    <p:extLst>
      <p:ext uri="{BB962C8B-B14F-4D97-AF65-F5344CB8AC3E}">
        <p14:creationId xmlns:p14="http://schemas.microsoft.com/office/powerpoint/2010/main" val="389623488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0417B-90E4-CAD9-8E1A-672402F4AF0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California Consumer Privacy Act (CCPA)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ABF2C0-DF06-CC6A-0F12-B095B3653F5C}"/>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The CCPA is a California state data privacy law that gives California residents specific rights over their personal information — including the right to know, access, delete, and opt out of its sale. It applies to any business that collects or processes the data of California residents, regardless of where the business is located.</a:t>
            </a:r>
          </a:p>
          <a:p>
            <a:r>
              <a:rPr lang="en-US" dirty="0">
                <a:solidFill>
                  <a:schemeClr val="tx1"/>
                </a:solidFill>
                <a:latin typeface="Times New Roman" panose="02020603050405020304" pitchFamily="18" charset="0"/>
                <a:cs typeface="Times New Roman" panose="02020603050405020304" pitchFamily="18" charset="0"/>
              </a:rPr>
              <a:t>The CCPA imposes rules on businesses the “covered entities” that handle sensitive information. It also grants consumers new privacy rights and protections. The CCPA enhances consumer privacy rights in several ways:</a:t>
            </a:r>
          </a:p>
          <a:p>
            <a:r>
              <a:rPr lang="en-US" dirty="0">
                <a:solidFill>
                  <a:schemeClr val="tx1"/>
                </a:solidFill>
                <a:latin typeface="Times New Roman" panose="02020603050405020304" pitchFamily="18" charset="0"/>
                <a:cs typeface="Times New Roman" panose="02020603050405020304" pitchFamily="18" charset="0"/>
              </a:rPr>
              <a:t>CCPA Requires greater transparency.</a:t>
            </a:r>
          </a:p>
          <a:p>
            <a:r>
              <a:rPr lang="en-US" dirty="0">
                <a:solidFill>
                  <a:schemeClr val="tx1"/>
                </a:solidFill>
                <a:latin typeface="Times New Roman" panose="02020603050405020304" pitchFamily="18" charset="0"/>
                <a:cs typeface="Times New Roman" panose="02020603050405020304" pitchFamily="18" charset="0"/>
              </a:rPr>
              <a:t>CCPA gives consumers broad access to their personal information.</a:t>
            </a:r>
          </a:p>
          <a:p>
            <a:endParaRPr lang="en-IN" dirty="0"/>
          </a:p>
        </p:txBody>
      </p:sp>
    </p:spTree>
    <p:extLst>
      <p:ext uri="{BB962C8B-B14F-4D97-AF65-F5344CB8AC3E}">
        <p14:creationId xmlns:p14="http://schemas.microsoft.com/office/powerpoint/2010/main" val="11331673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34A8D-01BE-FC32-C157-860A17B8A5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General Data Protection Regulation (GDPR)</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3E78BC-2D5D-AD74-270F-B73F05C5B46C}"/>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The GDPR is a European Union data protection law that regulates how organizations collect, process, and store the personal data of individuals in the EU and EEA. It emphasizes consent, transparency, and accountability to protect individual privacy rights.</a:t>
            </a:r>
          </a:p>
          <a:p>
            <a:r>
              <a:rPr lang="en-US" dirty="0">
                <a:solidFill>
                  <a:schemeClr val="tx1"/>
                </a:solidFill>
                <a:latin typeface="Times New Roman" panose="02020603050405020304" pitchFamily="18" charset="0"/>
                <a:cs typeface="Times New Roman" panose="02020603050405020304" pitchFamily="18" charset="0"/>
              </a:rPr>
              <a:t>The GDPR became effective in May 2018 across the 27 member states of the European Union.</a:t>
            </a:r>
          </a:p>
          <a:p>
            <a:r>
              <a:rPr lang="en-US" dirty="0">
                <a:solidFill>
                  <a:schemeClr val="tx1"/>
                </a:solidFill>
                <a:latin typeface="Times New Roman" panose="02020603050405020304" pitchFamily="18" charset="0"/>
                <a:cs typeface="Times New Roman" panose="02020603050405020304" pitchFamily="18" charset="0"/>
              </a:rPr>
              <a:t>GDPR dictates how businesses, through their website and mobile applications, should handle customer information. Attributes like name, email ID, location, data from wearables, IP address, and more are categorized as personal information under GDPR.</a:t>
            </a:r>
          </a:p>
          <a:p>
            <a:endParaRPr lang="en-IN" dirty="0"/>
          </a:p>
        </p:txBody>
      </p:sp>
    </p:spTree>
    <p:extLst>
      <p:ext uri="{BB962C8B-B14F-4D97-AF65-F5344CB8AC3E}">
        <p14:creationId xmlns:p14="http://schemas.microsoft.com/office/powerpoint/2010/main" val="33350879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10F8-3D21-195A-CE7A-8C88B722A41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Differences Between CCPA and GDPR</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7AA750-9CD8-23D1-2911-0D09993132BC}"/>
              </a:ext>
            </a:extLst>
          </p:cNvPr>
          <p:cNvSpPr>
            <a:spLocks noGrp="1"/>
          </p:cNvSpPr>
          <p:nvPr>
            <p:ph idx="1"/>
          </p:nvPr>
        </p:nvSpPr>
        <p:spPr>
          <a:xfrm>
            <a:off x="1261872" y="1828800"/>
            <a:ext cx="8595360" cy="5029200"/>
          </a:xfrm>
        </p:spPr>
        <p:txBody>
          <a:bodyPr>
            <a:normAutofit/>
          </a:bodyPr>
          <a:lstStyle/>
          <a:p>
            <a:pPr>
              <a:buFont typeface="Wingdings" panose="05000000000000000000" pitchFamily="2" charset="2"/>
              <a:buChar char="§"/>
            </a:pPr>
            <a:r>
              <a:rPr lang="en-IN" b="1" dirty="0">
                <a:solidFill>
                  <a:schemeClr val="tx1"/>
                </a:solidFill>
                <a:latin typeface="Times New Roman" panose="02020603050405020304" pitchFamily="18" charset="0"/>
                <a:cs typeface="Times New Roman" panose="02020603050405020304" pitchFamily="18" charset="0"/>
              </a:rPr>
              <a:t>GDPR</a:t>
            </a:r>
          </a:p>
          <a:p>
            <a:r>
              <a:rPr lang="en-US" dirty="0">
                <a:solidFill>
                  <a:schemeClr val="tx1"/>
                </a:solidFill>
                <a:latin typeface="Times New Roman" panose="02020603050405020304" pitchFamily="18" charset="0"/>
                <a:cs typeface="Times New Roman" panose="02020603050405020304" pitchFamily="18" charset="0"/>
              </a:rPr>
              <a:t>GDPR stands for General Data Protection Regulation. </a:t>
            </a:r>
          </a:p>
          <a:p>
            <a:r>
              <a:rPr lang="en-US" dirty="0">
                <a:solidFill>
                  <a:schemeClr val="tx1"/>
                </a:solidFill>
                <a:latin typeface="Times New Roman" panose="02020603050405020304" pitchFamily="18" charset="0"/>
                <a:cs typeface="Times New Roman" panose="02020603050405020304" pitchFamily="18" charset="0"/>
              </a:rPr>
              <a:t>It is a privacy law of the European Union (EU). </a:t>
            </a:r>
          </a:p>
          <a:p>
            <a:r>
              <a:rPr lang="en-US" dirty="0">
                <a:solidFill>
                  <a:schemeClr val="tx1"/>
                </a:solidFill>
                <a:latin typeface="Times New Roman" panose="02020603050405020304" pitchFamily="18" charset="0"/>
                <a:cs typeface="Times New Roman" panose="02020603050405020304" pitchFamily="18" charset="0"/>
              </a:rPr>
              <a:t>GDPR focuses strongly on data protection and user consent. </a:t>
            </a:r>
          </a:p>
          <a:p>
            <a:r>
              <a:rPr lang="en-US" dirty="0">
                <a:solidFill>
                  <a:schemeClr val="tx1"/>
                </a:solidFill>
                <a:latin typeface="Times New Roman" panose="02020603050405020304" pitchFamily="18" charset="0"/>
                <a:cs typeface="Times New Roman" panose="02020603050405020304" pitchFamily="18" charset="0"/>
              </a:rPr>
              <a:t>It applies to any organization handling data of EU citizens.</a:t>
            </a:r>
          </a:p>
          <a:p>
            <a:pPr>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CCPA</a:t>
            </a:r>
          </a:p>
          <a:p>
            <a:r>
              <a:rPr lang="en-US" dirty="0">
                <a:solidFill>
                  <a:schemeClr val="tx1"/>
                </a:solidFill>
                <a:latin typeface="Times New Roman" panose="02020603050405020304" pitchFamily="18" charset="0"/>
                <a:cs typeface="Times New Roman" panose="02020603050405020304" pitchFamily="18" charset="0"/>
              </a:rPr>
              <a:t>CCPA stands for California Consumer Privacy Act. </a:t>
            </a:r>
          </a:p>
          <a:p>
            <a:r>
              <a:rPr lang="en-US" dirty="0">
                <a:solidFill>
                  <a:schemeClr val="tx1"/>
                </a:solidFill>
                <a:latin typeface="Times New Roman" panose="02020603050405020304" pitchFamily="18" charset="0"/>
                <a:cs typeface="Times New Roman" panose="02020603050405020304" pitchFamily="18" charset="0"/>
              </a:rPr>
              <a:t>It is a privacy law of California, USA. </a:t>
            </a:r>
          </a:p>
          <a:p>
            <a:r>
              <a:rPr lang="en-US" dirty="0">
                <a:solidFill>
                  <a:schemeClr val="tx1"/>
                </a:solidFill>
                <a:latin typeface="Times New Roman" panose="02020603050405020304" pitchFamily="18" charset="0"/>
                <a:cs typeface="Times New Roman" panose="02020603050405020304" pitchFamily="18" charset="0"/>
              </a:rPr>
              <a:t>CCPA focuses more on consumer privacy and transparency. </a:t>
            </a:r>
          </a:p>
          <a:p>
            <a:r>
              <a:rPr lang="en-US" dirty="0">
                <a:solidFill>
                  <a:schemeClr val="tx1"/>
                </a:solidFill>
                <a:latin typeface="Times New Roman" panose="02020603050405020304" pitchFamily="18" charset="0"/>
                <a:cs typeface="Times New Roman" panose="02020603050405020304" pitchFamily="18" charset="0"/>
              </a:rPr>
              <a:t>It applies to businesses collecting data of California residents.</a:t>
            </a:r>
          </a:p>
          <a:p>
            <a:endParaRPr lang="en-IN" dirty="0"/>
          </a:p>
        </p:txBody>
      </p:sp>
    </p:spTree>
    <p:extLst>
      <p:ext uri="{BB962C8B-B14F-4D97-AF65-F5344CB8AC3E}">
        <p14:creationId xmlns:p14="http://schemas.microsoft.com/office/powerpoint/2010/main" val="19800721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BBF65-8334-9C33-34F2-7AA7179A28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Information Shared with Data Subjects</a:t>
            </a:r>
            <a:endParaRPr lang="en-IN" dirty="0">
              <a:latin typeface="Times New Roman" panose="02020603050405020304" pitchFamily="18" charset="0"/>
              <a:cs typeface="Times New Roman" panose="02020603050405020304" pitchFamily="18" charset="0"/>
            </a:endParaRPr>
          </a:p>
        </p:txBody>
      </p:sp>
      <p:pic>
        <p:nvPicPr>
          <p:cNvPr id="4" name="Content Placeholder 3" descr="data subject right of gdpr">
            <a:extLst>
              <a:ext uri="{FF2B5EF4-FFF2-40B4-BE49-F238E27FC236}">
                <a16:creationId xmlns:a16="http://schemas.microsoft.com/office/drawing/2014/main" id="{2C515D53-6D35-FE8F-06C4-21DF27FEB77D}"/>
              </a:ext>
            </a:extLst>
          </p:cNvPr>
          <p:cNvPicPr>
            <a:picLocks noGrp="1" noChangeAspect="1"/>
          </p:cNvPicPr>
          <p:nvPr>
            <p:ph idx="1"/>
          </p:nvPr>
        </p:nvPicPr>
        <p:blipFill>
          <a:blip r:embed="rId2"/>
          <a:stretch>
            <a:fillRect/>
          </a:stretch>
        </p:blipFill>
        <p:spPr>
          <a:xfrm>
            <a:off x="1122947" y="1828800"/>
            <a:ext cx="9015664" cy="4735002"/>
          </a:xfrm>
          <a:prstGeom prst="rect">
            <a:avLst/>
          </a:prstGeom>
        </p:spPr>
      </p:pic>
    </p:spTree>
    <p:extLst>
      <p:ext uri="{BB962C8B-B14F-4D97-AF65-F5344CB8AC3E}">
        <p14:creationId xmlns:p14="http://schemas.microsoft.com/office/powerpoint/2010/main" val="37736284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7198D-6044-EB18-A415-E3DF5DFF149B}"/>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Understanding the Importance of Responsible Data Practices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F7F97F-E82A-E206-A58F-F17C0B855E1B}"/>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Builds customer trust and loyalty </a:t>
            </a:r>
          </a:p>
          <a:p>
            <a:r>
              <a:rPr lang="en-US" dirty="0">
                <a:solidFill>
                  <a:schemeClr val="tx1"/>
                </a:solidFill>
                <a:latin typeface="Times New Roman" panose="02020603050405020304" pitchFamily="18" charset="0"/>
                <a:cs typeface="Times New Roman" panose="02020603050405020304" pitchFamily="18" charset="0"/>
              </a:rPr>
              <a:t>Protects sensitive information </a:t>
            </a:r>
          </a:p>
          <a:p>
            <a:r>
              <a:rPr lang="en-US" dirty="0">
                <a:solidFill>
                  <a:schemeClr val="tx1"/>
                </a:solidFill>
                <a:latin typeface="Times New Roman" panose="02020603050405020304" pitchFamily="18" charset="0"/>
                <a:cs typeface="Times New Roman" panose="02020603050405020304" pitchFamily="18" charset="0"/>
              </a:rPr>
              <a:t>Improves data quality and decision-making </a:t>
            </a:r>
          </a:p>
          <a:p>
            <a:r>
              <a:rPr lang="en-US" dirty="0">
                <a:solidFill>
                  <a:schemeClr val="tx1"/>
                </a:solidFill>
                <a:latin typeface="Times New Roman" panose="02020603050405020304" pitchFamily="18" charset="0"/>
                <a:cs typeface="Times New Roman" panose="02020603050405020304" pitchFamily="18" charset="0"/>
              </a:rPr>
              <a:t>Reduces risks of data breaches </a:t>
            </a:r>
          </a:p>
          <a:p>
            <a:r>
              <a:rPr lang="en-US" dirty="0">
                <a:solidFill>
                  <a:schemeClr val="tx1"/>
                </a:solidFill>
                <a:latin typeface="Times New Roman" panose="02020603050405020304" pitchFamily="18" charset="0"/>
                <a:cs typeface="Times New Roman" panose="02020603050405020304" pitchFamily="18" charset="0"/>
              </a:rPr>
              <a:t>Supports legal and regulatory compliance </a:t>
            </a:r>
          </a:p>
          <a:p>
            <a:endParaRPr lang="en-IN" dirty="0"/>
          </a:p>
        </p:txBody>
      </p:sp>
    </p:spTree>
    <p:extLst>
      <p:ext uri="{BB962C8B-B14F-4D97-AF65-F5344CB8AC3E}">
        <p14:creationId xmlns:p14="http://schemas.microsoft.com/office/powerpoint/2010/main" val="9574451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9B285-6F8F-E730-6402-4C4DA5DA78C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Role of Technology in Responsible Data Practices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B36F05-4E1C-C9C7-53D3-D18161C8DC7A}"/>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Data Security: </a:t>
            </a:r>
            <a:r>
              <a:rPr lang="en-US" dirty="0">
                <a:solidFill>
                  <a:schemeClr val="tx1"/>
                </a:solidFill>
                <a:latin typeface="Times New Roman" panose="02020603050405020304" pitchFamily="18" charset="0"/>
                <a:cs typeface="Times New Roman" panose="02020603050405020304" pitchFamily="18" charset="0"/>
              </a:rPr>
              <a:t>Technologies like encryption, firewalls, and multi-factor authentication protect sensitive information from cyber threats. </a:t>
            </a:r>
          </a:p>
          <a:p>
            <a:r>
              <a:rPr lang="en-US" b="1" dirty="0">
                <a:solidFill>
                  <a:schemeClr val="tx1"/>
                </a:solidFill>
                <a:latin typeface="Times New Roman" panose="02020603050405020304" pitchFamily="18" charset="0"/>
                <a:cs typeface="Times New Roman" panose="02020603050405020304" pitchFamily="18" charset="0"/>
              </a:rPr>
              <a:t>Privacy Protection: </a:t>
            </a:r>
            <a:r>
              <a:rPr lang="en-US" dirty="0">
                <a:solidFill>
                  <a:schemeClr val="tx1"/>
                </a:solidFill>
                <a:latin typeface="Times New Roman" panose="02020603050405020304" pitchFamily="18" charset="0"/>
                <a:cs typeface="Times New Roman" panose="02020603050405020304" pitchFamily="18" charset="0"/>
              </a:rPr>
              <a:t>Tools such as data masking and anonymization help keep personal information confidential. </a:t>
            </a:r>
          </a:p>
          <a:p>
            <a:r>
              <a:rPr lang="en-US" b="1" dirty="0">
                <a:solidFill>
                  <a:schemeClr val="tx1"/>
                </a:solidFill>
                <a:latin typeface="Times New Roman" panose="02020603050405020304" pitchFamily="18" charset="0"/>
                <a:cs typeface="Times New Roman" panose="02020603050405020304" pitchFamily="18" charset="0"/>
              </a:rPr>
              <a:t>Access Control: </a:t>
            </a:r>
            <a:r>
              <a:rPr lang="en-US" dirty="0">
                <a:solidFill>
                  <a:schemeClr val="tx1"/>
                </a:solidFill>
                <a:latin typeface="Times New Roman" panose="02020603050405020304" pitchFamily="18" charset="0"/>
                <a:cs typeface="Times New Roman" panose="02020603050405020304" pitchFamily="18" charset="0"/>
              </a:rPr>
              <a:t>Role-based access systems ensure that only authorized users can access specific data.</a:t>
            </a:r>
          </a:p>
          <a:p>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Data Quality Management: </a:t>
            </a:r>
            <a:r>
              <a:rPr lang="en-US" dirty="0">
                <a:solidFill>
                  <a:schemeClr val="tx1"/>
                </a:solidFill>
                <a:latin typeface="Times New Roman" panose="02020603050405020304" pitchFamily="18" charset="0"/>
                <a:cs typeface="Times New Roman" panose="02020603050405020304" pitchFamily="18" charset="0"/>
              </a:rPr>
              <a:t>Automated tools help maintain accurate, complete, and consistent data.</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8896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537C-208C-7EDE-2F54-ACBA11509D1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Challenges in Implementing Responsible Data Practices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BA847A-FF3C-5403-946C-98358BB0E333}"/>
              </a:ext>
            </a:extLst>
          </p:cNvPr>
          <p:cNvSpPr>
            <a:spLocks noGrp="1"/>
          </p:cNvSpPr>
          <p:nvPr>
            <p:ph idx="1"/>
          </p:nvPr>
        </p:nvSpPr>
        <p:spPr>
          <a:xfrm>
            <a:off x="1390209" y="2212465"/>
            <a:ext cx="8595360" cy="4351337"/>
          </a:xfrm>
        </p:spPr>
        <p:txBody>
          <a:bodyPr/>
          <a:lstStyle/>
          <a:p>
            <a:r>
              <a:rPr lang="en-US" dirty="0">
                <a:solidFill>
                  <a:schemeClr val="tx1"/>
                </a:solidFill>
                <a:latin typeface="Times New Roman" panose="02020603050405020304" pitchFamily="18" charset="0"/>
                <a:cs typeface="Times New Roman" panose="02020603050405020304" pitchFamily="18" charset="0"/>
              </a:rPr>
              <a:t>Managing large amounts of data </a:t>
            </a:r>
          </a:p>
          <a:p>
            <a:r>
              <a:rPr lang="en-US" dirty="0">
                <a:solidFill>
                  <a:schemeClr val="tx1"/>
                </a:solidFill>
                <a:latin typeface="Times New Roman" panose="02020603050405020304" pitchFamily="18" charset="0"/>
                <a:cs typeface="Times New Roman" panose="02020603050405020304" pitchFamily="18" charset="0"/>
              </a:rPr>
              <a:t>Maintaining privacy and security </a:t>
            </a:r>
          </a:p>
          <a:p>
            <a:r>
              <a:rPr lang="en-US" dirty="0">
                <a:solidFill>
                  <a:schemeClr val="tx1"/>
                </a:solidFill>
                <a:latin typeface="Times New Roman" panose="02020603050405020304" pitchFamily="18" charset="0"/>
                <a:cs typeface="Times New Roman" panose="02020603050405020304" pitchFamily="18" charset="0"/>
              </a:rPr>
              <a:t>Employee resistance to change </a:t>
            </a:r>
          </a:p>
          <a:p>
            <a:r>
              <a:rPr lang="en-US" dirty="0">
                <a:solidFill>
                  <a:schemeClr val="tx1"/>
                </a:solidFill>
                <a:latin typeface="Times New Roman" panose="02020603050405020304" pitchFamily="18" charset="0"/>
                <a:cs typeface="Times New Roman" panose="02020603050405020304" pitchFamily="18" charset="0"/>
              </a:rPr>
              <a:t>Rapidly changing regulations </a:t>
            </a:r>
          </a:p>
          <a:p>
            <a:r>
              <a:rPr lang="en-US" dirty="0">
                <a:solidFill>
                  <a:schemeClr val="tx1"/>
                </a:solidFill>
                <a:latin typeface="Times New Roman" panose="02020603050405020304" pitchFamily="18" charset="0"/>
                <a:cs typeface="Times New Roman" panose="02020603050405020304" pitchFamily="18" charset="0"/>
              </a:rPr>
              <a:t>Ethical concerns in AI and analytics </a:t>
            </a:r>
          </a:p>
          <a:p>
            <a:endParaRPr lang="en-IN" dirty="0"/>
          </a:p>
        </p:txBody>
      </p:sp>
    </p:spTree>
    <p:extLst>
      <p:ext uri="{BB962C8B-B14F-4D97-AF65-F5344CB8AC3E}">
        <p14:creationId xmlns:p14="http://schemas.microsoft.com/office/powerpoint/2010/main" val="377948840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4975-8501-4276-11A2-ECA11ECE14D0}"/>
              </a:ext>
            </a:extLst>
          </p:cNvPr>
          <p:cNvSpPr>
            <a:spLocks noGrp="1"/>
          </p:cNvSpPr>
          <p:nvPr>
            <p:ph type="ctrTitle"/>
          </p:nvPr>
        </p:nvSpPr>
        <p:spPr>
          <a:xfrm>
            <a:off x="1261872" y="758952"/>
            <a:ext cx="9418320" cy="3139280"/>
          </a:xfrm>
        </p:spPr>
        <p:txBody>
          <a:bodyPr/>
          <a:lstStyle/>
          <a:p>
            <a:pPr algn="ctr"/>
            <a:r>
              <a:rPr lang="en-US" dirty="0">
                <a:latin typeface="Times New Roman" panose="02020603050405020304" pitchFamily="18" charset="0"/>
                <a:cs typeface="Times New Roman" panose="02020603050405020304" pitchFamily="18" charset="0"/>
              </a:rPr>
              <a:t>THANK YOU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1010364"/>
      </p:ext>
    </p:extLst>
  </p:cSld>
  <p:clrMapOvr>
    <a:masterClrMapping/>
  </p:clrMapOvr>
</p:sld>
</file>

<file path=ppt/theme/theme1.xml><?xml version="1.0" encoding="utf-8"?>
<a:theme xmlns:a="http://schemas.openxmlformats.org/drawingml/2006/main" name="View">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3184</TotalTime>
  <Words>7409</Words>
  <Application>Microsoft Office PowerPoint</Application>
  <PresentationFormat>Widescreen</PresentationFormat>
  <Paragraphs>685</Paragraphs>
  <Slides>118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118</vt:i4>
      </vt:variant>
    </vt:vector>
  </HeadingPairs>
  <TitlesOfParts>
    <vt:vector size="125" baseType="lpstr">
      <vt:lpstr>Arial</vt:lpstr>
      <vt:lpstr>Calibri</vt:lpstr>
      <vt:lpstr>Century Schoolbook</vt:lpstr>
      <vt:lpstr>Times New Roman</vt:lpstr>
      <vt:lpstr>Wingdings</vt:lpstr>
      <vt:lpstr>Wingdings 2</vt:lpstr>
      <vt:lpstr>View</vt:lpstr>
      <vt:lpstr>  Topic Name – Information Technology  Name – Suchana Ghosh Batch Code – ANU-D6152 </vt:lpstr>
      <vt:lpstr>1. Introduction to IT and Business Systems </vt:lpstr>
      <vt:lpstr>Introduction </vt:lpstr>
      <vt:lpstr>Why is Information Technology important?</vt:lpstr>
      <vt:lpstr>Core functions of information technology</vt:lpstr>
      <vt:lpstr>Hardware vs. software</vt:lpstr>
      <vt:lpstr>The Role of Information Technology in Modern Business</vt:lpstr>
      <vt:lpstr>PowerPoint Presentation</vt:lpstr>
      <vt:lpstr> </vt:lpstr>
      <vt:lpstr>What Is Enterprise Resource Planning (ERP)?</vt:lpstr>
      <vt:lpstr>How Enterprise Resource Planning Platforms Work</vt:lpstr>
      <vt:lpstr>ERP vs. CRM</vt:lpstr>
      <vt:lpstr>    What Is Business Strategy, IT Strategy &amp; Alignment Capability </vt:lpstr>
      <vt:lpstr>Importance of Business-IT Alignment</vt:lpstr>
      <vt:lpstr>Relationship Between Business and IT Strategy</vt:lpstr>
      <vt:lpstr>Benefits </vt:lpstr>
      <vt:lpstr>Challenges </vt:lpstr>
      <vt:lpstr>2. Data Types, Sources, and Lifecycle  </vt:lpstr>
      <vt:lpstr>Introduction  </vt:lpstr>
      <vt:lpstr>Differences between Structured, Semi-structured and Unstructured data</vt:lpstr>
      <vt:lpstr>Common Data Sources</vt:lpstr>
      <vt:lpstr>APIs (Application Programming Interfaces) </vt:lpstr>
      <vt:lpstr>What is Data Collection? </vt:lpstr>
      <vt:lpstr>Data Collection Methods</vt:lpstr>
      <vt:lpstr>Data Collection Terms </vt:lpstr>
      <vt:lpstr>Data Collection Process</vt:lpstr>
      <vt:lpstr>Data collection tools </vt:lpstr>
      <vt:lpstr>What is  Data Lifecycle Management (DLM)? </vt:lpstr>
      <vt:lpstr>Key stages of data lifecycle management</vt:lpstr>
      <vt:lpstr>DLM vs ILM </vt:lpstr>
      <vt:lpstr>Benefits of DLM Implementation</vt:lpstr>
      <vt:lpstr>  What Is Data Integrity &amp; Data Quality?</vt:lpstr>
      <vt:lpstr>What is more important data integrity or data quality?</vt:lpstr>
      <vt:lpstr>Benefits </vt:lpstr>
      <vt:lpstr>3.Introduction to Business Analyst Role </vt:lpstr>
      <vt:lpstr>Introduction</vt:lpstr>
      <vt:lpstr>Business Analyst Roles and Responsibilities</vt:lpstr>
      <vt:lpstr> Difference Between Business Analysts And Business Analytics Professionals?</vt:lpstr>
      <vt:lpstr>Core Business Analytics Skills</vt:lpstr>
      <vt:lpstr>Technical Skills for Business Analytics</vt:lpstr>
      <vt:lpstr>The Four Types of Analytics</vt:lpstr>
      <vt:lpstr>Benefits of Business Analysts</vt:lpstr>
      <vt:lpstr>What is Waterfall &amp; Agile Methodology </vt:lpstr>
      <vt:lpstr>Differences Between Waterfall And Agile</vt:lpstr>
      <vt:lpstr>Examples</vt:lpstr>
      <vt:lpstr>What is Stakeholder Management?</vt:lpstr>
      <vt:lpstr>Stakeholder Management Process</vt:lpstr>
      <vt:lpstr>What Isn’t Stakeholder Management?</vt:lpstr>
      <vt:lpstr>Benefits of Stakeholder Management</vt:lpstr>
      <vt:lpstr>Challenges in Stakeholder Management</vt:lpstr>
      <vt:lpstr>4.Data vs. Information (2 units) </vt:lpstr>
      <vt:lpstr>Introduction </vt:lpstr>
      <vt:lpstr>The Importance of Processing Data</vt:lpstr>
      <vt:lpstr>Raw Data vs Processed Data</vt:lpstr>
      <vt:lpstr>Importance of Knowledge Management</vt:lpstr>
      <vt:lpstr>Steps to Transform Information into Knowledge</vt:lpstr>
      <vt:lpstr>Benefits </vt:lpstr>
      <vt:lpstr>Challenges </vt:lpstr>
      <vt:lpstr>The Importance of Information for Decision Making</vt:lpstr>
      <vt:lpstr>Challenges in Information Gathering </vt:lpstr>
      <vt:lpstr>The Significance of Asymmetric Information </vt:lpstr>
      <vt:lpstr>Mitigating Asymmetric Information</vt:lpstr>
      <vt:lpstr>5.Overview of Data-Driven Decision Making</vt:lpstr>
      <vt:lpstr>Introduction </vt:lpstr>
      <vt:lpstr>Importance of Data-Driven Decision Making</vt:lpstr>
      <vt:lpstr>Common Data Sources </vt:lpstr>
      <vt:lpstr>Transitioning to Data-Driven Decision-Making</vt:lpstr>
      <vt:lpstr>Data Quality and Integrity</vt:lpstr>
      <vt:lpstr>Technology's Role in Data-Driven Decisions</vt:lpstr>
      <vt:lpstr>Why make data-driven decisions</vt:lpstr>
      <vt:lpstr>Five Steps for Implementing Data-Driven Decision Making </vt:lpstr>
      <vt:lpstr>PowerPoint Presentation</vt:lpstr>
      <vt:lpstr>PowerPoint Presentation</vt:lpstr>
      <vt:lpstr>What Positions Utilize Data-Driven Decision Making?</vt:lpstr>
      <vt:lpstr>Benefits </vt:lpstr>
      <vt:lpstr>Challenges </vt:lpstr>
      <vt:lpstr>8 Pitfalls In The Data-Driven Decision-Making (DDDM) Process</vt:lpstr>
      <vt:lpstr>PowerPoint Presentation</vt:lpstr>
      <vt:lpstr>6.Case Discussions / Real-Life Examples </vt:lpstr>
      <vt:lpstr>What Is Scenario Analysis? </vt:lpstr>
      <vt:lpstr>Steps to Conduct Effective Scenario Analysis</vt:lpstr>
      <vt:lpstr>Difference Between Scenario Analysis and Sensitivity Analysis </vt:lpstr>
      <vt:lpstr>Advantages </vt:lpstr>
      <vt:lpstr>Limitations </vt:lpstr>
      <vt:lpstr>7.Introduction to Data Governance &amp; Data Ethics</vt:lpstr>
      <vt:lpstr>Introduction </vt:lpstr>
      <vt:lpstr>Why modern data governance is critical for AI</vt:lpstr>
      <vt:lpstr>What is data governance used for?</vt:lpstr>
      <vt:lpstr>Benefits of Data Governance</vt:lpstr>
      <vt:lpstr>Challenges in Data Governance</vt:lpstr>
      <vt:lpstr>4 Critical Roles In Data Governance </vt:lpstr>
      <vt:lpstr>How does data governance work?</vt:lpstr>
      <vt:lpstr>Data Governance Checklist </vt:lpstr>
      <vt:lpstr>Provide accurate and clear notice regarding data governance policies</vt:lpstr>
      <vt:lpstr>Benefits </vt:lpstr>
      <vt:lpstr>Challenges </vt:lpstr>
      <vt:lpstr>Creating and Implementing a Comprehensive Data Governance Policy </vt:lpstr>
      <vt:lpstr>Why Policies Are Important </vt:lpstr>
      <vt:lpstr>Ensuring Compliance with Data Governance Policies</vt:lpstr>
      <vt:lpstr>Benefits </vt:lpstr>
      <vt:lpstr>What is Data Ethics? </vt:lpstr>
      <vt:lpstr>Why Data Ethics is Important </vt:lpstr>
      <vt:lpstr>Principles of Big Data Ethics </vt:lpstr>
      <vt:lpstr>Understanding the Current &amp; Potential Future Data Ethics Landscape</vt:lpstr>
      <vt:lpstr>Today’s Challenges</vt:lpstr>
      <vt:lpstr>Why Ethics Defines the Future of Web Data</vt:lpstr>
      <vt:lpstr>The Core Principles of Responsible Collection </vt:lpstr>
      <vt:lpstr>How does data ethics impact AI and machine learning?</vt:lpstr>
      <vt:lpstr>Top 3 Ethics in Data Collection</vt:lpstr>
      <vt:lpstr>Benefits </vt:lpstr>
      <vt:lpstr>What is California Consumer Privacy Act (CCPA)</vt:lpstr>
      <vt:lpstr>What is General Data Protection Regulation (GDPR)</vt:lpstr>
      <vt:lpstr>Differences Between CCPA and GDPR</vt:lpstr>
      <vt:lpstr>Information Shared with Data Subjects</vt:lpstr>
      <vt:lpstr>Understanding the Importance of Responsible Data Practices</vt:lpstr>
      <vt:lpstr>The Role of Technology in Responsible Data Practices</vt:lpstr>
      <vt:lpstr>Challenges in Implementing Responsible Data Practices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SUCHANA GHOSH</dc:creator>
  <cp:lastModifiedBy>SUCHANA GHOSH</cp:lastModifiedBy>
  <cp:revision>85</cp:revision>
  <cp:lastPrinted>2026-05-13T15:24:18Z</cp:lastPrinted>
  <dcterms:created xsi:type="dcterms:W3CDTF">2026-05-06T03:59:56Z</dcterms:created>
  <dcterms:modified xsi:type="dcterms:W3CDTF">2026-05-13T15:31:17Z</dcterms:modified>
</cp:coreProperties>
</file>